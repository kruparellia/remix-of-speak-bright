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0"/>
            <a:ext cx="11274552" cy="914400"/>
          </a:xfrm>
          <a:prstGeom prst="rect">
            <a:avLst/>
          </a:prstGeom>
          <a:noFill/>
          <a:ln/>
        </p:spPr>
        <p:txBody>
          <a:bodyPr wrap="square" rtlCol="0" anchor="ctr"/>
          <a:lstStyle/>
          <a:p>
            <a:pPr indent="0" marL="0">
              <a:buNone/>
            </a:pPr>
            <a:r>
              <a:rPr lang="en-US" sz="6000" b="1" dirty="0">
                <a:solidFill>
                  <a:srgbClr val="1F2937"/>
                </a:solidFill>
                <a:latin typeface="Calibri" pitchFamily="34" charset="0"/>
                <a:ea typeface="Calibri" pitchFamily="34" charset="-122"/>
                <a:cs typeface="Calibri" pitchFamily="34" charset="-120"/>
              </a:rPr>
              <a:t>SpeakFlow</a:t>
            </a:r>
            <a:endParaRPr lang="en-US" sz="6000" dirty="0"/>
          </a:p>
        </p:txBody>
      </p:sp>
      <p:sp>
        <p:nvSpPr>
          <p:cNvPr id="3" name="Text 1"/>
          <p:cNvSpPr/>
          <p:nvPr/>
        </p:nvSpPr>
        <p:spPr>
          <a:xfrm>
            <a:off x="457200" y="3200400"/>
            <a:ext cx="11274552" cy="457200"/>
          </a:xfrm>
          <a:prstGeom prst="rect">
            <a:avLst/>
          </a:prstGeom>
          <a:noFill/>
          <a:ln/>
        </p:spPr>
        <p:txBody>
          <a:bodyPr wrap="square" rtlCol="0" anchor="ctr"/>
          <a:lstStyle/>
          <a:p>
            <a:pPr indent="0" marL="0">
              <a:buNone/>
            </a:pPr>
            <a:r>
              <a:rPr lang="en-US" sz="1800" dirty="0">
                <a:solidFill>
                  <a:srgbClr val="6B7280"/>
                </a:solidFill>
                <a:latin typeface="Calibri" pitchFamily="34" charset="0"/>
                <a:ea typeface="Calibri" pitchFamily="34" charset="-122"/>
                <a:cs typeface="Calibri" pitchFamily="34" charset="-120"/>
              </a:rPr>
              <a:t>Personal speaking coach — final portfolio</a:t>
            </a:r>
            <a:endParaRPr lang="en-US" sz="1800" dirty="0"/>
          </a:p>
        </p:txBody>
      </p:sp>
      <p:sp>
        <p:nvSpPr>
          <p:cNvPr id="4" name="Shape 2"/>
          <p:cNvSpPr/>
          <p:nvPr/>
        </p:nvSpPr>
        <p:spPr>
          <a:xfrm>
            <a:off x="457200" y="3931920"/>
            <a:ext cx="3657600" cy="0"/>
          </a:xfrm>
          <a:prstGeom prst="line">
            <a:avLst/>
          </a:prstGeom>
          <a:noFill/>
          <a:ln w="19050">
            <a:solidFill>
              <a:srgbClr val="1F2937"/>
            </a:solidFill>
            <a:prstDash val="solid"/>
          </a:ln>
        </p:spPr>
      </p:sp>
      <p:sp>
        <p:nvSpPr>
          <p:cNvPr id="5" name="Text 3"/>
          <p:cNvSpPr/>
          <p:nvPr/>
        </p:nvSpPr>
        <p:spPr>
          <a:xfrm>
            <a:off x="457200" y="4114800"/>
            <a:ext cx="11274552" cy="1371600"/>
          </a:xfrm>
          <a:prstGeom prst="rect">
            <a:avLst/>
          </a:prstGeom>
          <a:noFill/>
          <a:ln/>
        </p:spPr>
        <p:txBody>
          <a:bodyPr wrap="square"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Module: </a:t>
            </a:r>
            <a:pPr indent="0" marL="0">
              <a:buNone/>
            </a:pPr>
            <a:r>
              <a:rPr lang="en-US" sz="1400" dirty="0">
                <a:solidFill>
                  <a:srgbClr val="1F2937"/>
                </a:solidFill>
                <a:latin typeface="Calibri" pitchFamily="34" charset="0"/>
                <a:ea typeface="Calibri" pitchFamily="34" charset="-122"/>
                <a:cs typeface="Calibri" pitchFamily="34" charset="-120"/>
              </a:rPr>
              <a:t>CS6005 — Software Engineering Rotation
</a:t>
            </a:r>
            <a:pPr indent="0" marL="0">
              <a:buNone/>
            </a:pPr>
            <a:r>
              <a:rPr lang="en-US" sz="1400" b="1" dirty="0">
                <a:solidFill>
                  <a:srgbClr val="1F2937"/>
                </a:solidFill>
                <a:latin typeface="Calibri" pitchFamily="34" charset="0"/>
                <a:ea typeface="Calibri" pitchFamily="34" charset="-122"/>
                <a:cs typeface="Calibri" pitchFamily="34" charset="-120"/>
              </a:rPr>
              <a:t>Author: </a:t>
            </a:r>
            <a:pPr indent="0" marL="0">
              <a:buNone/>
            </a:pPr>
            <a:r>
              <a:rPr lang="en-US" sz="1400" dirty="0">
                <a:solidFill>
                  <a:srgbClr val="1F2937"/>
                </a:solidFill>
                <a:latin typeface="Calibri" pitchFamily="34" charset="0"/>
                <a:ea typeface="Calibri" pitchFamily="34" charset="-122"/>
                <a:cs typeface="Calibri" pitchFamily="34" charset="-120"/>
              </a:rPr>
              <a:t>Kaylan
</a:t>
            </a:r>
            <a:pPr indent="0" marL="0">
              <a:buNone/>
            </a:pPr>
            <a:r>
              <a:rPr lang="en-US" sz="1400" b="1" dirty="0">
                <a:solidFill>
                  <a:srgbClr val="1F2937"/>
                </a:solidFill>
                <a:latin typeface="Calibri" pitchFamily="34" charset="0"/>
                <a:ea typeface="Calibri" pitchFamily="34" charset="-122"/>
                <a:cs typeface="Calibri" pitchFamily="34" charset="-120"/>
              </a:rPr>
              <a:t>Submission: </a:t>
            </a:r>
            <a:pPr indent="0" marL="0">
              <a:buNone/>
            </a:pPr>
            <a:r>
              <a:rPr lang="en-US" sz="1400" dirty="0">
                <a:solidFill>
                  <a:srgbClr val="1F2937"/>
                </a:solidFill>
                <a:latin typeface="Calibri" pitchFamily="34" charset="0"/>
                <a:ea typeface="Calibri" pitchFamily="34" charset="-122"/>
                <a:cs typeface="Calibri" pitchFamily="34" charset="-120"/>
              </a:rPr>
              <a:t>Final</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74320"/>
            <a:ext cx="9144000" cy="274320"/>
          </a:xfrm>
          <a:prstGeom prst="rect">
            <a:avLst/>
          </a:prstGeom>
          <a:noFill/>
          <a:ln/>
        </p:spPr>
        <p:txBody>
          <a:bodyPr wrap="square" rtlCol="0" anchor="ctr"/>
          <a:lstStyle/>
          <a:p>
            <a:pPr algn="l" indent="0" marL="0">
              <a:buNone/>
            </a:pPr>
            <a:r>
              <a:rPr lang="en-US" sz="1100" dirty="0">
                <a:solidFill>
                  <a:srgbClr val="6B7280"/>
                </a:solidFill>
                <a:latin typeface="Calibri" pitchFamily="34" charset="0"/>
                <a:ea typeface="Calibri" pitchFamily="34" charset="-122"/>
                <a:cs typeface="Calibri" pitchFamily="34" charset="-120"/>
              </a:rPr>
              <a:t>Contents</a:t>
            </a:r>
            <a:endParaRPr lang="en-US" sz="1100" dirty="0"/>
          </a:p>
        </p:txBody>
      </p:sp>
      <p:sp>
        <p:nvSpPr>
          <p:cNvPr id="3" name="Shape 1"/>
          <p:cNvSpPr/>
          <p:nvPr/>
        </p:nvSpPr>
        <p:spPr>
          <a:xfrm>
            <a:off x="457200" y="594360"/>
            <a:ext cx="11274552" cy="0"/>
          </a:xfrm>
          <a:prstGeom prst="line">
            <a:avLst/>
          </a:prstGeom>
          <a:noFill/>
          <a:ln w="9525">
            <a:solidFill>
              <a:srgbClr val="D1D5DB"/>
            </a:solidFill>
            <a:prstDash val="solid"/>
          </a:ln>
        </p:spPr>
      </p:sp>
      <p:sp>
        <p:nvSpPr>
          <p:cNvPr id="4" name="Text 2"/>
          <p:cNvSpPr/>
          <p:nvPr/>
        </p:nvSpPr>
        <p:spPr>
          <a:xfrm>
            <a:off x="457200" y="777240"/>
            <a:ext cx="11274552" cy="640080"/>
          </a:xfrm>
          <a:prstGeom prst="rect">
            <a:avLst/>
          </a:prstGeom>
          <a:noFill/>
          <a:ln/>
        </p:spPr>
        <p:txBody>
          <a:bodyPr wrap="square" rtlCol="0" anchor="ctr"/>
          <a:lstStyle/>
          <a:p>
            <a:pPr indent="0" marL="0">
              <a:buNone/>
            </a:pPr>
            <a:r>
              <a:rPr lang="en-US" sz="2800" b="1" dirty="0">
                <a:solidFill>
                  <a:srgbClr val="1F2937"/>
                </a:solidFill>
                <a:latin typeface="Calibri" pitchFamily="34" charset="0"/>
                <a:ea typeface="Calibri" pitchFamily="34" charset="-122"/>
                <a:cs typeface="Calibri" pitchFamily="34" charset="-120"/>
              </a:rPr>
              <a:t>What's in this portfolio</a:t>
            </a:r>
            <a:endParaRPr lang="en-US" sz="2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11274552" cy="914400"/>
        </p:xfrm>
        <a:graphic>
          <a:graphicData uri="http://schemas.openxmlformats.org/drawingml/2006/table">
            <a:tbl>
              <a:tblPr/>
              <a:tblGrid>
                <a:gridCol w="731520"/>
                <a:gridCol w="8714232"/>
                <a:gridCol w="1828800"/>
              </a:tblGrid>
              <a:tr h="411480">
                <a:tc>
                  <a:txBody>
                    <a:bodyPr/>
                    <a:lstStyle/>
                    <a:p>
                      <a:pPr indent="0" marL="0">
                        <a:buNone/>
                      </a:pPr>
                      <a:r>
                        <a:rPr lang="en-US" sz="1400" b="1" dirty="0">
                          <a:solidFill>
                            <a:srgbClr val="1F2937"/>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400" b="1" dirty="0">
                          <a:solidFill>
                            <a:srgbClr val="1F2937"/>
                          </a:solidFill>
                          <a:latin typeface="Calibri" pitchFamily="34" charset="0"/>
                          <a:ea typeface="Calibri" pitchFamily="34" charset="-122"/>
                          <a:cs typeface="Calibri" pitchFamily="34" charset="-120"/>
                        </a:rPr>
                        <a:t>Section</a:t>
                      </a:r>
                      <a:endParaRPr lang="en-US" sz="14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400" b="1" dirty="0">
                          <a:solidFill>
                            <a:srgbClr val="1F2937"/>
                          </a:solidFill>
                          <a:latin typeface="Calibri" pitchFamily="34" charset="0"/>
                          <a:ea typeface="Calibri" pitchFamily="34" charset="-122"/>
                          <a:cs typeface="Calibri" pitchFamily="34" charset="-120"/>
                        </a:rPr>
                        <a:t>Weight</a:t>
                      </a:r>
                      <a:endParaRPr lang="en-US" sz="14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r>
              <a:tr h="411480">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Project Ideation</a:t>
                      </a:r>
                      <a:endParaRPr lang="en-US" sz="14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20%</a:t>
                      </a:r>
                      <a:endParaRPr lang="en-US" sz="14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411480">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Requirements Analysis</a:t>
                      </a:r>
                      <a:endParaRPr lang="en-US" sz="14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25%</a:t>
                      </a:r>
                      <a:endParaRPr lang="en-US" sz="14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411480">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Architecture &amp; OO Design</a:t>
                      </a:r>
                      <a:endParaRPr lang="en-US" sz="14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25%</a:t>
                      </a:r>
                      <a:endParaRPr lang="en-US" sz="14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411480">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Quality of Implementation</a:t>
                      </a:r>
                      <a:endParaRPr lang="en-US" sz="14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25%</a:t>
                      </a:r>
                      <a:endParaRPr lang="en-US" sz="14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411480">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Reflection</a:t>
                      </a:r>
                      <a:endParaRPr lang="en-US" sz="14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
        <p:nvSpPr>
          <p:cNvPr id="6" name="Text 3"/>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SpeakFlow — CS6005 Portfolio</a:t>
            </a:r>
            <a:endParaRPr lang="en-US" sz="900" dirty="0"/>
          </a:p>
        </p:txBody>
      </p:sp>
      <p:sp>
        <p:nvSpPr>
          <p:cNvPr id="7" name="Text 4"/>
          <p:cNvSpPr/>
          <p:nvPr/>
        </p:nvSpPr>
        <p:spPr>
          <a:xfrm>
            <a:off x="10972800" y="6492240"/>
            <a:ext cx="758952"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468880"/>
            <a:ext cx="11274552" cy="457200"/>
          </a:xfrm>
          <a:prstGeom prst="rect">
            <a:avLst/>
          </a:prstGeom>
          <a:noFill/>
          <a:ln/>
        </p:spPr>
        <p:txBody>
          <a:bodyPr wrap="square" rtlCol="0" anchor="ctr"/>
          <a:lstStyle/>
          <a:p>
            <a:pPr indent="0" marL="0">
              <a:buNone/>
            </a:pPr>
            <a:r>
              <a:rPr lang="en-US" sz="1800" dirty="0">
                <a:solidFill>
                  <a:srgbClr val="6B7280"/>
                </a:solidFill>
                <a:latin typeface="Calibri" pitchFamily="34" charset="0"/>
                <a:ea typeface="Calibri" pitchFamily="34" charset="-122"/>
                <a:cs typeface="Calibri" pitchFamily="34" charset="-120"/>
              </a:rPr>
              <a:t>Section 1</a:t>
            </a:r>
            <a:endParaRPr lang="en-US" sz="1800" dirty="0"/>
          </a:p>
        </p:txBody>
      </p:sp>
      <p:sp>
        <p:nvSpPr>
          <p:cNvPr id="3" name="Text 1"/>
          <p:cNvSpPr/>
          <p:nvPr/>
        </p:nvSpPr>
        <p:spPr>
          <a:xfrm>
            <a:off x="457200" y="2926080"/>
            <a:ext cx="11274552" cy="914400"/>
          </a:xfrm>
          <a:prstGeom prst="rect">
            <a:avLst/>
          </a:prstGeom>
          <a:noFill/>
          <a:ln/>
        </p:spPr>
        <p:txBody>
          <a:bodyPr wrap="square" rtlCol="0" anchor="ctr"/>
          <a:lstStyle/>
          <a:p>
            <a:pPr indent="0" marL="0">
              <a:buNone/>
            </a:pPr>
            <a:r>
              <a:rPr lang="en-US" sz="4800" b="1" dirty="0">
                <a:solidFill>
                  <a:srgbClr val="1F2937"/>
                </a:solidFill>
                <a:latin typeface="Calibri" pitchFamily="34" charset="0"/>
                <a:ea typeface="Calibri" pitchFamily="34" charset="-122"/>
                <a:cs typeface="Calibri" pitchFamily="34" charset="-120"/>
              </a:rPr>
              <a:t>Project Ideation</a:t>
            </a:r>
            <a:endParaRPr lang="en-US" sz="4800" dirty="0"/>
          </a:p>
        </p:txBody>
      </p:sp>
      <p:sp>
        <p:nvSpPr>
          <p:cNvPr id="4" name="Shape 2"/>
          <p:cNvSpPr/>
          <p:nvPr/>
        </p:nvSpPr>
        <p:spPr>
          <a:xfrm>
            <a:off x="457200" y="3931920"/>
            <a:ext cx="3200400" cy="0"/>
          </a:xfrm>
          <a:prstGeom prst="line">
            <a:avLst/>
          </a:prstGeom>
          <a:noFill/>
          <a:ln w="19050">
            <a:solidFill>
              <a:srgbClr val="1F2937"/>
            </a:solidFill>
            <a:prstDash val="solid"/>
          </a:ln>
        </p:spPr>
      </p:sp>
      <p:sp>
        <p:nvSpPr>
          <p:cNvPr id="5" name="Text 3"/>
          <p:cNvSpPr/>
          <p:nvPr/>
        </p:nvSpPr>
        <p:spPr>
          <a:xfrm>
            <a:off x="457200" y="4023360"/>
            <a:ext cx="11274552" cy="365760"/>
          </a:xfrm>
          <a:prstGeom prst="rect">
            <a:avLst/>
          </a:prstGeom>
          <a:noFill/>
          <a:ln/>
        </p:spPr>
        <p:txBody>
          <a:bodyPr wrap="square" rtlCol="0" anchor="ctr"/>
          <a:lstStyle/>
          <a:p>
            <a:pPr indent="0" marL="0">
              <a:buNone/>
            </a:pPr>
            <a:r>
              <a:rPr lang="en-US" sz="1600" dirty="0">
                <a:solidFill>
                  <a:srgbClr val="6B7280"/>
                </a:solidFill>
                <a:latin typeface="Calibri" pitchFamily="34" charset="0"/>
                <a:ea typeface="Calibri" pitchFamily="34" charset="-122"/>
                <a:cs typeface="Calibri" pitchFamily="34" charset="-120"/>
              </a:rPr>
              <a:t>20%</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274320"/>
            <a:ext cx="9144000" cy="274320"/>
          </a:xfrm>
          <a:prstGeom prst="rect">
            <a:avLst/>
          </a:prstGeom>
          <a:noFill/>
          <a:ln/>
        </p:spPr>
        <p:txBody>
          <a:bodyPr wrap="square" rtlCol="0" anchor="ctr"/>
          <a:lstStyle/>
          <a:p>
            <a:pPr algn="l" indent="0" marL="0">
              <a:buNone/>
            </a:pPr>
            <a:r>
              <a:rPr lang="en-US" sz="1100" dirty="0">
                <a:solidFill>
                  <a:srgbClr val="6B7280"/>
                </a:solidFill>
                <a:latin typeface="Calibri" pitchFamily="34" charset="0"/>
                <a:ea typeface="Calibri" pitchFamily="34" charset="-122"/>
                <a:cs typeface="Calibri" pitchFamily="34" charset="-120"/>
              </a:rPr>
              <a:t>1.1  Main Objective and Overview</a:t>
            </a:r>
            <a:endParaRPr lang="en-US" sz="1100" dirty="0"/>
          </a:p>
        </p:txBody>
      </p:sp>
      <p:sp>
        <p:nvSpPr>
          <p:cNvPr id="3" name="Text 1"/>
          <p:cNvSpPr/>
          <p:nvPr/>
        </p:nvSpPr>
        <p:spPr>
          <a:xfrm>
            <a:off x="9902952" y="274320"/>
            <a:ext cx="18288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Section 1 — 20%</a:t>
            </a:r>
            <a:endParaRPr lang="en-US" sz="1100" dirty="0"/>
          </a:p>
        </p:txBody>
      </p:sp>
      <p:sp>
        <p:nvSpPr>
          <p:cNvPr id="4" name="Shape 2"/>
          <p:cNvSpPr/>
          <p:nvPr/>
        </p:nvSpPr>
        <p:spPr>
          <a:xfrm>
            <a:off x="457200" y="594360"/>
            <a:ext cx="11274552" cy="0"/>
          </a:xfrm>
          <a:prstGeom prst="line">
            <a:avLst/>
          </a:prstGeom>
          <a:noFill/>
          <a:ln w="9525">
            <a:solidFill>
              <a:srgbClr val="D1D5DB"/>
            </a:solidFill>
            <a:prstDash val="solid"/>
          </a:ln>
        </p:spPr>
      </p:sp>
      <p:sp>
        <p:nvSpPr>
          <p:cNvPr id="5" name="Text 3"/>
          <p:cNvSpPr/>
          <p:nvPr/>
        </p:nvSpPr>
        <p:spPr>
          <a:xfrm>
            <a:off x="457200" y="777240"/>
            <a:ext cx="11274552" cy="640080"/>
          </a:xfrm>
          <a:prstGeom prst="rect">
            <a:avLst/>
          </a:prstGeom>
          <a:noFill/>
          <a:ln/>
        </p:spPr>
        <p:txBody>
          <a:bodyPr wrap="square" rtlCol="0" anchor="ctr"/>
          <a:lstStyle/>
          <a:p>
            <a:pPr indent="0" marL="0">
              <a:buNone/>
            </a:pPr>
            <a:r>
              <a:rPr lang="en-US" sz="2800" b="1" dirty="0">
                <a:solidFill>
                  <a:srgbClr val="1F2937"/>
                </a:solidFill>
                <a:latin typeface="Calibri" pitchFamily="34" charset="0"/>
                <a:ea typeface="Calibri" pitchFamily="34" charset="-122"/>
                <a:cs typeface="Calibri" pitchFamily="34" charset="-120"/>
              </a:rPr>
              <a:t>What SpeakFlow is, and the gap it fills</a:t>
            </a:r>
            <a:endParaRPr lang="en-US" sz="2800" dirty="0"/>
          </a:p>
        </p:txBody>
      </p:sp>
      <p:sp>
        <p:nvSpPr>
          <p:cNvPr id="6" name="Text 4"/>
          <p:cNvSpPr/>
          <p:nvPr/>
        </p:nvSpPr>
        <p:spPr>
          <a:xfrm>
            <a:off x="457200" y="1554480"/>
            <a:ext cx="11274552" cy="4754880"/>
          </a:xfrm>
          <a:prstGeom prst="rect">
            <a:avLst/>
          </a:prstGeom>
          <a:noFill/>
          <a:ln/>
        </p:spPr>
        <p:txBody>
          <a:bodyPr wrap="square" rtlCol="0" anchor="t"/>
          <a:lstStyle/>
          <a:p>
            <a:pPr indent="0" marL="0">
              <a:spcAft>
                <a:spcPts val="600"/>
              </a:spcAft>
              <a:buNone/>
            </a:pPr>
            <a:r>
              <a:rPr lang="en-US" sz="1400" dirty="0">
                <a:solidFill>
                  <a:srgbClr val="1F2937"/>
                </a:solidFill>
                <a:latin typeface="Calibri" pitchFamily="34" charset="0"/>
                <a:ea typeface="Calibri" pitchFamily="34" charset="-122"/>
                <a:cs typeface="Calibri" pitchFamily="34" charset="-120"/>
              </a:rPr>
              <a:t>SpeakFlow is a personal speaking coach built as a web app. The goal is to help people who struggle to get their words out cleanly — whether that's public speaking, job interviews, or explaining something on the fly. Most existing tools focus on polished presentations, but the gap is that nobody really practises everyday speaking.</a:t>
            </a:r>
            <a:endParaRPr lang="en-US" sz="1400" dirty="0"/>
          </a:p>
          <a:p>
            <a:pPr indent="0" marL="0">
              <a:spcAft>
                <a:spcPts val="600"/>
              </a:spcAft>
              <a:buNone/>
            </a:pPr>
            <a:endParaRPr lang="en-US" sz="1400" dirty="0"/>
          </a:p>
          <a:p>
            <a:pPr indent="0" marL="0">
              <a:spcAft>
                <a:spcPts val="600"/>
              </a:spcAft>
              <a:buNone/>
            </a:pPr>
            <a:r>
              <a:rPr lang="en-US" sz="1400" dirty="0">
                <a:solidFill>
                  <a:srgbClr val="1F2937"/>
                </a:solidFill>
                <a:latin typeface="Calibri" pitchFamily="34" charset="0"/>
                <a:ea typeface="Calibri" pitchFamily="34" charset="-122"/>
                <a:cs typeface="Calibri" pitchFamily="34" charset="-120"/>
              </a:rPr>
              <a:t>The user opens the Trainer page, gets a random prompt, and speaks about it for 30–60 seconds. While they're talking, the app transcribes in real time and flags filler words. When the drill ends, the transcript and stats are sent to an AI service that scores clarity, pacing, and topic relevance. Every session is saved so the user can track improvement.</a:t>
            </a:r>
            <a:endParaRPr lang="en-US" sz="1400" dirty="0"/>
          </a:p>
          <a:p>
            <a:pPr indent="0" marL="0">
              <a:spcAft>
                <a:spcPts val="600"/>
              </a:spcAft>
              <a:buNone/>
            </a:pPr>
            <a:endParaRPr lang="en-US" sz="1400" dirty="0"/>
          </a:p>
          <a:p>
            <a:pPr indent="0" marL="0">
              <a:spcAft>
                <a:spcPts val="600"/>
              </a:spcAft>
              <a:buNone/>
            </a:pPr>
            <a:r>
              <a:rPr lang="en-US" sz="1400" dirty="0">
                <a:solidFill>
                  <a:srgbClr val="1F2937"/>
                </a:solidFill>
                <a:latin typeface="Calibri" pitchFamily="34" charset="0"/>
                <a:ea typeface="Calibri" pitchFamily="34" charset="-122"/>
                <a:cs typeface="Calibri" pitchFamily="34" charset="-120"/>
              </a:rPr>
              <a:t>Scope was kept tight around three core use cases: generate a speaking prompt, record a practice speech, and analyse the speaking style. Everything else (teleprompter mode, micro-lessons, streaks) is layered on top.</a:t>
            </a:r>
            <a:endParaRPr lang="en-US" sz="1400" dirty="0"/>
          </a:p>
        </p:txBody>
      </p:sp>
      <p:sp>
        <p:nvSpPr>
          <p:cNvPr id="7" name="Text 5"/>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SpeakFlow — CS6005 Portfolio</a:t>
            </a:r>
            <a:endParaRPr lang="en-US" sz="900" dirty="0"/>
          </a:p>
        </p:txBody>
      </p:sp>
      <p:sp>
        <p:nvSpPr>
          <p:cNvPr id="8" name="Text 6"/>
          <p:cNvSpPr/>
          <p:nvPr/>
        </p:nvSpPr>
        <p:spPr>
          <a:xfrm>
            <a:off x="10972800" y="6492240"/>
            <a:ext cx="758952"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274320"/>
            <a:ext cx="9144000" cy="274320"/>
          </a:xfrm>
          <a:prstGeom prst="rect">
            <a:avLst/>
          </a:prstGeom>
          <a:noFill/>
          <a:ln/>
        </p:spPr>
        <p:txBody>
          <a:bodyPr wrap="square" rtlCol="0" anchor="ctr"/>
          <a:lstStyle/>
          <a:p>
            <a:pPr algn="l" indent="0" marL="0">
              <a:buNone/>
            </a:pPr>
            <a:r>
              <a:rPr lang="en-US" sz="1100" dirty="0">
                <a:solidFill>
                  <a:srgbClr val="6B7280"/>
                </a:solidFill>
                <a:latin typeface="Calibri" pitchFamily="34" charset="0"/>
                <a:ea typeface="Calibri" pitchFamily="34" charset="-122"/>
                <a:cs typeface="Calibri" pitchFamily="34" charset="-120"/>
              </a:rPr>
              <a:t>1.2  Analysis of Similar Systems — Orai</a:t>
            </a:r>
            <a:endParaRPr lang="en-US" sz="1100" dirty="0"/>
          </a:p>
        </p:txBody>
      </p:sp>
      <p:sp>
        <p:nvSpPr>
          <p:cNvPr id="3" name="Text 1"/>
          <p:cNvSpPr/>
          <p:nvPr/>
        </p:nvSpPr>
        <p:spPr>
          <a:xfrm>
            <a:off x="9902952" y="274320"/>
            <a:ext cx="18288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Section 1 — 20%</a:t>
            </a:r>
            <a:endParaRPr lang="en-US" sz="1100" dirty="0"/>
          </a:p>
        </p:txBody>
      </p:sp>
      <p:sp>
        <p:nvSpPr>
          <p:cNvPr id="4" name="Shape 2"/>
          <p:cNvSpPr/>
          <p:nvPr/>
        </p:nvSpPr>
        <p:spPr>
          <a:xfrm>
            <a:off x="457200" y="594360"/>
            <a:ext cx="11274552" cy="0"/>
          </a:xfrm>
          <a:prstGeom prst="line">
            <a:avLst/>
          </a:prstGeom>
          <a:noFill/>
          <a:ln w="9525">
            <a:solidFill>
              <a:srgbClr val="D1D5DB"/>
            </a:solidFill>
            <a:prstDash val="solid"/>
          </a:ln>
        </p:spPr>
      </p:sp>
      <p:sp>
        <p:nvSpPr>
          <p:cNvPr id="5" name="Text 3"/>
          <p:cNvSpPr/>
          <p:nvPr/>
        </p:nvSpPr>
        <p:spPr>
          <a:xfrm>
            <a:off x="457200" y="777240"/>
            <a:ext cx="11274552" cy="640080"/>
          </a:xfrm>
          <a:prstGeom prst="rect">
            <a:avLst/>
          </a:prstGeom>
          <a:noFill/>
          <a:ln/>
        </p:spPr>
        <p:txBody>
          <a:bodyPr wrap="square" rtlCol="0" anchor="ctr"/>
          <a:lstStyle/>
          <a:p>
            <a:pPr indent="0" marL="0">
              <a:buNone/>
            </a:pPr>
            <a:r>
              <a:rPr lang="en-US" sz="2800" b="1" dirty="0">
                <a:solidFill>
                  <a:srgbClr val="1F2937"/>
                </a:solidFill>
                <a:latin typeface="Calibri" pitchFamily="34" charset="0"/>
                <a:ea typeface="Calibri" pitchFamily="34" charset="-122"/>
                <a:cs typeface="Calibri" pitchFamily="34" charset="-120"/>
              </a:rPr>
              <a:t>Orai</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11274552" cy="914400"/>
        </p:xfrm>
        <a:graphic>
          <a:graphicData uri="http://schemas.openxmlformats.org/drawingml/2006/table">
            <a:tbl>
              <a:tblPr/>
              <a:tblGrid>
                <a:gridCol w="2286000"/>
                <a:gridCol w="8988552"/>
              </a:tblGrid>
              <a:tr h="502920">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Aspect</a:t>
                      </a:r>
                      <a:endParaRPr lang="en-US" sz="12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Notes</a:t>
                      </a:r>
                      <a:endParaRPr lang="en-US" sz="12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r>
              <a:tr h="50292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Overview</a:t>
                      </a:r>
                      <a:endParaRPr lang="en-US" sz="12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AI-powered public speaking coach (mobile only). The closest match to SpeakFlow — main benchmark.</a:t>
                      </a:r>
                      <a:endParaRPr lang="en-US" sz="12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50292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Major Features</a:t>
                      </a:r>
                      <a:endParaRPr lang="en-US" sz="12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AI Speech Analysis (clarity, pace, tone, fillers, confidence); Guided Practice (Duolingo-style lessons, tracking)</a:t>
                      </a:r>
                      <a:endParaRPr lang="en-US" sz="12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50292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Operating Env.</a:t>
                      </a:r>
                      <a:endParaRPr lang="en-US" sz="12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Android, iOS. Mic + speaker. Mobile OS audio + cloud AI.</a:t>
                      </a:r>
                      <a:endParaRPr lang="en-US" sz="12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50292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Pros</a:t>
                      </a:r>
                      <a:endParaRPr lang="en-US" sz="12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Clear, actionable feedback with numbers (clarity %, filler count). Daily lesson format builds habit.</a:t>
                      </a:r>
                      <a:endParaRPr lang="en-US" sz="12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50292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Cons</a:t>
                      </a:r>
                      <a:endParaRPr lang="en-US" sz="12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UI feels childlike for a professional user. Pre-scripted lessons feel generic. No teleprompter. Mobile-only.</a:t>
                      </a:r>
                      <a:endParaRPr lang="en-US" sz="12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
        <p:nvSpPr>
          <p:cNvPr id="7" name="Text 4"/>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SpeakFlow — CS6005 Portfolio</a:t>
            </a:r>
            <a:endParaRPr lang="en-US" sz="900" dirty="0"/>
          </a:p>
        </p:txBody>
      </p:sp>
      <p:sp>
        <p:nvSpPr>
          <p:cNvPr id="8" name="Text 5"/>
          <p:cNvSpPr/>
          <p:nvPr/>
        </p:nvSpPr>
        <p:spPr>
          <a:xfrm>
            <a:off x="10972800" y="6492240"/>
            <a:ext cx="758952"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274320"/>
            <a:ext cx="9144000" cy="274320"/>
          </a:xfrm>
          <a:prstGeom prst="rect">
            <a:avLst/>
          </a:prstGeom>
          <a:noFill/>
          <a:ln/>
        </p:spPr>
        <p:txBody>
          <a:bodyPr wrap="square" rtlCol="0" anchor="ctr"/>
          <a:lstStyle/>
          <a:p>
            <a:pPr algn="l" indent="0" marL="0">
              <a:buNone/>
            </a:pPr>
            <a:r>
              <a:rPr lang="en-US" sz="1100" dirty="0">
                <a:solidFill>
                  <a:srgbClr val="6B7280"/>
                </a:solidFill>
                <a:latin typeface="Calibri" pitchFamily="34" charset="0"/>
                <a:ea typeface="Calibri" pitchFamily="34" charset="-122"/>
                <a:cs typeface="Calibri" pitchFamily="34" charset="-120"/>
              </a:rPr>
              <a:t>1.2  Analysis of Similar Systems — Yoodli</a:t>
            </a:r>
            <a:endParaRPr lang="en-US" sz="1100" dirty="0"/>
          </a:p>
        </p:txBody>
      </p:sp>
      <p:sp>
        <p:nvSpPr>
          <p:cNvPr id="3" name="Text 1"/>
          <p:cNvSpPr/>
          <p:nvPr/>
        </p:nvSpPr>
        <p:spPr>
          <a:xfrm>
            <a:off x="9902952" y="274320"/>
            <a:ext cx="18288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Section 1 — 20%</a:t>
            </a:r>
            <a:endParaRPr lang="en-US" sz="1100" dirty="0"/>
          </a:p>
        </p:txBody>
      </p:sp>
      <p:sp>
        <p:nvSpPr>
          <p:cNvPr id="4" name="Shape 2"/>
          <p:cNvSpPr/>
          <p:nvPr/>
        </p:nvSpPr>
        <p:spPr>
          <a:xfrm>
            <a:off x="457200" y="594360"/>
            <a:ext cx="11274552" cy="0"/>
          </a:xfrm>
          <a:prstGeom prst="line">
            <a:avLst/>
          </a:prstGeom>
          <a:noFill/>
          <a:ln w="9525">
            <a:solidFill>
              <a:srgbClr val="D1D5DB"/>
            </a:solidFill>
            <a:prstDash val="solid"/>
          </a:ln>
        </p:spPr>
      </p:sp>
      <p:sp>
        <p:nvSpPr>
          <p:cNvPr id="5" name="Text 3"/>
          <p:cNvSpPr/>
          <p:nvPr/>
        </p:nvSpPr>
        <p:spPr>
          <a:xfrm>
            <a:off x="457200" y="777240"/>
            <a:ext cx="11274552" cy="640080"/>
          </a:xfrm>
          <a:prstGeom prst="rect">
            <a:avLst/>
          </a:prstGeom>
          <a:noFill/>
          <a:ln/>
        </p:spPr>
        <p:txBody>
          <a:bodyPr wrap="square" rtlCol="0" anchor="ctr"/>
          <a:lstStyle/>
          <a:p>
            <a:pPr indent="0" marL="0">
              <a:buNone/>
            </a:pPr>
            <a:r>
              <a:rPr lang="en-US" sz="2800" b="1" dirty="0">
                <a:solidFill>
                  <a:srgbClr val="1F2937"/>
                </a:solidFill>
                <a:latin typeface="Calibri" pitchFamily="34" charset="0"/>
                <a:ea typeface="Calibri" pitchFamily="34" charset="-122"/>
                <a:cs typeface="Calibri" pitchFamily="34" charset="-120"/>
              </a:rPr>
              <a:t>Yoodli</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11274552" cy="914400"/>
        </p:xfrm>
        <a:graphic>
          <a:graphicData uri="http://schemas.openxmlformats.org/drawingml/2006/table">
            <a:tbl>
              <a:tblPr/>
              <a:tblGrid>
                <a:gridCol w="2286000"/>
                <a:gridCol w="8988552"/>
              </a:tblGrid>
              <a:tr h="502920">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Aspect</a:t>
                      </a:r>
                      <a:endParaRPr lang="en-US" sz="12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Notes</a:t>
                      </a:r>
                      <a:endParaRPr lang="en-US" sz="12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r>
              <a:tr h="50292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Overview</a:t>
                      </a:r>
                      <a:endParaRPr lang="en-US" sz="12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Private real-time AI speech coach (browser/desktop). Aimed at professional users — interviews, pitches.</a:t>
                      </a:r>
                      <a:endParaRPr lang="en-US" sz="12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50292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Major Features</a:t>
                      </a:r>
                      <a:endParaRPr lang="en-US" sz="12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Real-time coaching (clarity, pacing, fillers, structure); Conversation simulation (mock interviews)</a:t>
                      </a:r>
                      <a:endParaRPr lang="en-US" sz="12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50292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Operating Env.</a:t>
                      </a:r>
                      <a:endParaRPr lang="en-US" sz="12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Web, Windows, macOS. Mic + speaker. Browser or desktop app + cloud AI.</a:t>
                      </a:r>
                      <a:endParaRPr lang="en-US" sz="12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50292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Pros</a:t>
                      </a:r>
                      <a:endParaRPr lang="en-US" sz="12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Strong analytics and detailed breakdowns. Gamified exercises ("Spin a Yarn", "No Filler", "Storyteller").</a:t>
                      </a:r>
                      <a:endParaRPr lang="en-US" sz="12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50292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Cons</a:t>
                      </a:r>
                      <a:endParaRPr lang="en-US" sz="12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Corporate-priced — aimed at enterprise, not individuals. Targets only "performance" speaking.</a:t>
                      </a:r>
                      <a:endParaRPr lang="en-US" sz="12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
        <p:nvSpPr>
          <p:cNvPr id="7" name="Text 4"/>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SpeakFlow — CS6005 Portfolio</a:t>
            </a:r>
            <a:endParaRPr lang="en-US" sz="900" dirty="0"/>
          </a:p>
        </p:txBody>
      </p:sp>
      <p:sp>
        <p:nvSpPr>
          <p:cNvPr id="8" name="Text 5"/>
          <p:cNvSpPr/>
          <p:nvPr/>
        </p:nvSpPr>
        <p:spPr>
          <a:xfrm>
            <a:off x="10972800" y="6492240"/>
            <a:ext cx="758952"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274320"/>
            <a:ext cx="9144000" cy="274320"/>
          </a:xfrm>
          <a:prstGeom prst="rect">
            <a:avLst/>
          </a:prstGeom>
          <a:noFill/>
          <a:ln/>
        </p:spPr>
        <p:txBody>
          <a:bodyPr wrap="square" rtlCol="0" anchor="ctr"/>
          <a:lstStyle/>
          <a:p>
            <a:pPr algn="l" indent="0" marL="0">
              <a:buNone/>
            </a:pPr>
            <a:r>
              <a:rPr lang="en-US" sz="1100" dirty="0">
                <a:solidFill>
                  <a:srgbClr val="6B7280"/>
                </a:solidFill>
                <a:latin typeface="Calibri" pitchFamily="34" charset="0"/>
                <a:ea typeface="Calibri" pitchFamily="34" charset="-122"/>
                <a:cs typeface="Calibri" pitchFamily="34" charset="-120"/>
              </a:rPr>
              <a:t>1.2  Analysis of Similar Systems — Poised</a:t>
            </a:r>
            <a:endParaRPr lang="en-US" sz="1100" dirty="0"/>
          </a:p>
        </p:txBody>
      </p:sp>
      <p:sp>
        <p:nvSpPr>
          <p:cNvPr id="3" name="Text 1"/>
          <p:cNvSpPr/>
          <p:nvPr/>
        </p:nvSpPr>
        <p:spPr>
          <a:xfrm>
            <a:off x="9902952" y="274320"/>
            <a:ext cx="18288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Section 1 — 20%</a:t>
            </a:r>
            <a:endParaRPr lang="en-US" sz="1100" dirty="0"/>
          </a:p>
        </p:txBody>
      </p:sp>
      <p:sp>
        <p:nvSpPr>
          <p:cNvPr id="4" name="Shape 2"/>
          <p:cNvSpPr/>
          <p:nvPr/>
        </p:nvSpPr>
        <p:spPr>
          <a:xfrm>
            <a:off x="457200" y="594360"/>
            <a:ext cx="11274552" cy="0"/>
          </a:xfrm>
          <a:prstGeom prst="line">
            <a:avLst/>
          </a:prstGeom>
          <a:noFill/>
          <a:ln w="9525">
            <a:solidFill>
              <a:srgbClr val="D1D5DB"/>
            </a:solidFill>
            <a:prstDash val="solid"/>
          </a:ln>
        </p:spPr>
      </p:sp>
      <p:sp>
        <p:nvSpPr>
          <p:cNvPr id="5" name="Text 3"/>
          <p:cNvSpPr/>
          <p:nvPr/>
        </p:nvSpPr>
        <p:spPr>
          <a:xfrm>
            <a:off x="457200" y="777240"/>
            <a:ext cx="11274552" cy="640080"/>
          </a:xfrm>
          <a:prstGeom prst="rect">
            <a:avLst/>
          </a:prstGeom>
          <a:noFill/>
          <a:ln/>
        </p:spPr>
        <p:txBody>
          <a:bodyPr wrap="square" rtlCol="0" anchor="ctr"/>
          <a:lstStyle/>
          <a:p>
            <a:pPr indent="0" marL="0">
              <a:buNone/>
            </a:pPr>
            <a:r>
              <a:rPr lang="en-US" sz="2800" b="1" dirty="0">
                <a:solidFill>
                  <a:srgbClr val="1F2937"/>
                </a:solidFill>
                <a:latin typeface="Calibri" pitchFamily="34" charset="0"/>
                <a:ea typeface="Calibri" pitchFamily="34" charset="-122"/>
                <a:cs typeface="Calibri" pitchFamily="34" charset="-120"/>
              </a:rPr>
              <a:t>Poised</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11274552" cy="914400"/>
        </p:xfrm>
        <a:graphic>
          <a:graphicData uri="http://schemas.openxmlformats.org/drawingml/2006/table">
            <a:tbl>
              <a:tblPr/>
              <a:tblGrid>
                <a:gridCol w="2286000"/>
                <a:gridCol w="8988552"/>
              </a:tblGrid>
              <a:tr h="502920">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Aspect</a:t>
                      </a:r>
                      <a:endParaRPr lang="en-US" sz="12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Notes</a:t>
                      </a:r>
                      <a:endParaRPr lang="en-US" sz="12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r>
              <a:tr h="50292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Overview</a:t>
                      </a:r>
                      <a:endParaRPr lang="en-US" sz="12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AI assistant during live meetings (Zoom, Meet, Teams). Listens during work, gives insights on tone, fillers, clarity.</a:t>
                      </a:r>
                      <a:endParaRPr lang="en-US" sz="12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50292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Major Features</a:t>
                      </a:r>
                      <a:endParaRPr lang="en-US" sz="12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Live meeting analysis (tone, clarity, pacing, energy); Post-meeting reports with strengths/weaknesses</a:t>
                      </a:r>
                      <a:endParaRPr lang="en-US" sz="12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50292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Operating Env.</a:t>
                      </a:r>
                      <a:endParaRPr lang="en-US" sz="12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Windows, macOS. Mic. Integrates with Zoom, Meet, Teams.</a:t>
                      </a:r>
                      <a:endParaRPr lang="en-US" sz="12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50292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Pros</a:t>
                      </a:r>
                      <a:endParaRPr lang="en-US" sz="12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Improves real meetings. Seamless integration with existing tools. Clean UI, real-time feedback.</a:t>
                      </a:r>
                      <a:endParaRPr lang="en-US" sz="12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50292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Cons</a:t>
                      </a:r>
                      <a:endParaRPr lang="en-US" sz="12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Continuous mic access raises privacy concerns. Advanced features paywalled. No mobile. Only works during meetings.</a:t>
                      </a:r>
                      <a:endParaRPr lang="en-US" sz="12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
        <p:nvSpPr>
          <p:cNvPr id="7" name="Text 4"/>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SpeakFlow — CS6005 Portfolio</a:t>
            </a:r>
            <a:endParaRPr lang="en-US" sz="900" dirty="0"/>
          </a:p>
        </p:txBody>
      </p:sp>
      <p:sp>
        <p:nvSpPr>
          <p:cNvPr id="8" name="Text 5"/>
          <p:cNvSpPr/>
          <p:nvPr/>
        </p:nvSpPr>
        <p:spPr>
          <a:xfrm>
            <a:off x="10972800" y="6492240"/>
            <a:ext cx="758952"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274320"/>
            <a:ext cx="9144000" cy="274320"/>
          </a:xfrm>
          <a:prstGeom prst="rect">
            <a:avLst/>
          </a:prstGeom>
          <a:noFill/>
          <a:ln/>
        </p:spPr>
        <p:txBody>
          <a:bodyPr wrap="square" rtlCol="0" anchor="ctr"/>
          <a:lstStyle/>
          <a:p>
            <a:pPr algn="l" indent="0" marL="0">
              <a:buNone/>
            </a:pPr>
            <a:r>
              <a:rPr lang="en-US" sz="1100" dirty="0">
                <a:solidFill>
                  <a:srgbClr val="6B7280"/>
                </a:solidFill>
                <a:latin typeface="Calibri" pitchFamily="34" charset="0"/>
                <a:ea typeface="Calibri" pitchFamily="34" charset="-122"/>
                <a:cs typeface="Calibri" pitchFamily="34" charset="-120"/>
              </a:rPr>
              <a:t>1.3  Feature Matrix</a:t>
            </a:r>
            <a:endParaRPr lang="en-US" sz="1100" dirty="0"/>
          </a:p>
        </p:txBody>
      </p:sp>
      <p:sp>
        <p:nvSpPr>
          <p:cNvPr id="3" name="Text 1"/>
          <p:cNvSpPr/>
          <p:nvPr/>
        </p:nvSpPr>
        <p:spPr>
          <a:xfrm>
            <a:off x="9902952" y="274320"/>
            <a:ext cx="18288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Section 1 — 20%</a:t>
            </a:r>
            <a:endParaRPr lang="en-US" sz="1100" dirty="0"/>
          </a:p>
        </p:txBody>
      </p:sp>
      <p:sp>
        <p:nvSpPr>
          <p:cNvPr id="4" name="Shape 2"/>
          <p:cNvSpPr/>
          <p:nvPr/>
        </p:nvSpPr>
        <p:spPr>
          <a:xfrm>
            <a:off x="457200" y="594360"/>
            <a:ext cx="11274552" cy="0"/>
          </a:xfrm>
          <a:prstGeom prst="line">
            <a:avLst/>
          </a:prstGeom>
          <a:noFill/>
          <a:ln w="9525">
            <a:solidFill>
              <a:srgbClr val="D1D5DB"/>
            </a:solidFill>
            <a:prstDash val="solid"/>
          </a:ln>
        </p:spPr>
      </p:sp>
      <p:sp>
        <p:nvSpPr>
          <p:cNvPr id="5" name="Text 3"/>
          <p:cNvSpPr/>
          <p:nvPr/>
        </p:nvSpPr>
        <p:spPr>
          <a:xfrm>
            <a:off x="457200" y="777240"/>
            <a:ext cx="11274552" cy="640080"/>
          </a:xfrm>
          <a:prstGeom prst="rect">
            <a:avLst/>
          </a:prstGeom>
          <a:noFill/>
          <a:ln/>
        </p:spPr>
        <p:txBody>
          <a:bodyPr wrap="square" rtlCol="0" anchor="ctr"/>
          <a:lstStyle/>
          <a:p>
            <a:pPr indent="0" marL="0">
              <a:buNone/>
            </a:pPr>
            <a:r>
              <a:rPr lang="en-US" sz="2800" b="1" dirty="0">
                <a:solidFill>
                  <a:srgbClr val="1F2937"/>
                </a:solidFill>
                <a:latin typeface="Calibri" pitchFamily="34" charset="0"/>
                <a:ea typeface="Calibri" pitchFamily="34" charset="-122"/>
                <a:cs typeface="Calibri" pitchFamily="34" charset="-120"/>
              </a:rPr>
              <a:t>How SpeakFlow compares</a:t>
            </a:r>
            <a:endParaRPr lang="en-US" sz="2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11274552" cy="914400"/>
        </p:xfrm>
        <a:graphic>
          <a:graphicData uri="http://schemas.openxmlformats.org/drawingml/2006/table">
            <a:tbl>
              <a:tblPr/>
              <a:tblGrid>
                <a:gridCol w="4572000"/>
                <a:gridCol w="1463040"/>
                <a:gridCol w="1463040"/>
                <a:gridCol w="1463040"/>
                <a:gridCol w="2313432"/>
              </a:tblGrid>
              <a:tr h="292608">
                <a:tc>
                  <a:txBody>
                    <a:bodyPr/>
                    <a:lstStyle/>
                    <a:p>
                      <a:pPr algn="l" indent="0" marL="0">
                        <a:buNone/>
                      </a:pPr>
                      <a:r>
                        <a:rPr lang="en-US" sz="1100" b="1" dirty="0">
                          <a:solidFill>
                            <a:srgbClr val="1F2937"/>
                          </a:solidFill>
                          <a:latin typeface="Calibri" pitchFamily="34" charset="0"/>
                          <a:ea typeface="Calibri" pitchFamily="34" charset="-122"/>
                          <a:cs typeface="Calibri" pitchFamily="34" charset="-120"/>
                        </a:rPr>
                        <a:t>Feature</a:t>
                      </a:r>
                      <a:endParaRPr lang="en-US" sz="11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algn="l" indent="0" marL="0">
                        <a:buNone/>
                      </a:pPr>
                      <a:r>
                        <a:rPr lang="en-US" sz="1100" b="1" dirty="0">
                          <a:solidFill>
                            <a:srgbClr val="1F2937"/>
                          </a:solidFill>
                          <a:latin typeface="Calibri" pitchFamily="34" charset="0"/>
                          <a:ea typeface="Calibri" pitchFamily="34" charset="-122"/>
                          <a:cs typeface="Calibri" pitchFamily="34" charset="-120"/>
                        </a:rPr>
                        <a:t>Orai</a:t>
                      </a:r>
                      <a:endParaRPr lang="en-US" sz="11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algn="l" indent="0" marL="0">
                        <a:buNone/>
                      </a:pPr>
                      <a:r>
                        <a:rPr lang="en-US" sz="1100" b="1" dirty="0">
                          <a:solidFill>
                            <a:srgbClr val="1F2937"/>
                          </a:solidFill>
                          <a:latin typeface="Calibri" pitchFamily="34" charset="0"/>
                          <a:ea typeface="Calibri" pitchFamily="34" charset="-122"/>
                          <a:cs typeface="Calibri" pitchFamily="34" charset="-120"/>
                        </a:rPr>
                        <a:t>Yoodli</a:t>
                      </a:r>
                      <a:endParaRPr lang="en-US" sz="11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algn="l" indent="0" marL="0">
                        <a:buNone/>
                      </a:pPr>
                      <a:r>
                        <a:rPr lang="en-US" sz="1100" b="1" dirty="0">
                          <a:solidFill>
                            <a:srgbClr val="1F2937"/>
                          </a:solidFill>
                          <a:latin typeface="Calibri" pitchFamily="34" charset="0"/>
                          <a:ea typeface="Calibri" pitchFamily="34" charset="-122"/>
                          <a:cs typeface="Calibri" pitchFamily="34" charset="-120"/>
                        </a:rPr>
                        <a:t>Poised</a:t>
                      </a:r>
                      <a:endParaRPr lang="en-US" sz="11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algn="l" indent="0" marL="0">
                        <a:buNone/>
                      </a:pPr>
                      <a:r>
                        <a:rPr lang="en-US" sz="1100" b="1" dirty="0">
                          <a:solidFill>
                            <a:srgbClr val="1F2937"/>
                          </a:solidFill>
                          <a:latin typeface="Calibri" pitchFamily="34" charset="0"/>
                          <a:ea typeface="Calibri" pitchFamily="34" charset="-122"/>
                          <a:cs typeface="Calibri" pitchFamily="34" charset="-120"/>
                        </a:rPr>
                        <a:t>SpeakFlow</a:t>
                      </a:r>
                      <a:endParaRPr lang="en-US" sz="11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5E7EB"/>
                    </a:solidFill>
                  </a:tcPr>
                </a:tc>
              </a:tr>
              <a:tr h="292608">
                <a:tc>
                  <a:txBody>
                    <a:bodyPr/>
                    <a:lstStyle/>
                    <a:p>
                      <a:pPr algn="l" indent="0" marL="0">
                        <a:buNone/>
                      </a:pPr>
                      <a:r>
                        <a:rPr lang="en-US" sz="1100" dirty="0">
                          <a:solidFill>
                            <a:srgbClr val="1F2937"/>
                          </a:solidFill>
                          <a:latin typeface="Calibri" pitchFamily="34" charset="0"/>
                          <a:ea typeface="Calibri" pitchFamily="34" charset="-122"/>
                          <a:cs typeface="Calibri" pitchFamily="34" charset="-120"/>
                        </a:rPr>
                        <a:t>Random topic speaking trainer</a:t>
                      </a:r>
                      <a:endParaRPr lang="en-US" sz="11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l" indent="0" marL="0">
                        <a:buNone/>
                      </a:pPr>
                      <a:r>
                        <a:rPr lang="en-US" sz="1100" dirty="0">
                          <a:solidFill>
                            <a:srgbClr val="1F2937"/>
                          </a:solidFill>
                          <a:latin typeface="Calibri" pitchFamily="34" charset="0"/>
                          <a:ea typeface="Calibri" pitchFamily="34" charset="-122"/>
                          <a:cs typeface="Calibri" pitchFamily="34" charset="-120"/>
                        </a:rPr>
                        <a:t>Y</a:t>
                      </a:r>
                      <a:endParaRPr lang="en-US" sz="11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l" indent="0" marL="0">
                        <a:buNone/>
                      </a:pPr>
                      <a:r>
                        <a:rPr lang="en-US" sz="1100" dirty="0">
                          <a:solidFill>
                            <a:srgbClr val="1F2937"/>
                          </a:solidFill>
                          <a:latin typeface="Calibri" pitchFamily="34" charset="0"/>
                          <a:ea typeface="Calibri" pitchFamily="34" charset="-122"/>
                          <a:cs typeface="Calibri" pitchFamily="34" charset="-120"/>
                        </a:rPr>
                        <a:t>Y</a:t>
                      </a:r>
                      <a:endParaRPr lang="en-US" sz="11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l" indent="0" marL="0">
                        <a:buNone/>
                      </a:pPr>
                      <a:r>
                        <a:rPr lang="en-US" sz="1100" dirty="0">
                          <a:solidFill>
                            <a:srgbClr val="1F2937"/>
                          </a:solidFill>
                          <a:latin typeface="Calibri" pitchFamily="34" charset="0"/>
                          <a:ea typeface="Calibri" pitchFamily="34" charset="-122"/>
                          <a:cs typeface="Calibri" pitchFamily="34" charset="-120"/>
                        </a:rPr>
                        <a:t>Y</a:t>
                      </a:r>
                      <a:endParaRPr lang="en-US" sz="11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l" indent="0" marL="0">
                        <a:buNone/>
                      </a:pPr>
                      <a:r>
                        <a:rPr lang="en-US" sz="1100" dirty="0">
                          <a:solidFill>
                            <a:srgbClr val="1F2937"/>
                          </a:solidFill>
                          <a:latin typeface="Calibri" pitchFamily="34" charset="0"/>
                          <a:ea typeface="Calibri" pitchFamily="34" charset="-122"/>
                          <a:cs typeface="Calibri" pitchFamily="34" charset="-120"/>
                        </a:rPr>
                        <a:t>Y</a:t>
                      </a:r>
                      <a:endParaRPr lang="en-US" sz="11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292608">
                <a:tc>
                  <a:txBody>
                    <a:bodyPr/>
                    <a:lstStyle/>
                    <a:p>
                      <a:pPr algn="l" indent="0" marL="0">
                        <a:buNone/>
                      </a:pPr>
                      <a:r>
                        <a:rPr lang="en-US" sz="1100" dirty="0">
                          <a:solidFill>
                            <a:srgbClr val="1F2937"/>
                          </a:solidFill>
                          <a:latin typeface="Calibri" pitchFamily="34" charset="0"/>
                          <a:ea typeface="Calibri" pitchFamily="34" charset="-122"/>
                          <a:cs typeface="Calibri" pitchFamily="34" charset="-120"/>
                        </a:rPr>
                        <a:t>Teleprompter mode</a:t>
                      </a:r>
                      <a:endParaRPr lang="en-US" sz="11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l" indent="0" marL="0">
                        <a:buNone/>
                      </a:pPr>
                      <a:r>
                        <a:rPr lang="en-US" sz="1100" dirty="0">
                          <a:solidFill>
                            <a:srgbClr val="1F2937"/>
                          </a:solidFill>
                          <a:latin typeface="Calibri" pitchFamily="34" charset="0"/>
                          <a:ea typeface="Calibri" pitchFamily="34" charset="-122"/>
                          <a:cs typeface="Calibri" pitchFamily="34" charset="-120"/>
                        </a:rPr>
                        <a:t>N</a:t>
                      </a:r>
                      <a:endParaRPr lang="en-US" sz="11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l" indent="0" marL="0">
                        <a:buNone/>
                      </a:pPr>
                      <a:r>
                        <a:rPr lang="en-US" sz="1100" dirty="0">
                          <a:solidFill>
                            <a:srgbClr val="1F2937"/>
                          </a:solidFill>
                          <a:latin typeface="Calibri" pitchFamily="34" charset="0"/>
                          <a:ea typeface="Calibri" pitchFamily="34" charset="-122"/>
                          <a:cs typeface="Calibri" pitchFamily="34" charset="-120"/>
                        </a:rPr>
                        <a:t>N</a:t>
                      </a:r>
                      <a:endParaRPr lang="en-US" sz="11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l" indent="0" marL="0">
                        <a:buNone/>
                      </a:pPr>
                      <a:r>
                        <a:rPr lang="en-US" sz="1100" dirty="0">
                          <a:solidFill>
                            <a:srgbClr val="1F2937"/>
                          </a:solidFill>
                          <a:latin typeface="Calibri" pitchFamily="34" charset="0"/>
                          <a:ea typeface="Calibri" pitchFamily="34" charset="-122"/>
                          <a:cs typeface="Calibri" pitchFamily="34" charset="-120"/>
                        </a:rPr>
                        <a:t>Y</a:t>
                      </a:r>
                      <a:endParaRPr lang="en-US" sz="11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l" indent="0" marL="0">
                        <a:buNone/>
                      </a:pPr>
                      <a:r>
                        <a:rPr lang="en-US" sz="1100" dirty="0">
                          <a:solidFill>
                            <a:srgbClr val="1F2937"/>
                          </a:solidFill>
                          <a:latin typeface="Calibri" pitchFamily="34" charset="0"/>
                          <a:ea typeface="Calibri" pitchFamily="34" charset="-122"/>
                          <a:cs typeface="Calibri" pitchFamily="34" charset="-120"/>
                        </a:rPr>
                        <a:t>Y</a:t>
                      </a:r>
                      <a:endParaRPr lang="en-US" sz="11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292608">
                <a:tc>
                  <a:txBody>
                    <a:bodyPr/>
                    <a:lstStyle/>
                    <a:p>
                      <a:pPr algn="l" indent="0" marL="0">
                        <a:buNone/>
                      </a:pPr>
                      <a:r>
                        <a:rPr lang="en-US" sz="1100" dirty="0">
                          <a:solidFill>
                            <a:srgbClr val="1F2937"/>
                          </a:solidFill>
                          <a:latin typeface="Calibri" pitchFamily="34" charset="0"/>
                          <a:ea typeface="Calibri" pitchFamily="34" charset="-122"/>
                          <a:cs typeface="Calibri" pitchFamily="34" charset="-120"/>
                        </a:rPr>
                        <a:t>Speaking style analyser</a:t>
                      </a:r>
                      <a:endParaRPr lang="en-US" sz="11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l" indent="0" marL="0">
                        <a:buNone/>
                      </a:pPr>
                      <a:r>
                        <a:rPr lang="en-US" sz="1100" dirty="0">
                          <a:solidFill>
                            <a:srgbClr val="1F2937"/>
                          </a:solidFill>
                          <a:latin typeface="Calibri" pitchFamily="34" charset="0"/>
                          <a:ea typeface="Calibri" pitchFamily="34" charset="-122"/>
                          <a:cs typeface="Calibri" pitchFamily="34" charset="-120"/>
                        </a:rPr>
                        <a:t>Y</a:t>
                      </a:r>
                      <a:endParaRPr lang="en-US" sz="11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l" indent="0" marL="0">
                        <a:buNone/>
                      </a:pPr>
                      <a:r>
                        <a:rPr lang="en-US" sz="1100" dirty="0">
                          <a:solidFill>
                            <a:srgbClr val="1F2937"/>
                          </a:solidFill>
                          <a:latin typeface="Calibri" pitchFamily="34" charset="0"/>
                          <a:ea typeface="Calibri" pitchFamily="34" charset="-122"/>
                          <a:cs typeface="Calibri" pitchFamily="34" charset="-120"/>
                        </a:rPr>
                        <a:t>Y</a:t>
                      </a:r>
                      <a:endParaRPr lang="en-US" sz="11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l" indent="0" marL="0">
                        <a:buNone/>
                      </a:pPr>
                      <a:r>
                        <a:rPr lang="en-US" sz="1100" dirty="0">
                          <a:solidFill>
                            <a:srgbClr val="1F2937"/>
                          </a:solidFill>
                          <a:latin typeface="Calibri" pitchFamily="34" charset="0"/>
                          <a:ea typeface="Calibri" pitchFamily="34" charset="-122"/>
                          <a:cs typeface="Calibri" pitchFamily="34" charset="-120"/>
                        </a:rPr>
                        <a:t>Y</a:t>
                      </a:r>
                      <a:endParaRPr lang="en-US" sz="11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l" indent="0" marL="0">
                        <a:buNone/>
                      </a:pPr>
                      <a:r>
                        <a:rPr lang="en-US" sz="1100" dirty="0">
                          <a:solidFill>
                            <a:srgbClr val="1F2937"/>
                          </a:solidFill>
                          <a:latin typeface="Calibri" pitchFamily="34" charset="0"/>
                          <a:ea typeface="Calibri" pitchFamily="34" charset="-122"/>
                          <a:cs typeface="Calibri" pitchFamily="34" charset="-120"/>
                        </a:rPr>
                        <a:t>Y</a:t>
                      </a:r>
                      <a:endParaRPr lang="en-US" sz="11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292608">
                <a:tc>
                  <a:txBody>
                    <a:bodyPr/>
                    <a:lstStyle/>
                    <a:p>
                      <a:pPr algn="l" indent="0" marL="0">
                        <a:buNone/>
                      </a:pPr>
                      <a:r>
                        <a:rPr lang="en-US" sz="1100" dirty="0">
                          <a:solidFill>
                            <a:srgbClr val="1F2937"/>
                          </a:solidFill>
                          <a:latin typeface="Calibri" pitchFamily="34" charset="0"/>
                          <a:ea typeface="Calibri" pitchFamily="34" charset="-122"/>
                          <a:cs typeface="Calibri" pitchFamily="34" charset="-120"/>
                        </a:rPr>
                        <a:t>Guided lessons</a:t>
                      </a:r>
                      <a:endParaRPr lang="en-US" sz="11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l" indent="0" marL="0">
                        <a:buNone/>
                      </a:pPr>
                      <a:r>
                        <a:rPr lang="en-US" sz="1100" dirty="0">
                          <a:solidFill>
                            <a:srgbClr val="1F2937"/>
                          </a:solidFill>
                          <a:latin typeface="Calibri" pitchFamily="34" charset="0"/>
                          <a:ea typeface="Calibri" pitchFamily="34" charset="-122"/>
                          <a:cs typeface="Calibri" pitchFamily="34" charset="-120"/>
                        </a:rPr>
                        <a:t>Y</a:t>
                      </a:r>
                      <a:endParaRPr lang="en-US" sz="11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l" indent="0" marL="0">
                        <a:buNone/>
                      </a:pPr>
                      <a:r>
                        <a:rPr lang="en-US" sz="1100" dirty="0">
                          <a:solidFill>
                            <a:srgbClr val="1F2937"/>
                          </a:solidFill>
                          <a:latin typeface="Calibri" pitchFamily="34" charset="0"/>
                          <a:ea typeface="Calibri" pitchFamily="34" charset="-122"/>
                          <a:cs typeface="Calibri" pitchFamily="34" charset="-120"/>
                        </a:rPr>
                        <a:t>Y</a:t>
                      </a:r>
                      <a:endParaRPr lang="en-US" sz="11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l" indent="0" marL="0">
                        <a:buNone/>
                      </a:pPr>
                      <a:r>
                        <a:rPr lang="en-US" sz="1100" dirty="0">
                          <a:solidFill>
                            <a:srgbClr val="1F2937"/>
                          </a:solidFill>
                          <a:latin typeface="Calibri" pitchFamily="34" charset="0"/>
                          <a:ea typeface="Calibri" pitchFamily="34" charset="-122"/>
                          <a:cs typeface="Calibri" pitchFamily="34" charset="-120"/>
                        </a:rPr>
                        <a:t>N</a:t>
                      </a:r>
                      <a:endParaRPr lang="en-US" sz="11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l" indent="0" marL="0">
                        <a:buNone/>
                      </a:pPr>
                      <a:r>
                        <a:rPr lang="en-US" sz="1100" dirty="0">
                          <a:solidFill>
                            <a:srgbClr val="1F2937"/>
                          </a:solidFill>
                          <a:latin typeface="Calibri" pitchFamily="34" charset="0"/>
                          <a:ea typeface="Calibri" pitchFamily="34" charset="-122"/>
                          <a:cs typeface="Calibri" pitchFamily="34" charset="-120"/>
                        </a:rPr>
                        <a:t>Y</a:t>
                      </a:r>
                      <a:endParaRPr lang="en-US" sz="11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292608">
                <a:tc>
                  <a:txBody>
                    <a:bodyPr/>
                    <a:lstStyle/>
                    <a:p>
                      <a:pPr algn="l" indent="0" marL="0">
                        <a:buNone/>
                      </a:pPr>
                      <a:r>
                        <a:rPr lang="en-US" sz="1100" dirty="0">
                          <a:solidFill>
                            <a:srgbClr val="1F2937"/>
                          </a:solidFill>
                          <a:latin typeface="Calibri" pitchFamily="34" charset="0"/>
                          <a:ea typeface="Calibri" pitchFamily="34" charset="-122"/>
                          <a:cs typeface="Calibri" pitchFamily="34" charset="-120"/>
                        </a:rPr>
                        <a:t>Progress tracker</a:t>
                      </a:r>
                      <a:endParaRPr lang="en-US" sz="11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l" indent="0" marL="0">
                        <a:buNone/>
                      </a:pPr>
                      <a:r>
                        <a:rPr lang="en-US" sz="1100" dirty="0">
                          <a:solidFill>
                            <a:srgbClr val="1F2937"/>
                          </a:solidFill>
                          <a:latin typeface="Calibri" pitchFamily="34" charset="0"/>
                          <a:ea typeface="Calibri" pitchFamily="34" charset="-122"/>
                          <a:cs typeface="Calibri" pitchFamily="34" charset="-120"/>
                        </a:rPr>
                        <a:t>Y</a:t>
                      </a:r>
                      <a:endParaRPr lang="en-US" sz="11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l" indent="0" marL="0">
                        <a:buNone/>
                      </a:pPr>
                      <a:r>
                        <a:rPr lang="en-US" sz="1100" dirty="0">
                          <a:solidFill>
                            <a:srgbClr val="1F2937"/>
                          </a:solidFill>
                          <a:latin typeface="Calibri" pitchFamily="34" charset="0"/>
                          <a:ea typeface="Calibri" pitchFamily="34" charset="-122"/>
                          <a:cs typeface="Calibri" pitchFamily="34" charset="-120"/>
                        </a:rPr>
                        <a:t>N</a:t>
                      </a:r>
                      <a:endParaRPr lang="en-US" sz="11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l" indent="0" marL="0">
                        <a:buNone/>
                      </a:pPr>
                      <a:r>
                        <a:rPr lang="en-US" sz="1100" dirty="0">
                          <a:solidFill>
                            <a:srgbClr val="1F2937"/>
                          </a:solidFill>
                          <a:latin typeface="Calibri" pitchFamily="34" charset="0"/>
                          <a:ea typeface="Calibri" pitchFamily="34" charset="-122"/>
                          <a:cs typeface="Calibri" pitchFamily="34" charset="-120"/>
                        </a:rPr>
                        <a:t>N</a:t>
                      </a:r>
                      <a:endParaRPr lang="en-US" sz="11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l" indent="0" marL="0">
                        <a:buNone/>
                      </a:pPr>
                      <a:r>
                        <a:rPr lang="en-US" sz="1100" dirty="0">
                          <a:solidFill>
                            <a:srgbClr val="1F2937"/>
                          </a:solidFill>
                          <a:latin typeface="Calibri" pitchFamily="34" charset="0"/>
                          <a:ea typeface="Calibri" pitchFamily="34" charset="-122"/>
                          <a:cs typeface="Calibri" pitchFamily="34" charset="-120"/>
                        </a:rPr>
                        <a:t>Y</a:t>
                      </a:r>
                      <a:endParaRPr lang="en-US" sz="11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292608">
                <a:tc>
                  <a:txBody>
                    <a:bodyPr/>
                    <a:lstStyle/>
                    <a:p>
                      <a:pPr algn="l" indent="0" marL="0">
                        <a:buNone/>
                      </a:pPr>
                      <a:r>
                        <a:rPr lang="en-US" sz="1100" dirty="0">
                          <a:solidFill>
                            <a:srgbClr val="1F2937"/>
                          </a:solidFill>
                          <a:latin typeface="Calibri" pitchFamily="34" charset="0"/>
                          <a:ea typeface="Calibri" pitchFamily="34" charset="-122"/>
                          <a:cs typeface="Calibri" pitchFamily="34" charset="-120"/>
                        </a:rPr>
                        <a:t>Filler word detection</a:t>
                      </a:r>
                      <a:endParaRPr lang="en-US" sz="11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l" indent="0" marL="0">
                        <a:buNone/>
                      </a:pPr>
                      <a:r>
                        <a:rPr lang="en-US" sz="1100" dirty="0">
                          <a:solidFill>
                            <a:srgbClr val="1F2937"/>
                          </a:solidFill>
                          <a:latin typeface="Calibri" pitchFamily="34" charset="0"/>
                          <a:ea typeface="Calibri" pitchFamily="34" charset="-122"/>
                          <a:cs typeface="Calibri" pitchFamily="34" charset="-120"/>
                        </a:rPr>
                        <a:t>Y</a:t>
                      </a:r>
                      <a:endParaRPr lang="en-US" sz="11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l" indent="0" marL="0">
                        <a:buNone/>
                      </a:pPr>
                      <a:r>
                        <a:rPr lang="en-US" sz="1100" dirty="0">
                          <a:solidFill>
                            <a:srgbClr val="1F2937"/>
                          </a:solidFill>
                          <a:latin typeface="Calibri" pitchFamily="34" charset="0"/>
                          <a:ea typeface="Calibri" pitchFamily="34" charset="-122"/>
                          <a:cs typeface="Calibri" pitchFamily="34" charset="-120"/>
                        </a:rPr>
                        <a:t>Y</a:t>
                      </a:r>
                      <a:endParaRPr lang="en-US" sz="11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l" indent="0" marL="0">
                        <a:buNone/>
                      </a:pPr>
                      <a:r>
                        <a:rPr lang="en-US" sz="1100" dirty="0">
                          <a:solidFill>
                            <a:srgbClr val="1F2937"/>
                          </a:solidFill>
                          <a:latin typeface="Calibri" pitchFamily="34" charset="0"/>
                          <a:ea typeface="Calibri" pitchFamily="34" charset="-122"/>
                          <a:cs typeface="Calibri" pitchFamily="34" charset="-120"/>
                        </a:rPr>
                        <a:t>Y</a:t>
                      </a:r>
                      <a:endParaRPr lang="en-US" sz="11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l" indent="0" marL="0">
                        <a:buNone/>
                      </a:pPr>
                      <a:r>
                        <a:rPr lang="en-US" sz="1100" dirty="0">
                          <a:solidFill>
                            <a:srgbClr val="1F2937"/>
                          </a:solidFill>
                          <a:latin typeface="Calibri" pitchFamily="34" charset="0"/>
                          <a:ea typeface="Calibri" pitchFamily="34" charset="-122"/>
                          <a:cs typeface="Calibri" pitchFamily="34" charset="-120"/>
                        </a:rPr>
                        <a:t>Y</a:t>
                      </a:r>
                      <a:endParaRPr lang="en-US" sz="11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292608">
                <a:tc>
                  <a:txBody>
                    <a:bodyPr/>
                    <a:lstStyle/>
                    <a:p>
                      <a:pPr algn="l" indent="0" marL="0">
                        <a:buNone/>
                      </a:pPr>
                      <a:r>
                        <a:rPr lang="en-US" sz="1100" dirty="0">
                          <a:solidFill>
                            <a:srgbClr val="1F2937"/>
                          </a:solidFill>
                          <a:latin typeface="Calibri" pitchFamily="34" charset="0"/>
                          <a:ea typeface="Calibri" pitchFamily="34" charset="-122"/>
                          <a:cs typeface="Calibri" pitchFamily="34" charset="-120"/>
                        </a:rPr>
                        <a:t>Gamified</a:t>
                      </a:r>
                      <a:endParaRPr lang="en-US" sz="11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l" indent="0" marL="0">
                        <a:buNone/>
                      </a:pPr>
                      <a:r>
                        <a:rPr lang="en-US" sz="1100" dirty="0">
                          <a:solidFill>
                            <a:srgbClr val="1F2937"/>
                          </a:solidFill>
                          <a:latin typeface="Calibri" pitchFamily="34" charset="0"/>
                          <a:ea typeface="Calibri" pitchFamily="34" charset="-122"/>
                          <a:cs typeface="Calibri" pitchFamily="34" charset="-120"/>
                        </a:rPr>
                        <a:t>Y</a:t>
                      </a:r>
                      <a:endParaRPr lang="en-US" sz="11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l" indent="0" marL="0">
                        <a:buNone/>
                      </a:pPr>
                      <a:r>
                        <a:rPr lang="en-US" sz="1100" dirty="0">
                          <a:solidFill>
                            <a:srgbClr val="1F2937"/>
                          </a:solidFill>
                          <a:latin typeface="Calibri" pitchFamily="34" charset="0"/>
                          <a:ea typeface="Calibri" pitchFamily="34" charset="-122"/>
                          <a:cs typeface="Calibri" pitchFamily="34" charset="-120"/>
                        </a:rPr>
                        <a:t>Y</a:t>
                      </a:r>
                      <a:endParaRPr lang="en-US" sz="11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l" indent="0" marL="0">
                        <a:buNone/>
                      </a:pPr>
                      <a:r>
                        <a:rPr lang="en-US" sz="1100" dirty="0">
                          <a:solidFill>
                            <a:srgbClr val="1F2937"/>
                          </a:solidFill>
                          <a:latin typeface="Calibri" pitchFamily="34" charset="0"/>
                          <a:ea typeface="Calibri" pitchFamily="34" charset="-122"/>
                          <a:cs typeface="Calibri" pitchFamily="34" charset="-120"/>
                        </a:rPr>
                        <a:t>N</a:t>
                      </a:r>
                      <a:endParaRPr lang="en-US" sz="11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l" indent="0" marL="0">
                        <a:buNone/>
                      </a:pPr>
                      <a:r>
                        <a:rPr lang="en-US" sz="1100" dirty="0">
                          <a:solidFill>
                            <a:srgbClr val="1F2937"/>
                          </a:solidFill>
                          <a:latin typeface="Calibri" pitchFamily="34" charset="0"/>
                          <a:ea typeface="Calibri" pitchFamily="34" charset="-122"/>
                          <a:cs typeface="Calibri" pitchFamily="34" charset="-120"/>
                        </a:rPr>
                        <a:t>Y</a:t>
                      </a:r>
                      <a:endParaRPr lang="en-US" sz="11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292608">
                <a:tc>
                  <a:txBody>
                    <a:bodyPr/>
                    <a:lstStyle/>
                    <a:p>
                      <a:pPr algn="l" indent="0" marL="0">
                        <a:buNone/>
                      </a:pPr>
                      <a:r>
                        <a:rPr lang="en-US" sz="1100" dirty="0">
                          <a:solidFill>
                            <a:srgbClr val="1F2937"/>
                          </a:solidFill>
                          <a:latin typeface="Calibri" pitchFamily="34" charset="0"/>
                          <a:ea typeface="Calibri" pitchFamily="34" charset="-122"/>
                          <a:cs typeface="Calibri" pitchFamily="34" charset="-120"/>
                        </a:rPr>
                        <a:t>Forced-restart on fillers</a:t>
                      </a:r>
                      <a:endParaRPr lang="en-US" sz="11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l" indent="0" marL="0">
                        <a:buNone/>
                      </a:pPr>
                      <a:r>
                        <a:rPr lang="en-US" sz="1100" dirty="0">
                          <a:solidFill>
                            <a:srgbClr val="1F2937"/>
                          </a:solidFill>
                          <a:latin typeface="Calibri" pitchFamily="34" charset="0"/>
                          <a:ea typeface="Calibri" pitchFamily="34" charset="-122"/>
                          <a:cs typeface="Calibri" pitchFamily="34" charset="-120"/>
                        </a:rPr>
                        <a:t>N</a:t>
                      </a:r>
                      <a:endParaRPr lang="en-US" sz="11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l" indent="0" marL="0">
                        <a:buNone/>
                      </a:pPr>
                      <a:r>
                        <a:rPr lang="en-US" sz="1100" dirty="0">
                          <a:solidFill>
                            <a:srgbClr val="1F2937"/>
                          </a:solidFill>
                          <a:latin typeface="Calibri" pitchFamily="34" charset="0"/>
                          <a:ea typeface="Calibri" pitchFamily="34" charset="-122"/>
                          <a:cs typeface="Calibri" pitchFamily="34" charset="-120"/>
                        </a:rPr>
                        <a:t>N</a:t>
                      </a:r>
                      <a:endParaRPr lang="en-US" sz="11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l" indent="0" marL="0">
                        <a:buNone/>
                      </a:pPr>
                      <a:r>
                        <a:rPr lang="en-US" sz="1100" dirty="0">
                          <a:solidFill>
                            <a:srgbClr val="1F2937"/>
                          </a:solidFill>
                          <a:latin typeface="Calibri" pitchFamily="34" charset="0"/>
                          <a:ea typeface="Calibri" pitchFamily="34" charset="-122"/>
                          <a:cs typeface="Calibri" pitchFamily="34" charset="-120"/>
                        </a:rPr>
                        <a:t>N</a:t>
                      </a:r>
                      <a:endParaRPr lang="en-US" sz="11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l" indent="0" marL="0">
                        <a:buNone/>
                      </a:pPr>
                      <a:r>
                        <a:rPr lang="en-US" sz="1100" dirty="0">
                          <a:solidFill>
                            <a:srgbClr val="1F2937"/>
                          </a:solidFill>
                          <a:latin typeface="Calibri" pitchFamily="34" charset="0"/>
                          <a:ea typeface="Calibri" pitchFamily="34" charset="-122"/>
                          <a:cs typeface="Calibri" pitchFamily="34" charset="-120"/>
                        </a:rPr>
                        <a:t>Y</a:t>
                      </a:r>
                      <a:endParaRPr lang="en-US" sz="11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292608">
                <a:tc>
                  <a:txBody>
                    <a:bodyPr/>
                    <a:lstStyle/>
                    <a:p>
                      <a:pPr algn="l" indent="0" marL="0">
                        <a:buNone/>
                      </a:pPr>
                      <a:r>
                        <a:rPr lang="en-US" sz="1100" dirty="0">
                          <a:solidFill>
                            <a:srgbClr val="1F2937"/>
                          </a:solidFill>
                          <a:latin typeface="Calibri" pitchFamily="34" charset="0"/>
                          <a:ea typeface="Calibri" pitchFamily="34" charset="-122"/>
                          <a:cs typeface="Calibri" pitchFamily="34" charset="-120"/>
                        </a:rPr>
                        <a:t>Everyday conversational practice</a:t>
                      </a:r>
                      <a:endParaRPr lang="en-US" sz="11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l" indent="0" marL="0">
                        <a:buNone/>
                      </a:pPr>
                      <a:r>
                        <a:rPr lang="en-US" sz="1100" dirty="0">
                          <a:solidFill>
                            <a:srgbClr val="1F2937"/>
                          </a:solidFill>
                          <a:latin typeface="Calibri" pitchFamily="34" charset="0"/>
                          <a:ea typeface="Calibri" pitchFamily="34" charset="-122"/>
                          <a:cs typeface="Calibri" pitchFamily="34" charset="-120"/>
                        </a:rPr>
                        <a:t>N</a:t>
                      </a:r>
                      <a:endParaRPr lang="en-US" sz="11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l" indent="0" marL="0">
                        <a:buNone/>
                      </a:pPr>
                      <a:r>
                        <a:rPr lang="en-US" sz="1100" dirty="0">
                          <a:solidFill>
                            <a:srgbClr val="1F2937"/>
                          </a:solidFill>
                          <a:latin typeface="Calibri" pitchFamily="34" charset="0"/>
                          <a:ea typeface="Calibri" pitchFamily="34" charset="-122"/>
                          <a:cs typeface="Calibri" pitchFamily="34" charset="-120"/>
                        </a:rPr>
                        <a:t>N</a:t>
                      </a:r>
                      <a:endParaRPr lang="en-US" sz="11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l" indent="0" marL="0">
                        <a:buNone/>
                      </a:pPr>
                      <a:r>
                        <a:rPr lang="en-US" sz="1100" dirty="0">
                          <a:solidFill>
                            <a:srgbClr val="1F2937"/>
                          </a:solidFill>
                          <a:latin typeface="Calibri" pitchFamily="34" charset="0"/>
                          <a:ea typeface="Calibri" pitchFamily="34" charset="-122"/>
                          <a:cs typeface="Calibri" pitchFamily="34" charset="-120"/>
                        </a:rPr>
                        <a:t>N</a:t>
                      </a:r>
                      <a:endParaRPr lang="en-US" sz="11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l" indent="0" marL="0">
                        <a:buNone/>
                      </a:pPr>
                      <a:r>
                        <a:rPr lang="en-US" sz="1100" dirty="0">
                          <a:solidFill>
                            <a:srgbClr val="1F2937"/>
                          </a:solidFill>
                          <a:latin typeface="Calibri" pitchFamily="34" charset="0"/>
                          <a:ea typeface="Calibri" pitchFamily="34" charset="-122"/>
                          <a:cs typeface="Calibri" pitchFamily="34" charset="-120"/>
                        </a:rPr>
                        <a:t>Y</a:t>
                      </a:r>
                      <a:endParaRPr lang="en-US" sz="11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292608">
                <a:tc>
                  <a:txBody>
                    <a:bodyPr/>
                    <a:lstStyle/>
                    <a:p>
                      <a:pPr algn="l" indent="0" marL="0">
                        <a:buNone/>
                      </a:pPr>
                      <a:r>
                        <a:rPr lang="en-US" sz="1100" dirty="0">
                          <a:solidFill>
                            <a:srgbClr val="1F2937"/>
                          </a:solidFill>
                          <a:latin typeface="Calibri" pitchFamily="34" charset="0"/>
                          <a:ea typeface="Calibri" pitchFamily="34" charset="-122"/>
                          <a:cs typeface="Calibri" pitchFamily="34" charset="-120"/>
                        </a:rPr>
                        <a:t>Free to use</a:t>
                      </a:r>
                      <a:endParaRPr lang="en-US" sz="11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l" indent="0" marL="0">
                        <a:buNone/>
                      </a:pPr>
                      <a:r>
                        <a:rPr lang="en-US" sz="1100" dirty="0">
                          <a:solidFill>
                            <a:srgbClr val="1F2937"/>
                          </a:solidFill>
                          <a:latin typeface="Calibri" pitchFamily="34" charset="0"/>
                          <a:ea typeface="Calibri" pitchFamily="34" charset="-122"/>
                          <a:cs typeface="Calibri" pitchFamily="34" charset="-120"/>
                        </a:rPr>
                        <a:t>N</a:t>
                      </a:r>
                      <a:endParaRPr lang="en-US" sz="11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l" indent="0" marL="0">
                        <a:buNone/>
                      </a:pPr>
                      <a:r>
                        <a:rPr lang="en-US" sz="1100" dirty="0">
                          <a:solidFill>
                            <a:srgbClr val="1F2937"/>
                          </a:solidFill>
                          <a:latin typeface="Calibri" pitchFamily="34" charset="0"/>
                          <a:ea typeface="Calibri" pitchFamily="34" charset="-122"/>
                          <a:cs typeface="Calibri" pitchFamily="34" charset="-120"/>
                        </a:rPr>
                        <a:t>Partial</a:t>
                      </a:r>
                      <a:endParaRPr lang="en-US" sz="11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l" indent="0" marL="0">
                        <a:buNone/>
                      </a:pPr>
                      <a:r>
                        <a:rPr lang="en-US" sz="1100" dirty="0">
                          <a:solidFill>
                            <a:srgbClr val="1F2937"/>
                          </a:solidFill>
                          <a:latin typeface="Calibri" pitchFamily="34" charset="0"/>
                          <a:ea typeface="Calibri" pitchFamily="34" charset="-122"/>
                          <a:cs typeface="Calibri" pitchFamily="34" charset="-120"/>
                        </a:rPr>
                        <a:t>N</a:t>
                      </a:r>
                      <a:endParaRPr lang="en-US" sz="11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l" indent="0" marL="0">
                        <a:buNone/>
                      </a:pPr>
                      <a:r>
                        <a:rPr lang="en-US" sz="1100" dirty="0">
                          <a:solidFill>
                            <a:srgbClr val="1F2937"/>
                          </a:solidFill>
                          <a:latin typeface="Calibri" pitchFamily="34" charset="0"/>
                          <a:ea typeface="Calibri" pitchFamily="34" charset="-122"/>
                          <a:cs typeface="Calibri" pitchFamily="34" charset="-120"/>
                        </a:rPr>
                        <a:t>Y</a:t>
                      </a:r>
                      <a:endParaRPr lang="en-US" sz="11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
        <p:nvSpPr>
          <p:cNvPr id="7" name="Text 4"/>
          <p:cNvSpPr/>
          <p:nvPr/>
        </p:nvSpPr>
        <p:spPr>
          <a:xfrm>
            <a:off x="457200" y="5989320"/>
            <a:ext cx="11274552" cy="457200"/>
          </a:xfrm>
          <a:prstGeom prst="rect">
            <a:avLst/>
          </a:prstGeom>
          <a:noFill/>
          <a:ln/>
        </p:spPr>
        <p:txBody>
          <a:bodyPr wrap="square"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The last three rows are SpeakFlow's differentiators — none of the competitors force a restart on fillers, target everyday conversation, or are fully free.</a:t>
            </a:r>
            <a:endParaRPr lang="en-US" sz="1100" dirty="0"/>
          </a:p>
        </p:txBody>
      </p:sp>
      <p:sp>
        <p:nvSpPr>
          <p:cNvPr id="8" name="Text 5"/>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SpeakFlow — CS6005 Portfolio</a:t>
            </a:r>
            <a:endParaRPr lang="en-US" sz="900" dirty="0"/>
          </a:p>
        </p:txBody>
      </p:sp>
      <p:sp>
        <p:nvSpPr>
          <p:cNvPr id="9" name="Text 6"/>
          <p:cNvSpPr/>
          <p:nvPr/>
        </p:nvSpPr>
        <p:spPr>
          <a:xfrm>
            <a:off x="10972800" y="6492240"/>
            <a:ext cx="758952"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468880"/>
            <a:ext cx="11274552" cy="457200"/>
          </a:xfrm>
          <a:prstGeom prst="rect">
            <a:avLst/>
          </a:prstGeom>
          <a:noFill/>
          <a:ln/>
        </p:spPr>
        <p:txBody>
          <a:bodyPr wrap="square" rtlCol="0" anchor="ctr"/>
          <a:lstStyle/>
          <a:p>
            <a:pPr indent="0" marL="0">
              <a:buNone/>
            </a:pPr>
            <a:r>
              <a:rPr lang="en-US" sz="1800" dirty="0">
                <a:solidFill>
                  <a:srgbClr val="6B7280"/>
                </a:solidFill>
                <a:latin typeface="Calibri" pitchFamily="34" charset="0"/>
                <a:ea typeface="Calibri" pitchFamily="34" charset="-122"/>
                <a:cs typeface="Calibri" pitchFamily="34" charset="-120"/>
              </a:rPr>
              <a:t>Section 2</a:t>
            </a:r>
            <a:endParaRPr lang="en-US" sz="1800" dirty="0"/>
          </a:p>
        </p:txBody>
      </p:sp>
      <p:sp>
        <p:nvSpPr>
          <p:cNvPr id="3" name="Text 1"/>
          <p:cNvSpPr/>
          <p:nvPr/>
        </p:nvSpPr>
        <p:spPr>
          <a:xfrm>
            <a:off x="457200" y="2926080"/>
            <a:ext cx="11274552" cy="914400"/>
          </a:xfrm>
          <a:prstGeom prst="rect">
            <a:avLst/>
          </a:prstGeom>
          <a:noFill/>
          <a:ln/>
        </p:spPr>
        <p:txBody>
          <a:bodyPr wrap="square" rtlCol="0" anchor="ctr"/>
          <a:lstStyle/>
          <a:p>
            <a:pPr indent="0" marL="0">
              <a:buNone/>
            </a:pPr>
            <a:r>
              <a:rPr lang="en-US" sz="4800" b="1" dirty="0">
                <a:solidFill>
                  <a:srgbClr val="1F2937"/>
                </a:solidFill>
                <a:latin typeface="Calibri" pitchFamily="34" charset="0"/>
                <a:ea typeface="Calibri" pitchFamily="34" charset="-122"/>
                <a:cs typeface="Calibri" pitchFamily="34" charset="-120"/>
              </a:rPr>
              <a:t>Requirements Analysis</a:t>
            </a:r>
            <a:endParaRPr lang="en-US" sz="4800" dirty="0"/>
          </a:p>
        </p:txBody>
      </p:sp>
      <p:sp>
        <p:nvSpPr>
          <p:cNvPr id="4" name="Shape 2"/>
          <p:cNvSpPr/>
          <p:nvPr/>
        </p:nvSpPr>
        <p:spPr>
          <a:xfrm>
            <a:off x="457200" y="3931920"/>
            <a:ext cx="3200400" cy="0"/>
          </a:xfrm>
          <a:prstGeom prst="line">
            <a:avLst/>
          </a:prstGeom>
          <a:noFill/>
          <a:ln w="19050">
            <a:solidFill>
              <a:srgbClr val="1F2937"/>
            </a:solidFill>
            <a:prstDash val="solid"/>
          </a:ln>
        </p:spPr>
      </p:sp>
      <p:sp>
        <p:nvSpPr>
          <p:cNvPr id="5" name="Text 3"/>
          <p:cNvSpPr/>
          <p:nvPr/>
        </p:nvSpPr>
        <p:spPr>
          <a:xfrm>
            <a:off x="457200" y="4023360"/>
            <a:ext cx="11274552" cy="365760"/>
          </a:xfrm>
          <a:prstGeom prst="rect">
            <a:avLst/>
          </a:prstGeom>
          <a:noFill/>
          <a:ln/>
        </p:spPr>
        <p:txBody>
          <a:bodyPr wrap="square" rtlCol="0" anchor="ctr"/>
          <a:lstStyle/>
          <a:p>
            <a:pPr indent="0" marL="0">
              <a:buNone/>
            </a:pPr>
            <a:r>
              <a:rPr lang="en-US" sz="1600" dirty="0">
                <a:solidFill>
                  <a:srgbClr val="6B7280"/>
                </a:solidFill>
                <a:latin typeface="Calibri" pitchFamily="34" charset="0"/>
                <a:ea typeface="Calibri" pitchFamily="34" charset="-122"/>
                <a:cs typeface="Calibri" pitchFamily="34" charset="-120"/>
              </a:rPr>
              <a:t>25%</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274320"/>
            <a:ext cx="9144000" cy="274320"/>
          </a:xfrm>
          <a:prstGeom prst="rect">
            <a:avLst/>
          </a:prstGeom>
          <a:noFill/>
          <a:ln/>
        </p:spPr>
        <p:txBody>
          <a:bodyPr wrap="square" rtlCol="0" anchor="ctr"/>
          <a:lstStyle/>
          <a:p>
            <a:pPr algn="l" indent="0" marL="0">
              <a:buNone/>
            </a:pPr>
            <a:r>
              <a:rPr lang="en-US" sz="1100" dirty="0">
                <a:solidFill>
                  <a:srgbClr val="6B7280"/>
                </a:solidFill>
                <a:latin typeface="Calibri" pitchFamily="34" charset="0"/>
                <a:ea typeface="Calibri" pitchFamily="34" charset="-122"/>
                <a:cs typeface="Calibri" pitchFamily="34" charset="-120"/>
              </a:rPr>
              <a:t>2.1  Use Case Diagram</a:t>
            </a:r>
            <a:endParaRPr lang="en-US" sz="1100" dirty="0"/>
          </a:p>
        </p:txBody>
      </p:sp>
      <p:sp>
        <p:nvSpPr>
          <p:cNvPr id="3" name="Text 1"/>
          <p:cNvSpPr/>
          <p:nvPr/>
        </p:nvSpPr>
        <p:spPr>
          <a:xfrm>
            <a:off x="9902952" y="274320"/>
            <a:ext cx="18288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Section 2 — 25%</a:t>
            </a:r>
            <a:endParaRPr lang="en-US" sz="1100" dirty="0"/>
          </a:p>
        </p:txBody>
      </p:sp>
      <p:sp>
        <p:nvSpPr>
          <p:cNvPr id="4" name="Shape 2"/>
          <p:cNvSpPr/>
          <p:nvPr/>
        </p:nvSpPr>
        <p:spPr>
          <a:xfrm>
            <a:off x="457200" y="594360"/>
            <a:ext cx="11274552" cy="0"/>
          </a:xfrm>
          <a:prstGeom prst="line">
            <a:avLst/>
          </a:prstGeom>
          <a:noFill/>
          <a:ln w="9525">
            <a:solidFill>
              <a:srgbClr val="D1D5DB"/>
            </a:solidFill>
            <a:prstDash val="solid"/>
          </a:ln>
        </p:spPr>
      </p:sp>
      <p:sp>
        <p:nvSpPr>
          <p:cNvPr id="5" name="Text 3"/>
          <p:cNvSpPr/>
          <p:nvPr/>
        </p:nvSpPr>
        <p:spPr>
          <a:xfrm>
            <a:off x="457200" y="777240"/>
            <a:ext cx="11274552" cy="640080"/>
          </a:xfrm>
          <a:prstGeom prst="rect">
            <a:avLst/>
          </a:prstGeom>
          <a:noFill/>
          <a:ln/>
        </p:spPr>
        <p:txBody>
          <a:bodyPr wrap="square" rtlCol="0" anchor="ctr"/>
          <a:lstStyle/>
          <a:p>
            <a:pPr indent="0" marL="0">
              <a:buNone/>
            </a:pPr>
            <a:r>
              <a:rPr lang="en-US" sz="2800" b="1" dirty="0">
                <a:solidFill>
                  <a:srgbClr val="1F2937"/>
                </a:solidFill>
                <a:latin typeface="Calibri" pitchFamily="34" charset="0"/>
                <a:ea typeface="Calibri" pitchFamily="34" charset="-122"/>
                <a:cs typeface="Calibri" pitchFamily="34" charset="-120"/>
              </a:rPr>
              <a:t>Use case diagram</a:t>
            </a:r>
            <a:endParaRPr lang="en-US" sz="2800" dirty="0"/>
          </a:p>
        </p:txBody>
      </p:sp>
      <p:sp>
        <p:nvSpPr>
          <p:cNvPr id="6" name="Text 4"/>
          <p:cNvSpPr/>
          <p:nvPr/>
        </p:nvSpPr>
        <p:spPr>
          <a:xfrm>
            <a:off x="457200" y="1554480"/>
            <a:ext cx="11274552" cy="1371600"/>
          </a:xfrm>
          <a:prstGeom prst="rect">
            <a:avLst/>
          </a:prstGeom>
          <a:noFill/>
          <a:ln/>
        </p:spPr>
        <p:txBody>
          <a:bodyPr wrap="square" rtlCol="0" anchor="t"/>
          <a:lstStyle/>
          <a:p>
            <a:pPr indent="0" marL="0">
              <a:spcAft>
                <a:spcPts val="600"/>
              </a:spcAft>
              <a:buNone/>
            </a:pPr>
            <a:r>
              <a:rPr lang="en-US" sz="1300" dirty="0">
                <a:solidFill>
                  <a:srgbClr val="1F2937"/>
                </a:solidFill>
                <a:latin typeface="Calibri" pitchFamily="34" charset="0"/>
                <a:ea typeface="Calibri" pitchFamily="34" charset="-122"/>
                <a:cs typeface="Calibri" pitchFamily="34" charset="-120"/>
              </a:rPr>
              <a:t>Two actors: User (primary, drives every interaction) and MicrophoneService (secondary, hardware mic wrapper). All three use cases sit inside the SpeakFlow System boundary. No &lt;&lt;include&gt;&gt; or &lt;&lt;extend&gt;&gt; relationships — each use case runs as an independent session. UC3 operates on the result of a previous UC2 run (a temporal, not structural, dependency).</a:t>
            </a:r>
            <a:endParaRPr lang="en-US" sz="1300" dirty="0"/>
          </a:p>
        </p:txBody>
      </p:sp>
      <p:sp>
        <p:nvSpPr>
          <p:cNvPr id="7" name="Shape 5"/>
          <p:cNvSpPr/>
          <p:nvPr/>
        </p:nvSpPr>
        <p:spPr>
          <a:xfrm>
            <a:off x="457200" y="3017520"/>
            <a:ext cx="11274552" cy="3108960"/>
          </a:xfrm>
          <a:prstGeom prst="rect">
            <a:avLst/>
          </a:prstGeom>
          <a:solidFill>
            <a:srgbClr val="FAFAFA"/>
          </a:solidFill>
          <a:ln w="12700">
            <a:solidFill>
              <a:srgbClr val="D1D5DB"/>
            </a:solidFill>
            <a:prstDash val="dash"/>
          </a:ln>
        </p:spPr>
      </p:sp>
      <p:sp>
        <p:nvSpPr>
          <p:cNvPr id="8" name="Text 6"/>
          <p:cNvSpPr/>
          <p:nvPr/>
        </p:nvSpPr>
        <p:spPr>
          <a:xfrm>
            <a:off x="457200" y="3017520"/>
            <a:ext cx="11274552" cy="3108960"/>
          </a:xfrm>
          <a:prstGeom prst="rect">
            <a:avLst/>
          </a:prstGeom>
          <a:noFill/>
          <a:ln/>
        </p:spPr>
        <p:txBody>
          <a:bodyPr wrap="square" rtlCol="0" anchor="ctr"/>
          <a:lstStyle/>
          <a:p>
            <a:pPr algn="ctr" indent="0" marL="0">
              <a:buNone/>
            </a:pPr>
            <a:r>
              <a:rPr lang="en-US" sz="1300" i="1" dirty="0">
                <a:solidFill>
                  <a:srgbClr val="6B7280"/>
                </a:solidFill>
                <a:latin typeface="Calibri" pitchFamily="34" charset="0"/>
                <a:ea typeface="Calibri" pitchFamily="34" charset="-122"/>
                <a:cs typeface="Calibri" pitchFamily="34" charset="-120"/>
              </a:rPr>
              <a:t>[ Paste use case diagram here — diagrams/use-case-diagram.mmd ]</a:t>
            </a:r>
            <a:endParaRPr lang="en-US" sz="1300" dirty="0"/>
          </a:p>
        </p:txBody>
      </p:sp>
      <p:sp>
        <p:nvSpPr>
          <p:cNvPr id="9" name="Text 7"/>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SpeakFlow — CS6005 Portfolio</a:t>
            </a:r>
            <a:endParaRPr lang="en-US" sz="900" dirty="0"/>
          </a:p>
        </p:txBody>
      </p:sp>
      <p:sp>
        <p:nvSpPr>
          <p:cNvPr id="10" name="Text 8"/>
          <p:cNvSpPr/>
          <p:nvPr/>
        </p:nvSpPr>
        <p:spPr>
          <a:xfrm>
            <a:off x="10972800" y="6492240"/>
            <a:ext cx="758952"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274320"/>
            <a:ext cx="9144000" cy="274320"/>
          </a:xfrm>
          <a:prstGeom prst="rect">
            <a:avLst/>
          </a:prstGeom>
          <a:noFill/>
          <a:ln/>
        </p:spPr>
        <p:txBody>
          <a:bodyPr wrap="square" rtlCol="0" anchor="ctr"/>
          <a:lstStyle/>
          <a:p>
            <a:pPr algn="l" indent="0" marL="0">
              <a:buNone/>
            </a:pPr>
            <a:r>
              <a:rPr lang="en-US" sz="1100" dirty="0">
                <a:solidFill>
                  <a:srgbClr val="6B7280"/>
                </a:solidFill>
                <a:latin typeface="Calibri" pitchFamily="34" charset="0"/>
                <a:ea typeface="Calibri" pitchFamily="34" charset="-122"/>
                <a:cs typeface="Calibri" pitchFamily="34" charset="-120"/>
              </a:rPr>
              <a:t>2.2  Use Case Table — UC1</a:t>
            </a:r>
            <a:endParaRPr lang="en-US" sz="1100" dirty="0"/>
          </a:p>
        </p:txBody>
      </p:sp>
      <p:sp>
        <p:nvSpPr>
          <p:cNvPr id="3" name="Text 1"/>
          <p:cNvSpPr/>
          <p:nvPr/>
        </p:nvSpPr>
        <p:spPr>
          <a:xfrm>
            <a:off x="9902952" y="274320"/>
            <a:ext cx="18288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Section 2 — 25%</a:t>
            </a:r>
            <a:endParaRPr lang="en-US" sz="1100" dirty="0"/>
          </a:p>
        </p:txBody>
      </p:sp>
      <p:sp>
        <p:nvSpPr>
          <p:cNvPr id="4" name="Shape 2"/>
          <p:cNvSpPr/>
          <p:nvPr/>
        </p:nvSpPr>
        <p:spPr>
          <a:xfrm>
            <a:off x="457200" y="594360"/>
            <a:ext cx="11274552" cy="0"/>
          </a:xfrm>
          <a:prstGeom prst="line">
            <a:avLst/>
          </a:prstGeom>
          <a:noFill/>
          <a:ln w="9525">
            <a:solidFill>
              <a:srgbClr val="D1D5DB"/>
            </a:solidFill>
            <a:prstDash val="solid"/>
          </a:ln>
        </p:spPr>
      </p:sp>
      <p:sp>
        <p:nvSpPr>
          <p:cNvPr id="5" name="Text 3"/>
          <p:cNvSpPr/>
          <p:nvPr/>
        </p:nvSpPr>
        <p:spPr>
          <a:xfrm>
            <a:off x="457200" y="777240"/>
            <a:ext cx="11274552" cy="640080"/>
          </a:xfrm>
          <a:prstGeom prst="rect">
            <a:avLst/>
          </a:prstGeom>
          <a:noFill/>
          <a:ln/>
        </p:spPr>
        <p:txBody>
          <a:bodyPr wrap="square" rtlCol="0" anchor="ctr"/>
          <a:lstStyle/>
          <a:p>
            <a:pPr indent="0" marL="0">
              <a:buNone/>
            </a:pPr>
            <a:r>
              <a:rPr lang="en-US" sz="2800" b="1" dirty="0">
                <a:solidFill>
                  <a:srgbClr val="1F2937"/>
                </a:solidFill>
                <a:latin typeface="Calibri" pitchFamily="34" charset="0"/>
                <a:ea typeface="Calibri" pitchFamily="34" charset="-122"/>
                <a:cs typeface="Calibri" pitchFamily="34" charset="-120"/>
              </a:rPr>
              <a:t>UC1 — Generate Speaking Prompt</a:t>
            </a:r>
            <a:endParaRPr lang="en-US" sz="2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74552" cy="914400"/>
        </p:xfrm>
        <a:graphic>
          <a:graphicData uri="http://schemas.openxmlformats.org/drawingml/2006/table">
            <a:tbl>
              <a:tblPr/>
              <a:tblGrid>
                <a:gridCol w="2286000"/>
                <a:gridCol w="8988552"/>
              </a:tblGrid>
              <a:tr h="0">
                <a:tc>
                  <a:txBody>
                    <a:bodyPr/>
                    <a:lstStyle/>
                    <a:p>
                      <a:pPr indent="0" marL="0">
                        <a:buNone/>
                      </a:pPr>
                      <a:r>
                        <a:rPr lang="en-US" sz="1000" b="1" dirty="0">
                          <a:solidFill>
                            <a:srgbClr val="1F2937"/>
                          </a:solidFill>
                          <a:latin typeface="Calibri" pitchFamily="34" charset="0"/>
                          <a:ea typeface="Calibri" pitchFamily="34" charset="-122"/>
                          <a:cs typeface="Calibri" pitchFamily="34" charset="-120"/>
                        </a:rPr>
                        <a:t>Field</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000" b="1" dirty="0">
                          <a:solidFill>
                            <a:srgbClr val="1F2937"/>
                          </a:solidFill>
                          <a:latin typeface="Calibri" pitchFamily="34" charset="0"/>
                          <a:ea typeface="Calibri" pitchFamily="34" charset="-122"/>
                          <a:cs typeface="Calibri" pitchFamily="34" charset="-120"/>
                        </a:rPr>
                        <a:t>Value</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r>
              <a:tr h="0">
                <a:tc>
                  <a:txBody>
                    <a:bodyPr/>
                    <a:lstStyle/>
                    <a:p>
                      <a:pPr indent="0" marL="0">
                        <a:buNone/>
                      </a:pPr>
                      <a:r>
                        <a:rPr lang="en-US" sz="1000" b="1" dirty="0">
                          <a:solidFill>
                            <a:srgbClr val="1F2937"/>
                          </a:solidFill>
                          <a:latin typeface="Calibri" pitchFamily="34" charset="0"/>
                          <a:ea typeface="Calibri" pitchFamily="34" charset="-122"/>
                          <a:cs typeface="Calibri" pitchFamily="34" charset="-120"/>
                        </a:rPr>
                        <a:t>Primary actor</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User</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0">
                <a:tc>
                  <a:txBody>
                    <a:bodyPr/>
                    <a:lstStyle/>
                    <a:p>
                      <a:pPr indent="0" marL="0">
                        <a:buNone/>
                      </a:pPr>
                      <a:r>
                        <a:rPr lang="en-US" sz="1000" b="1" dirty="0">
                          <a:solidFill>
                            <a:srgbClr val="1F2937"/>
                          </a:solidFill>
                          <a:latin typeface="Calibri" pitchFamily="34" charset="0"/>
                          <a:ea typeface="Calibri" pitchFamily="34" charset="-122"/>
                          <a:cs typeface="Calibri" pitchFamily="34" charset="-120"/>
                        </a:rPr>
                        <a:t>Secondary actors</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None</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0">
                <a:tc>
                  <a:txBody>
                    <a:bodyPr/>
                    <a:lstStyle/>
                    <a:p>
                      <a:pPr indent="0" marL="0">
                        <a:buNone/>
                      </a:pPr>
                      <a:r>
                        <a:rPr lang="en-US" sz="1000" b="1" dirty="0">
                          <a:solidFill>
                            <a:srgbClr val="1F2937"/>
                          </a:solidFill>
                          <a:latin typeface="Calibri" pitchFamily="34" charset="0"/>
                          <a:ea typeface="Calibri" pitchFamily="34" charset="-122"/>
                          <a:cs typeface="Calibri" pitchFamily="34" charset="-120"/>
                        </a:rPr>
                        <a:t>Summary</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User requests a random speaking topic to begin a practice drill. PromptController retrieves a Prompt from DataRepository and TrainerView displays it.</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0">
                <a:tc>
                  <a:txBody>
                    <a:bodyPr/>
                    <a:lstStyle/>
                    <a:p>
                      <a:pPr indent="0" marL="0">
                        <a:buNone/>
                      </a:pPr>
                      <a:r>
                        <a:rPr lang="en-US" sz="1000" b="1" dirty="0">
                          <a:solidFill>
                            <a:srgbClr val="1F2937"/>
                          </a:solidFill>
                          <a:latin typeface="Calibri" pitchFamily="34" charset="0"/>
                          <a:ea typeface="Calibri" pitchFamily="34" charset="-122"/>
                          <a:cs typeface="Calibri" pitchFamily="34" charset="-120"/>
                        </a:rPr>
                        <a:t>Main success scenario</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1. User clicks "Generate Prompt" in TrainerView.</a:t>
                      </a:r>
                      <a:endParaRPr lang="en-US" sz="1000" dirty="0">
                        <a:latin typeface="Calibri" charset="0"/>
                        <a:ea typeface="Calibri" charset="0"/>
                        <a:cs typeface="Calibri" charset="0"/>
                      </a:endParaRPr>
                    </a:p>
                    <a:p>
                      <a:pPr indent="0" marL="0">
                        <a:buNone/>
                      </a:pPr>
                      <a:r>
                        <a:rPr lang="en-US" sz="1000" dirty="0">
                          <a:solidFill>
                            <a:srgbClr val="1F2937"/>
                          </a:solidFill>
                          <a:latin typeface="Calibri" pitchFamily="34" charset="0"/>
                          <a:ea typeface="Calibri" pitchFamily="34" charset="-122"/>
                          <a:cs typeface="Calibri" pitchFamily="34" charset="-120"/>
                        </a:rPr>
                        <a:t>2. TrainerView calls PromptController.generatePrompt().</a:t>
                      </a:r>
                      <a:endParaRPr lang="en-US" sz="1000" dirty="0">
                        <a:latin typeface="Calibri" charset="0"/>
                        <a:ea typeface="Calibri" charset="0"/>
                        <a:cs typeface="Calibri" charset="0"/>
                      </a:endParaRPr>
                    </a:p>
                    <a:p>
                      <a:pPr indent="0" marL="0">
                        <a:buNone/>
                      </a:pPr>
                      <a:r>
                        <a:rPr lang="en-US" sz="1000" dirty="0">
                          <a:solidFill>
                            <a:srgbClr val="1F2937"/>
                          </a:solidFill>
                          <a:latin typeface="Calibri" pitchFamily="34" charset="0"/>
                          <a:ea typeface="Calibri" pitchFamily="34" charset="-122"/>
                          <a:cs typeface="Calibri" pitchFamily="34" charset="-120"/>
                        </a:rPr>
                        <a:t>3. PromptController calls DataRepository.fetchRandomPrompt().</a:t>
                      </a:r>
                      <a:endParaRPr lang="en-US" sz="1000" dirty="0">
                        <a:latin typeface="Calibri" charset="0"/>
                        <a:ea typeface="Calibri" charset="0"/>
                        <a:cs typeface="Calibri" charset="0"/>
                      </a:endParaRPr>
                    </a:p>
                    <a:p>
                      <a:pPr indent="0" marL="0">
                        <a:buNone/>
                      </a:pPr>
                      <a:r>
                        <a:rPr lang="en-US" sz="1000" dirty="0">
                          <a:solidFill>
                            <a:srgbClr val="1F2937"/>
                          </a:solidFill>
                          <a:latin typeface="Calibri" pitchFamily="34" charset="0"/>
                          <a:ea typeface="Calibri" pitchFamily="34" charset="-122"/>
                          <a:cs typeface="Calibri" pitchFamily="34" charset="-120"/>
                        </a:rPr>
                        <a:t>4. DataRepository returns a Prompt to PromptController.</a:t>
                      </a:r>
                      <a:endParaRPr lang="en-US" sz="1000" dirty="0">
                        <a:latin typeface="Calibri" charset="0"/>
                        <a:ea typeface="Calibri" charset="0"/>
                        <a:cs typeface="Calibri" charset="0"/>
                      </a:endParaRPr>
                    </a:p>
                    <a:p>
                      <a:pPr indent="0" marL="0">
                        <a:buNone/>
                      </a:pPr>
                      <a:r>
                        <a:rPr lang="en-US" sz="1000" dirty="0">
                          <a:solidFill>
                            <a:srgbClr val="1F2937"/>
                          </a:solidFill>
                          <a:latin typeface="Calibri" pitchFamily="34" charset="0"/>
                          <a:ea typeface="Calibri" pitchFamily="34" charset="-122"/>
                          <a:cs typeface="Calibri" pitchFamily="34" charset="-120"/>
                        </a:rPr>
                        <a:t>5. PromptController returns the Prompt to TrainerView.</a:t>
                      </a:r>
                      <a:endParaRPr lang="en-US" sz="1000" dirty="0">
                        <a:latin typeface="Calibri" charset="0"/>
                        <a:ea typeface="Calibri" charset="0"/>
                        <a:cs typeface="Calibri" charset="0"/>
                      </a:endParaRPr>
                    </a:p>
                    <a:p>
                      <a:pPr indent="0" marL="0">
                        <a:buNone/>
                      </a:pPr>
                      <a:r>
                        <a:rPr lang="en-US" sz="1000" dirty="0">
                          <a:solidFill>
                            <a:srgbClr val="1F2937"/>
                          </a:solidFill>
                          <a:latin typeface="Calibri" pitchFamily="34" charset="0"/>
                          <a:ea typeface="Calibri" pitchFamily="34" charset="-122"/>
                          <a:cs typeface="Calibri" pitchFamily="34" charset="-120"/>
                        </a:rPr>
                        <a:t>6. TrainerView displays Prompt.topic to the User.</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0">
                <a:tc>
                  <a:txBody>
                    <a:bodyPr/>
                    <a:lstStyle/>
                    <a:p>
                      <a:pPr indent="0" marL="0">
                        <a:buNone/>
                      </a:pPr>
                      <a:r>
                        <a:rPr lang="en-US" sz="1000" b="1" dirty="0">
                          <a:solidFill>
                            <a:srgbClr val="1F2937"/>
                          </a:solidFill>
                          <a:latin typeface="Calibri" pitchFamily="34" charset="0"/>
                          <a:ea typeface="Calibri" pitchFamily="34" charset="-122"/>
                          <a:cs typeface="Calibri" pitchFamily="34" charset="-120"/>
                        </a:rPr>
                        <a:t>Alternatives</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3a. User selected a category filter → fetchRandomPrompt(category) called instead.</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0">
                <a:tc>
                  <a:txBody>
                    <a:bodyPr/>
                    <a:lstStyle/>
                    <a:p>
                      <a:pPr indent="0" marL="0">
                        <a:buNone/>
                      </a:pPr>
                      <a:r>
                        <a:rPr lang="en-US" sz="1000" b="1" dirty="0">
                          <a:solidFill>
                            <a:srgbClr val="1F2937"/>
                          </a:solidFill>
                          <a:latin typeface="Calibri" pitchFamily="34" charset="0"/>
                          <a:ea typeface="Calibri" pitchFamily="34" charset="-122"/>
                          <a:cs typeface="Calibri" pitchFamily="34" charset="-120"/>
                        </a:rPr>
                        <a:t>Exceptions</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3e. DataRepository unreachable → PromptController returns a cached fallback Prompt; TrainerView shows an "offline prompt" banner.</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0">
                <a:tc>
                  <a:txBody>
                    <a:bodyPr/>
                    <a:lstStyle/>
                    <a:p>
                      <a:pPr indent="0" marL="0">
                        <a:buNone/>
                      </a:pPr>
                      <a:r>
                        <a:rPr lang="en-US" sz="1000" b="1" dirty="0">
                          <a:solidFill>
                            <a:srgbClr val="1F2937"/>
                          </a:solidFill>
                          <a:latin typeface="Calibri" pitchFamily="34" charset="0"/>
                          <a:ea typeface="Calibri" pitchFamily="34" charset="-122"/>
                          <a:cs typeface="Calibri" pitchFamily="34" charset="-120"/>
                        </a:rPr>
                        <a:t>Postcondition</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A Prompt is visible on TrainerView and the Start Recording button is enabled.</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
        <p:nvSpPr>
          <p:cNvPr id="7" name="Text 4"/>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SpeakFlow — CS6005 Portfolio</a:t>
            </a:r>
            <a:endParaRPr lang="en-US" sz="900" dirty="0"/>
          </a:p>
        </p:txBody>
      </p:sp>
      <p:sp>
        <p:nvSpPr>
          <p:cNvPr id="8" name="Text 5"/>
          <p:cNvSpPr/>
          <p:nvPr/>
        </p:nvSpPr>
        <p:spPr>
          <a:xfrm>
            <a:off x="10972800" y="6492240"/>
            <a:ext cx="758952"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274320"/>
            <a:ext cx="9144000" cy="274320"/>
          </a:xfrm>
          <a:prstGeom prst="rect">
            <a:avLst/>
          </a:prstGeom>
          <a:noFill/>
          <a:ln/>
        </p:spPr>
        <p:txBody>
          <a:bodyPr wrap="square" rtlCol="0" anchor="ctr"/>
          <a:lstStyle/>
          <a:p>
            <a:pPr algn="l" indent="0" marL="0">
              <a:buNone/>
            </a:pPr>
            <a:r>
              <a:rPr lang="en-US" sz="1100" dirty="0">
                <a:solidFill>
                  <a:srgbClr val="6B7280"/>
                </a:solidFill>
                <a:latin typeface="Calibri" pitchFamily="34" charset="0"/>
                <a:ea typeface="Calibri" pitchFamily="34" charset="-122"/>
                <a:cs typeface="Calibri" pitchFamily="34" charset="-120"/>
              </a:rPr>
              <a:t>2.2  Use Case Table — UC2</a:t>
            </a:r>
            <a:endParaRPr lang="en-US" sz="1100" dirty="0"/>
          </a:p>
        </p:txBody>
      </p:sp>
      <p:sp>
        <p:nvSpPr>
          <p:cNvPr id="3" name="Text 1"/>
          <p:cNvSpPr/>
          <p:nvPr/>
        </p:nvSpPr>
        <p:spPr>
          <a:xfrm>
            <a:off x="9902952" y="274320"/>
            <a:ext cx="18288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Section 2 — 25%</a:t>
            </a:r>
            <a:endParaRPr lang="en-US" sz="1100" dirty="0"/>
          </a:p>
        </p:txBody>
      </p:sp>
      <p:sp>
        <p:nvSpPr>
          <p:cNvPr id="4" name="Shape 2"/>
          <p:cNvSpPr/>
          <p:nvPr/>
        </p:nvSpPr>
        <p:spPr>
          <a:xfrm>
            <a:off x="457200" y="594360"/>
            <a:ext cx="11274552" cy="0"/>
          </a:xfrm>
          <a:prstGeom prst="line">
            <a:avLst/>
          </a:prstGeom>
          <a:noFill/>
          <a:ln w="9525">
            <a:solidFill>
              <a:srgbClr val="D1D5DB"/>
            </a:solidFill>
            <a:prstDash val="solid"/>
          </a:ln>
        </p:spPr>
      </p:sp>
      <p:sp>
        <p:nvSpPr>
          <p:cNvPr id="5" name="Text 3"/>
          <p:cNvSpPr/>
          <p:nvPr/>
        </p:nvSpPr>
        <p:spPr>
          <a:xfrm>
            <a:off x="457200" y="777240"/>
            <a:ext cx="11274552" cy="640080"/>
          </a:xfrm>
          <a:prstGeom prst="rect">
            <a:avLst/>
          </a:prstGeom>
          <a:noFill/>
          <a:ln/>
        </p:spPr>
        <p:txBody>
          <a:bodyPr wrap="square" rtlCol="0" anchor="ctr"/>
          <a:lstStyle/>
          <a:p>
            <a:pPr indent="0" marL="0">
              <a:buNone/>
            </a:pPr>
            <a:r>
              <a:rPr lang="en-US" sz="2800" b="1" dirty="0">
                <a:solidFill>
                  <a:srgbClr val="1F2937"/>
                </a:solidFill>
                <a:latin typeface="Calibri" pitchFamily="34" charset="0"/>
                <a:ea typeface="Calibri" pitchFamily="34" charset="-122"/>
                <a:cs typeface="Calibri" pitchFamily="34" charset="-120"/>
              </a:rPr>
              <a:t>UC2 — Record Practice Speech</a:t>
            </a:r>
            <a:endParaRPr lang="en-US" sz="2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74552" cy="914400"/>
        </p:xfrm>
        <a:graphic>
          <a:graphicData uri="http://schemas.openxmlformats.org/drawingml/2006/table">
            <a:tbl>
              <a:tblPr/>
              <a:tblGrid>
                <a:gridCol w="2286000"/>
                <a:gridCol w="8988552"/>
              </a:tblGrid>
              <a:tr h="0">
                <a:tc>
                  <a:txBody>
                    <a:bodyPr/>
                    <a:lstStyle/>
                    <a:p>
                      <a:pPr indent="0" marL="0">
                        <a:buNone/>
                      </a:pPr>
                      <a:r>
                        <a:rPr lang="en-US" sz="1000" b="1" dirty="0">
                          <a:solidFill>
                            <a:srgbClr val="1F2937"/>
                          </a:solidFill>
                          <a:latin typeface="Calibri" pitchFamily="34" charset="0"/>
                          <a:ea typeface="Calibri" pitchFamily="34" charset="-122"/>
                          <a:cs typeface="Calibri" pitchFamily="34" charset="-120"/>
                        </a:rPr>
                        <a:t>Field</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000" b="1" dirty="0">
                          <a:solidFill>
                            <a:srgbClr val="1F2937"/>
                          </a:solidFill>
                          <a:latin typeface="Calibri" pitchFamily="34" charset="0"/>
                          <a:ea typeface="Calibri" pitchFamily="34" charset="-122"/>
                          <a:cs typeface="Calibri" pitchFamily="34" charset="-120"/>
                        </a:rPr>
                        <a:t>Value</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r>
              <a:tr h="0">
                <a:tc>
                  <a:txBody>
                    <a:bodyPr/>
                    <a:lstStyle/>
                    <a:p>
                      <a:pPr indent="0" marL="0">
                        <a:buNone/>
                      </a:pPr>
                      <a:r>
                        <a:rPr lang="en-US" sz="1000" b="1" dirty="0">
                          <a:solidFill>
                            <a:srgbClr val="1F2937"/>
                          </a:solidFill>
                          <a:latin typeface="Calibri" pitchFamily="34" charset="0"/>
                          <a:ea typeface="Calibri" pitchFamily="34" charset="-122"/>
                          <a:cs typeface="Calibri" pitchFamily="34" charset="-120"/>
                        </a:rPr>
                        <a:t>Primary actor</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User</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0">
                <a:tc>
                  <a:txBody>
                    <a:bodyPr/>
                    <a:lstStyle/>
                    <a:p>
                      <a:pPr indent="0" marL="0">
                        <a:buNone/>
                      </a:pPr>
                      <a:r>
                        <a:rPr lang="en-US" sz="1000" b="1" dirty="0">
                          <a:solidFill>
                            <a:srgbClr val="1F2937"/>
                          </a:solidFill>
                          <a:latin typeface="Calibri" pitchFamily="34" charset="0"/>
                          <a:ea typeface="Calibri" pitchFamily="34" charset="-122"/>
                          <a:cs typeface="Calibri" pitchFamily="34" charset="-120"/>
                        </a:rPr>
                        <a:t>Secondary actors</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MicrophoneService</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0">
                <a:tc>
                  <a:txBody>
                    <a:bodyPr/>
                    <a:lstStyle/>
                    <a:p>
                      <a:pPr indent="0" marL="0">
                        <a:buNone/>
                      </a:pPr>
                      <a:r>
                        <a:rPr lang="en-US" sz="1000" b="1" dirty="0">
                          <a:solidFill>
                            <a:srgbClr val="1F2937"/>
                          </a:solidFill>
                          <a:latin typeface="Calibri" pitchFamily="34" charset="0"/>
                          <a:ea typeface="Calibri" pitchFamily="34" charset="-122"/>
                          <a:cs typeface="Calibri" pitchFamily="34" charset="-120"/>
                        </a:rPr>
                        <a:t>Summary</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User practises speaking about the current Prompt while RecordingController captures audio via MicrophoneService and produces a live transcript via SpeechRecognitionService. AudioRecording + TranscriptSegments are persisted.</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0">
                <a:tc>
                  <a:txBody>
                    <a:bodyPr/>
                    <a:lstStyle/>
                    <a:p>
                      <a:pPr indent="0" marL="0">
                        <a:buNone/>
                      </a:pPr>
                      <a:r>
                        <a:rPr lang="en-US" sz="1000" b="1" dirty="0">
                          <a:solidFill>
                            <a:srgbClr val="1F2937"/>
                          </a:solidFill>
                          <a:latin typeface="Calibri" pitchFamily="34" charset="0"/>
                          <a:ea typeface="Calibri" pitchFamily="34" charset="-122"/>
                          <a:cs typeface="Calibri" pitchFamily="34" charset="-120"/>
                        </a:rPr>
                        <a:t>Main success scenario</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1. User clicks "Start Recording".  2. TV → RC.startRecording(promptId).  3. RC → MS.activate().  4. MS returns stream handle.  5. RC → SR.start(lang).  6-7. Loop: SR emits TranscriptSegment → RC appends + forwards to TV.  8. User clicks "Stop".  9. TV → RC.stopRecording().  10. RC stops SR + deactivates MS.  11. RC → DR.saveRecording().  12. DR returns recordingId.  13. RC → TV returns recordingId.</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0">
                <a:tc>
                  <a:txBody>
                    <a:bodyPr/>
                    <a:lstStyle/>
                    <a:p>
                      <a:pPr indent="0" marL="0">
                        <a:buNone/>
                      </a:pPr>
                      <a:r>
                        <a:rPr lang="en-US" sz="1000" b="1" dirty="0">
                          <a:solidFill>
                            <a:srgbClr val="1F2937"/>
                          </a:solidFill>
                          <a:latin typeface="Calibri" pitchFamily="34" charset="0"/>
                          <a:ea typeface="Calibri" pitchFamily="34" charset="-122"/>
                          <a:cs typeface="Calibri" pitchFamily="34" charset="-120"/>
                        </a:rPr>
                        <a:t>Alternatives</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1a. User chose a countdown timer → TV waits before step 2.</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0">
                <a:tc>
                  <a:txBody>
                    <a:bodyPr/>
                    <a:lstStyle/>
                    <a:p>
                      <a:pPr indent="0" marL="0">
                        <a:buNone/>
                      </a:pPr>
                      <a:r>
                        <a:rPr lang="en-US" sz="1000" b="1" dirty="0">
                          <a:solidFill>
                            <a:srgbClr val="1F2937"/>
                          </a:solidFill>
                          <a:latin typeface="Calibri" pitchFamily="34" charset="0"/>
                          <a:ea typeface="Calibri" pitchFamily="34" charset="-122"/>
                          <a:cs typeface="Calibri" pitchFamily="34" charset="-120"/>
                        </a:rPr>
                        <a:t>Exceptions</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3e. MicrophoneService.activate() fails (permission/hardware) → RC returns error → TV shows "microphone not available" warning and aborts.</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0">
                <a:tc>
                  <a:txBody>
                    <a:bodyPr/>
                    <a:lstStyle/>
                    <a:p>
                      <a:pPr indent="0" marL="0">
                        <a:buNone/>
                      </a:pPr>
                      <a:r>
                        <a:rPr lang="en-US" sz="1000" b="1" dirty="0">
                          <a:solidFill>
                            <a:srgbClr val="1F2937"/>
                          </a:solidFill>
                          <a:latin typeface="Calibri" pitchFamily="34" charset="0"/>
                          <a:ea typeface="Calibri" pitchFamily="34" charset="-122"/>
                          <a:cs typeface="Calibri" pitchFamily="34" charset="-120"/>
                        </a:rPr>
                        <a:t>Postcondition</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A persisted AudioRecording with TranscriptSegments is available in DataRepository for UC3.</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
        <p:nvSpPr>
          <p:cNvPr id="7" name="Text 4"/>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SpeakFlow — CS6005 Portfolio</a:t>
            </a:r>
            <a:endParaRPr lang="en-US" sz="900" dirty="0"/>
          </a:p>
        </p:txBody>
      </p:sp>
      <p:sp>
        <p:nvSpPr>
          <p:cNvPr id="8" name="Text 5"/>
          <p:cNvSpPr/>
          <p:nvPr/>
        </p:nvSpPr>
        <p:spPr>
          <a:xfrm>
            <a:off x="10972800" y="6492240"/>
            <a:ext cx="758952"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274320"/>
            <a:ext cx="9144000" cy="274320"/>
          </a:xfrm>
          <a:prstGeom prst="rect">
            <a:avLst/>
          </a:prstGeom>
          <a:noFill/>
          <a:ln/>
        </p:spPr>
        <p:txBody>
          <a:bodyPr wrap="square" rtlCol="0" anchor="ctr"/>
          <a:lstStyle/>
          <a:p>
            <a:pPr algn="l" indent="0" marL="0">
              <a:buNone/>
            </a:pPr>
            <a:r>
              <a:rPr lang="en-US" sz="1100" dirty="0">
                <a:solidFill>
                  <a:srgbClr val="6B7280"/>
                </a:solidFill>
                <a:latin typeface="Calibri" pitchFamily="34" charset="0"/>
                <a:ea typeface="Calibri" pitchFamily="34" charset="-122"/>
                <a:cs typeface="Calibri" pitchFamily="34" charset="-120"/>
              </a:rPr>
              <a:t>2.2  Use Case Table — UC3</a:t>
            </a:r>
            <a:endParaRPr lang="en-US" sz="1100" dirty="0"/>
          </a:p>
        </p:txBody>
      </p:sp>
      <p:sp>
        <p:nvSpPr>
          <p:cNvPr id="3" name="Text 1"/>
          <p:cNvSpPr/>
          <p:nvPr/>
        </p:nvSpPr>
        <p:spPr>
          <a:xfrm>
            <a:off x="9902952" y="274320"/>
            <a:ext cx="18288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Section 2 — 25%</a:t>
            </a:r>
            <a:endParaRPr lang="en-US" sz="1100" dirty="0"/>
          </a:p>
        </p:txBody>
      </p:sp>
      <p:sp>
        <p:nvSpPr>
          <p:cNvPr id="4" name="Shape 2"/>
          <p:cNvSpPr/>
          <p:nvPr/>
        </p:nvSpPr>
        <p:spPr>
          <a:xfrm>
            <a:off x="457200" y="594360"/>
            <a:ext cx="11274552" cy="0"/>
          </a:xfrm>
          <a:prstGeom prst="line">
            <a:avLst/>
          </a:prstGeom>
          <a:noFill/>
          <a:ln w="9525">
            <a:solidFill>
              <a:srgbClr val="D1D5DB"/>
            </a:solidFill>
            <a:prstDash val="solid"/>
          </a:ln>
        </p:spPr>
      </p:sp>
      <p:sp>
        <p:nvSpPr>
          <p:cNvPr id="5" name="Text 3"/>
          <p:cNvSpPr/>
          <p:nvPr/>
        </p:nvSpPr>
        <p:spPr>
          <a:xfrm>
            <a:off x="457200" y="777240"/>
            <a:ext cx="11274552" cy="640080"/>
          </a:xfrm>
          <a:prstGeom prst="rect">
            <a:avLst/>
          </a:prstGeom>
          <a:noFill/>
          <a:ln/>
        </p:spPr>
        <p:txBody>
          <a:bodyPr wrap="square" rtlCol="0" anchor="ctr"/>
          <a:lstStyle/>
          <a:p>
            <a:pPr indent="0" marL="0">
              <a:buNone/>
            </a:pPr>
            <a:r>
              <a:rPr lang="en-US" sz="2800" b="1" dirty="0">
                <a:solidFill>
                  <a:srgbClr val="1F2937"/>
                </a:solidFill>
                <a:latin typeface="Calibri" pitchFamily="34" charset="0"/>
                <a:ea typeface="Calibri" pitchFamily="34" charset="-122"/>
                <a:cs typeface="Calibri" pitchFamily="34" charset="-120"/>
              </a:rPr>
              <a:t>UC3 — Analyse Speaking Style</a:t>
            </a:r>
            <a:endParaRPr lang="en-US" sz="2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74552" cy="914400"/>
        </p:xfrm>
        <a:graphic>
          <a:graphicData uri="http://schemas.openxmlformats.org/drawingml/2006/table">
            <a:tbl>
              <a:tblPr/>
              <a:tblGrid>
                <a:gridCol w="2286000"/>
                <a:gridCol w="8988552"/>
              </a:tblGrid>
              <a:tr h="0">
                <a:tc>
                  <a:txBody>
                    <a:bodyPr/>
                    <a:lstStyle/>
                    <a:p>
                      <a:pPr indent="0" marL="0">
                        <a:buNone/>
                      </a:pPr>
                      <a:r>
                        <a:rPr lang="en-US" sz="1000" b="1" dirty="0">
                          <a:solidFill>
                            <a:srgbClr val="1F2937"/>
                          </a:solidFill>
                          <a:latin typeface="Calibri" pitchFamily="34" charset="0"/>
                          <a:ea typeface="Calibri" pitchFamily="34" charset="-122"/>
                          <a:cs typeface="Calibri" pitchFamily="34" charset="-120"/>
                        </a:rPr>
                        <a:t>Field</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000" b="1" dirty="0">
                          <a:solidFill>
                            <a:srgbClr val="1F2937"/>
                          </a:solidFill>
                          <a:latin typeface="Calibri" pitchFamily="34" charset="0"/>
                          <a:ea typeface="Calibri" pitchFamily="34" charset="-122"/>
                          <a:cs typeface="Calibri" pitchFamily="34" charset="-120"/>
                        </a:rPr>
                        <a:t>Value</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r>
              <a:tr h="0">
                <a:tc>
                  <a:txBody>
                    <a:bodyPr/>
                    <a:lstStyle/>
                    <a:p>
                      <a:pPr indent="0" marL="0">
                        <a:buNone/>
                      </a:pPr>
                      <a:r>
                        <a:rPr lang="en-US" sz="1000" b="1" dirty="0">
                          <a:solidFill>
                            <a:srgbClr val="1F2937"/>
                          </a:solidFill>
                          <a:latin typeface="Calibri" pitchFamily="34" charset="0"/>
                          <a:ea typeface="Calibri" pitchFamily="34" charset="-122"/>
                          <a:cs typeface="Calibri" pitchFamily="34" charset="-120"/>
                        </a:rPr>
                        <a:t>Primary actor</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User</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0">
                <a:tc>
                  <a:txBody>
                    <a:bodyPr/>
                    <a:lstStyle/>
                    <a:p>
                      <a:pPr indent="0" marL="0">
                        <a:buNone/>
                      </a:pPr>
                      <a:r>
                        <a:rPr lang="en-US" sz="1000" b="1" dirty="0">
                          <a:solidFill>
                            <a:srgbClr val="1F2937"/>
                          </a:solidFill>
                          <a:latin typeface="Calibri" pitchFamily="34" charset="0"/>
                          <a:ea typeface="Calibri" pitchFamily="34" charset="-122"/>
                          <a:cs typeface="Calibri" pitchFamily="34" charset="-120"/>
                        </a:rPr>
                        <a:t>Secondary actors</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None (AIAnalysisService is called by the controller, not user-facing)</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0">
                <a:tc>
                  <a:txBody>
                    <a:bodyPr/>
                    <a:lstStyle/>
                    <a:p>
                      <a:pPr indent="0" marL="0">
                        <a:buNone/>
                      </a:pPr>
                      <a:r>
                        <a:rPr lang="en-US" sz="1000" b="1" dirty="0">
                          <a:solidFill>
                            <a:srgbClr val="1F2937"/>
                          </a:solidFill>
                          <a:latin typeface="Calibri" pitchFamily="34" charset="0"/>
                          <a:ea typeface="Calibri" pitchFamily="34" charset="-122"/>
                          <a:cs typeface="Calibri" pitchFamily="34" charset="-120"/>
                        </a:rPr>
                        <a:t>Summary</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User requests AI feedback on a completed AudioRecording. AnalysisController sends transcript to AIAnalysisService, wraps the SpeechAnalysis into a DrillSession, persists it, and DashboardView renders the results.</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0">
                <a:tc>
                  <a:txBody>
                    <a:bodyPr/>
                    <a:lstStyle/>
                    <a:p>
                      <a:pPr indent="0" marL="0">
                        <a:buNone/>
                      </a:pPr>
                      <a:r>
                        <a:rPr lang="en-US" sz="1000" b="1" dirty="0">
                          <a:solidFill>
                            <a:srgbClr val="1F2937"/>
                          </a:solidFill>
                          <a:latin typeface="Calibri" pitchFamily="34" charset="0"/>
                          <a:ea typeface="Calibri" pitchFamily="34" charset="-122"/>
                          <a:cs typeface="Calibri" pitchFamily="34" charset="-120"/>
                        </a:rPr>
                        <a:t>Main success scenario</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1. User clicks "Analyse" on DV.  2. DV → AC.analyse(recordingId).  3. AC → DR.getRecording().  4. DR returns AudioRecording + TranscriptSegments.  5. AC → AI.analyse(transcript, promptId).  6. AI returns SpeechAnalysis.  7. AC creates DrillSession.  8. AC → DR.saveDrillSession().  9. DR returns success.  10. AC returns SpeechAnalysis to DV.  11. DV renders feedback.</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0">
                <a:tc>
                  <a:txBody>
                    <a:bodyPr/>
                    <a:lstStyle/>
                    <a:p>
                      <a:pPr indent="0" marL="0">
                        <a:buNone/>
                      </a:pPr>
                      <a:r>
                        <a:rPr lang="en-US" sz="1000" b="1" dirty="0">
                          <a:solidFill>
                            <a:srgbClr val="1F2937"/>
                          </a:solidFill>
                          <a:latin typeface="Calibri" pitchFamily="34" charset="0"/>
                          <a:ea typeface="Calibri" pitchFamily="34" charset="-122"/>
                          <a:cs typeface="Calibri" pitchFamily="34" charset="-120"/>
                        </a:rPr>
                        <a:t>Alternatives</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5a. User selected basic-only → AC computes fillerCount + wpm locally, jumps to step 7 with minimal SpeechAnalysis.</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0">
                <a:tc>
                  <a:txBody>
                    <a:bodyPr/>
                    <a:lstStyle/>
                    <a:p>
                      <a:pPr indent="0" marL="0">
                        <a:buNone/>
                      </a:pPr>
                      <a:r>
                        <a:rPr lang="en-US" sz="1000" b="1" dirty="0">
                          <a:solidFill>
                            <a:srgbClr val="1F2937"/>
                          </a:solidFill>
                          <a:latin typeface="Calibri" pitchFamily="34" charset="0"/>
                          <a:ea typeface="Calibri" pitchFamily="34" charset="-122"/>
                          <a:cs typeface="Calibri" pitchFamily="34" charset="-120"/>
                        </a:rPr>
                        <a:t>Exceptions</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5e. AIAnalysisService unreachable/error → AC falls back to local basic analysis; DV shows "full AI analysis unavailable" banner.</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0">
                <a:tc>
                  <a:txBody>
                    <a:bodyPr/>
                    <a:lstStyle/>
                    <a:p>
                      <a:pPr indent="0" marL="0">
                        <a:buNone/>
                      </a:pPr>
                      <a:r>
                        <a:rPr lang="en-US" sz="1000" b="1" dirty="0">
                          <a:solidFill>
                            <a:srgbClr val="1F2937"/>
                          </a:solidFill>
                          <a:latin typeface="Calibri" pitchFamily="34" charset="0"/>
                          <a:ea typeface="Calibri" pitchFamily="34" charset="-122"/>
                          <a:cs typeface="Calibri" pitchFamily="34" charset="-120"/>
                        </a:rPr>
                        <a:t>Postcondition</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A new DrillSession with the SpeechAnalysis is persisted in DataRepository and rendered in DashboardView.</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
        <p:nvSpPr>
          <p:cNvPr id="7" name="Text 4"/>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SpeakFlow — CS6005 Portfolio</a:t>
            </a:r>
            <a:endParaRPr lang="en-US" sz="900" dirty="0"/>
          </a:p>
        </p:txBody>
      </p:sp>
      <p:sp>
        <p:nvSpPr>
          <p:cNvPr id="8" name="Text 5"/>
          <p:cNvSpPr/>
          <p:nvPr/>
        </p:nvSpPr>
        <p:spPr>
          <a:xfrm>
            <a:off x="10972800" y="6492240"/>
            <a:ext cx="758952"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274320"/>
            <a:ext cx="9144000" cy="274320"/>
          </a:xfrm>
          <a:prstGeom prst="rect">
            <a:avLst/>
          </a:prstGeom>
          <a:noFill/>
          <a:ln/>
        </p:spPr>
        <p:txBody>
          <a:bodyPr wrap="square" rtlCol="0" anchor="ctr"/>
          <a:lstStyle/>
          <a:p>
            <a:pPr algn="l" indent="0" marL="0">
              <a:buNone/>
            </a:pPr>
            <a:r>
              <a:rPr lang="en-US" sz="1100" dirty="0">
                <a:solidFill>
                  <a:srgbClr val="6B7280"/>
                </a:solidFill>
                <a:latin typeface="Calibri" pitchFamily="34" charset="0"/>
                <a:ea typeface="Calibri" pitchFamily="34" charset="-122"/>
                <a:cs typeface="Calibri" pitchFamily="34" charset="-120"/>
              </a:rPr>
              <a:t>2.3  Functional &amp; Non-Functional Requirements</a:t>
            </a:r>
            <a:endParaRPr lang="en-US" sz="1100" dirty="0"/>
          </a:p>
        </p:txBody>
      </p:sp>
      <p:sp>
        <p:nvSpPr>
          <p:cNvPr id="3" name="Text 1"/>
          <p:cNvSpPr/>
          <p:nvPr/>
        </p:nvSpPr>
        <p:spPr>
          <a:xfrm>
            <a:off x="9902952" y="274320"/>
            <a:ext cx="18288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Section 2 — 25%</a:t>
            </a:r>
            <a:endParaRPr lang="en-US" sz="1100" dirty="0"/>
          </a:p>
        </p:txBody>
      </p:sp>
      <p:sp>
        <p:nvSpPr>
          <p:cNvPr id="4" name="Shape 2"/>
          <p:cNvSpPr/>
          <p:nvPr/>
        </p:nvSpPr>
        <p:spPr>
          <a:xfrm>
            <a:off x="457200" y="594360"/>
            <a:ext cx="11274552" cy="0"/>
          </a:xfrm>
          <a:prstGeom prst="line">
            <a:avLst/>
          </a:prstGeom>
          <a:noFill/>
          <a:ln w="9525">
            <a:solidFill>
              <a:srgbClr val="D1D5DB"/>
            </a:solidFill>
            <a:prstDash val="solid"/>
          </a:ln>
        </p:spPr>
      </p:sp>
      <p:sp>
        <p:nvSpPr>
          <p:cNvPr id="5" name="Text 3"/>
          <p:cNvSpPr/>
          <p:nvPr/>
        </p:nvSpPr>
        <p:spPr>
          <a:xfrm>
            <a:off x="457200" y="777240"/>
            <a:ext cx="11274552" cy="640080"/>
          </a:xfrm>
          <a:prstGeom prst="rect">
            <a:avLst/>
          </a:prstGeom>
          <a:noFill/>
          <a:ln/>
        </p:spPr>
        <p:txBody>
          <a:bodyPr wrap="square" rtlCol="0" anchor="ctr"/>
          <a:lstStyle/>
          <a:p>
            <a:pPr indent="0" marL="0">
              <a:buNone/>
            </a:pPr>
            <a:r>
              <a:rPr lang="en-US" sz="2800" b="1" dirty="0">
                <a:solidFill>
                  <a:srgbClr val="1F2937"/>
                </a:solidFill>
                <a:latin typeface="Calibri" pitchFamily="34" charset="0"/>
                <a:ea typeface="Calibri" pitchFamily="34" charset="-122"/>
                <a:cs typeface="Calibri" pitchFamily="34" charset="-120"/>
              </a:rPr>
              <a:t>FRs and NFRs</a:t>
            </a:r>
            <a:endParaRPr lang="en-US" sz="28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5486400" cy="914400"/>
        </p:xfrm>
        <a:graphic>
          <a:graphicData uri="http://schemas.openxmlformats.org/drawingml/2006/table">
            <a:tbl>
              <a:tblPr/>
              <a:tblGrid>
                <a:gridCol w="640080"/>
                <a:gridCol w="3931920"/>
                <a:gridCol w="914400"/>
              </a:tblGrid>
              <a:tr h="0">
                <a:tc>
                  <a:txBody>
                    <a:bodyPr/>
                    <a:lstStyle/>
                    <a:p>
                      <a:pPr indent="0" marL="0">
                        <a:buNone/>
                      </a:pPr>
                      <a:r>
                        <a:rPr lang="en-US" sz="950" b="1" dirty="0">
                          <a:solidFill>
                            <a:srgbClr val="1F2937"/>
                          </a:solidFill>
                          <a:latin typeface="Calibri" pitchFamily="34" charset="0"/>
                          <a:ea typeface="Calibri" pitchFamily="34" charset="-122"/>
                          <a:cs typeface="Calibri" pitchFamily="34" charset="-120"/>
                        </a:rPr>
                        <a:t>ID</a:t>
                      </a:r>
                      <a:endParaRPr lang="en-US" sz="95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950" b="1" dirty="0">
                          <a:solidFill>
                            <a:srgbClr val="1F2937"/>
                          </a:solidFill>
                          <a:latin typeface="Calibri" pitchFamily="34" charset="0"/>
                          <a:ea typeface="Calibri" pitchFamily="34" charset="-122"/>
                          <a:cs typeface="Calibri" pitchFamily="34" charset="-120"/>
                        </a:rPr>
                        <a:t>Functional Requirement</a:t>
                      </a:r>
                      <a:endParaRPr lang="en-US" sz="95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950" b="1" dirty="0">
                          <a:solidFill>
                            <a:srgbClr val="1F2937"/>
                          </a:solidFill>
                          <a:latin typeface="Calibri" pitchFamily="34" charset="0"/>
                          <a:ea typeface="Calibri" pitchFamily="34" charset="-122"/>
                          <a:cs typeface="Calibri" pitchFamily="34" charset="-120"/>
                        </a:rPr>
                        <a:t>UC</a:t>
                      </a:r>
                      <a:endParaRPr lang="en-US" sz="95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r>
              <a:tr h="0">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FR1</a:t>
                      </a:r>
                      <a:endParaRPr lang="en-US" sz="95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Generate a random speaking prompt when the user starts a training session.</a:t>
                      </a:r>
                      <a:endParaRPr lang="en-US" sz="95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UC1</a:t>
                      </a:r>
                      <a:endParaRPr lang="en-US" sz="95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0">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FR2</a:t>
                      </a:r>
                      <a:endParaRPr lang="en-US" sz="95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Let the user start an impromptu speaking exercise from the prompt library.</a:t>
                      </a:r>
                      <a:endParaRPr lang="en-US" sz="95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UC1, UC2</a:t>
                      </a:r>
                      <a:endParaRPr lang="en-US" sz="95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0">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FR3</a:t>
                      </a:r>
                      <a:endParaRPr lang="en-US" sz="95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Detect filler words ("um", "uh", "like", "you know") during a session.</a:t>
                      </a:r>
                      <a:endParaRPr lang="en-US" sz="95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UC2, UC3</a:t>
                      </a:r>
                      <a:endParaRPr lang="en-US" sz="95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0">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FR4</a:t>
                      </a:r>
                      <a:endParaRPr lang="en-US" sz="95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Provide a live transcript of the user's speech while recording.</a:t>
                      </a:r>
                      <a:endParaRPr lang="en-US" sz="95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UC2</a:t>
                      </a:r>
                      <a:endParaRPr lang="en-US" sz="95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0">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FR5</a:t>
                      </a:r>
                      <a:endParaRPr lang="en-US" sz="95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Dashboard showing filler-word progress over time.</a:t>
                      </a:r>
                      <a:endParaRPr lang="en-US" sz="95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UC3</a:t>
                      </a:r>
                      <a:endParaRPr lang="en-US" sz="95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0">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FR6</a:t>
                      </a:r>
                      <a:endParaRPr lang="en-US" sz="95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Teleprompter that scrolls text at a user-selectable speed.</a:t>
                      </a:r>
                      <a:endParaRPr lang="en-US" sz="95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0">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FR7</a:t>
                      </a:r>
                      <a:endParaRPr lang="en-US" sz="95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Let the user create an account and log in.</a:t>
                      </a:r>
                      <a:endParaRPr lang="en-US" sz="95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0">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FR8</a:t>
                      </a:r>
                      <a:endParaRPr lang="en-US" sz="95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Analyse how relevant the user's speech is to the topic.</a:t>
                      </a:r>
                      <a:endParaRPr lang="en-US" sz="95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UC3</a:t>
                      </a:r>
                      <a:endParaRPr lang="en-US" sz="95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0">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FR9</a:t>
                      </a:r>
                      <a:endParaRPr lang="en-US" sz="95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Let the user delete their account and all DrillSessions.</a:t>
                      </a:r>
                      <a:endParaRPr lang="en-US" sz="95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graphicFrame>
        <p:nvGraphicFramePr>
          <p:cNvPr id="29" name="Table 1"/>
          <p:cNvGraphicFramePr>
            <a:graphicFrameLocks noGrp="1"/>
          </p:cNvGraphicFramePr>
          <p:nvPr>
            <p:extLst>
              <p:ext uri="{D42A27DB-BD31-4B8C-83A1-F6EECF244321}">
                <p14:modId xmlns:p14="http://schemas.microsoft.com/office/powerpoint/2010/main" val="1579011935"/>
              </p:ext>
            </p:extLst>
          </p:nvPr>
        </p:nvGraphicFramePr>
        <p:xfrm>
          <a:off x="6245352" y="1280160"/>
          <a:ext cx="5486400" cy="914400"/>
        </p:xfrm>
        <a:graphic>
          <a:graphicData uri="http://schemas.openxmlformats.org/drawingml/2006/table">
            <a:tbl>
              <a:tblPr/>
              <a:tblGrid>
                <a:gridCol w="640080"/>
                <a:gridCol w="3657600"/>
                <a:gridCol w="1188720"/>
              </a:tblGrid>
              <a:tr h="0">
                <a:tc>
                  <a:txBody>
                    <a:bodyPr/>
                    <a:lstStyle/>
                    <a:p>
                      <a:pPr indent="0" marL="0">
                        <a:buNone/>
                      </a:pPr>
                      <a:r>
                        <a:rPr lang="en-US" sz="950" b="1" dirty="0">
                          <a:solidFill>
                            <a:srgbClr val="1F2937"/>
                          </a:solidFill>
                          <a:latin typeface="Calibri" pitchFamily="34" charset="0"/>
                          <a:ea typeface="Calibri" pitchFamily="34" charset="-122"/>
                          <a:cs typeface="Calibri" pitchFamily="34" charset="-120"/>
                        </a:rPr>
                        <a:t>ID</a:t>
                      </a:r>
                      <a:endParaRPr lang="en-US" sz="95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950" b="1" dirty="0">
                          <a:solidFill>
                            <a:srgbClr val="1F2937"/>
                          </a:solidFill>
                          <a:latin typeface="Calibri" pitchFamily="34" charset="0"/>
                          <a:ea typeface="Calibri" pitchFamily="34" charset="-122"/>
                          <a:cs typeface="Calibri" pitchFamily="34" charset="-120"/>
                        </a:rPr>
                        <a:t>Non-Functional Requirement</a:t>
                      </a:r>
                      <a:endParaRPr lang="en-US" sz="95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950" b="1" dirty="0">
                          <a:solidFill>
                            <a:srgbClr val="1F2937"/>
                          </a:solidFill>
                          <a:latin typeface="Calibri" pitchFamily="34" charset="0"/>
                          <a:ea typeface="Calibri" pitchFamily="34" charset="-122"/>
                          <a:cs typeface="Calibri" pitchFamily="34" charset="-120"/>
                        </a:rPr>
                        <a:t>Cat.</a:t>
                      </a:r>
                      <a:endParaRPr lang="en-US" sz="95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r>
              <a:tr h="0">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NFR1</a:t>
                      </a:r>
                      <a:endParaRPr lang="en-US" sz="95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Respond to user input within 5 seconds.</a:t>
                      </a:r>
                      <a:endParaRPr lang="en-US" sz="95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Perf.</a:t>
                      </a:r>
                      <a:endParaRPr lang="en-US" sz="95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0">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NFR2</a:t>
                      </a:r>
                      <a:endParaRPr lang="en-US" sz="95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A new user can learn the help feature within 10 min.</a:t>
                      </a:r>
                      <a:endParaRPr lang="en-US" sz="95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Usab.</a:t>
                      </a:r>
                      <a:endParaRPr lang="en-US" sz="95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0">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NFR3</a:t>
                      </a:r>
                      <a:endParaRPr lang="en-US" sz="95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AudioRecording stored only on the user's account, encrypted in transit.</a:t>
                      </a:r>
                      <a:endParaRPr lang="en-US" sz="95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Sec.</a:t>
                      </a:r>
                      <a:endParaRPr lang="en-US" sz="95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0">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NFR4</a:t>
                      </a:r>
                      <a:endParaRPr lang="en-US" sz="95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Degrade gracefully when AIAnalysisService is unavailable.</a:t>
                      </a:r>
                      <a:endParaRPr lang="en-US" sz="95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Reliab.</a:t>
                      </a:r>
                      <a:endParaRPr lang="en-US" sz="95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0">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NFR5</a:t>
                      </a:r>
                      <a:endParaRPr lang="en-US" sz="95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All UI text meets WCAG 2.1 AA contrast.</a:t>
                      </a:r>
                      <a:endParaRPr lang="en-US" sz="95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Access.</a:t>
                      </a:r>
                      <a:endParaRPr lang="en-US" sz="95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
        <p:nvSpPr>
          <p:cNvPr id="8" name="Text 4"/>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SpeakFlow — CS6005 Portfolio</a:t>
            </a:r>
            <a:endParaRPr lang="en-US" sz="900" dirty="0"/>
          </a:p>
        </p:txBody>
      </p:sp>
      <p:sp>
        <p:nvSpPr>
          <p:cNvPr id="9" name="Text 5"/>
          <p:cNvSpPr/>
          <p:nvPr/>
        </p:nvSpPr>
        <p:spPr>
          <a:xfrm>
            <a:off x="10972800" y="6492240"/>
            <a:ext cx="758952"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274320"/>
            <a:ext cx="9144000" cy="274320"/>
          </a:xfrm>
          <a:prstGeom prst="rect">
            <a:avLst/>
          </a:prstGeom>
          <a:noFill/>
          <a:ln/>
        </p:spPr>
        <p:txBody>
          <a:bodyPr wrap="square" rtlCol="0" anchor="ctr"/>
          <a:lstStyle/>
          <a:p>
            <a:pPr algn="l" indent="0" marL="0">
              <a:buNone/>
            </a:pPr>
            <a:r>
              <a:rPr lang="en-US" sz="1100" dirty="0">
                <a:solidFill>
                  <a:srgbClr val="6B7280"/>
                </a:solidFill>
                <a:latin typeface="Calibri" pitchFamily="34" charset="0"/>
                <a:ea typeface="Calibri" pitchFamily="34" charset="-122"/>
                <a:cs typeface="Calibri" pitchFamily="34" charset="-120"/>
              </a:rPr>
              <a:t>2.4  Sprint 1</a:t>
            </a:r>
            <a:endParaRPr lang="en-US" sz="1100" dirty="0"/>
          </a:p>
        </p:txBody>
      </p:sp>
      <p:sp>
        <p:nvSpPr>
          <p:cNvPr id="3" name="Text 1"/>
          <p:cNvSpPr/>
          <p:nvPr/>
        </p:nvSpPr>
        <p:spPr>
          <a:xfrm>
            <a:off x="9902952" y="274320"/>
            <a:ext cx="18288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Section 2 — 25%</a:t>
            </a:r>
            <a:endParaRPr lang="en-US" sz="1100" dirty="0"/>
          </a:p>
        </p:txBody>
      </p:sp>
      <p:sp>
        <p:nvSpPr>
          <p:cNvPr id="4" name="Shape 2"/>
          <p:cNvSpPr/>
          <p:nvPr/>
        </p:nvSpPr>
        <p:spPr>
          <a:xfrm>
            <a:off x="457200" y="594360"/>
            <a:ext cx="11274552" cy="0"/>
          </a:xfrm>
          <a:prstGeom prst="line">
            <a:avLst/>
          </a:prstGeom>
          <a:noFill/>
          <a:ln w="9525">
            <a:solidFill>
              <a:srgbClr val="D1D5DB"/>
            </a:solidFill>
            <a:prstDash val="solid"/>
          </a:ln>
        </p:spPr>
      </p:sp>
      <p:sp>
        <p:nvSpPr>
          <p:cNvPr id="5" name="Text 3"/>
          <p:cNvSpPr/>
          <p:nvPr/>
        </p:nvSpPr>
        <p:spPr>
          <a:xfrm>
            <a:off x="457200" y="777240"/>
            <a:ext cx="11274552" cy="640080"/>
          </a:xfrm>
          <a:prstGeom prst="rect">
            <a:avLst/>
          </a:prstGeom>
          <a:noFill/>
          <a:ln/>
        </p:spPr>
        <p:txBody>
          <a:bodyPr wrap="square" rtlCol="0" anchor="ctr"/>
          <a:lstStyle/>
          <a:p>
            <a:pPr indent="0" marL="0">
              <a:buNone/>
            </a:pPr>
            <a:r>
              <a:rPr lang="en-US" sz="2800" b="1" dirty="0">
                <a:solidFill>
                  <a:srgbClr val="1F2937"/>
                </a:solidFill>
                <a:latin typeface="Calibri" pitchFamily="34" charset="0"/>
                <a:ea typeface="Calibri" pitchFamily="34" charset="-122"/>
                <a:cs typeface="Calibri" pitchFamily="34" charset="-120"/>
              </a:rPr>
              <a:t>Sprint 1 — Core prompt + recording path (UC1, UC2 happy path)</a:t>
            </a:r>
            <a:endParaRPr lang="en-US" sz="2800" dirty="0"/>
          </a:p>
        </p:txBody>
      </p:sp>
      <p:sp>
        <p:nvSpPr>
          <p:cNvPr id="6" name="Text 4"/>
          <p:cNvSpPr/>
          <p:nvPr/>
        </p:nvSpPr>
        <p:spPr>
          <a:xfrm>
            <a:off x="457200" y="1280160"/>
            <a:ext cx="11274552" cy="274320"/>
          </a:xfrm>
          <a:prstGeom prst="rect">
            <a:avLst/>
          </a:prstGeom>
          <a:noFill/>
          <a:ln/>
        </p:spPr>
        <p:txBody>
          <a:bodyPr wrap="square"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Sprint features (must include min 3 NFRs):</a:t>
            </a:r>
            <a:endParaRPr lang="en-US" sz="1200" dirty="0"/>
          </a:p>
        </p:txBody>
      </p:sp>
      <p:sp>
        <p:nvSpPr>
          <p:cNvPr id="7" name="Text 5"/>
          <p:cNvSpPr/>
          <p:nvPr/>
        </p:nvSpPr>
        <p:spPr>
          <a:xfrm>
            <a:off x="457200" y="1554480"/>
            <a:ext cx="11274552" cy="1554480"/>
          </a:xfrm>
          <a:prstGeom prst="rect">
            <a:avLst/>
          </a:prstGeom>
          <a:noFill/>
          <a:ln/>
        </p:spPr>
        <p:txBody>
          <a:bodyPr wrap="square" rtlCol="0" anchor="t"/>
          <a:lstStyle/>
          <a:p>
            <a:pPr marL="342900" indent="-3429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FR1 — random speaking prompt</a:t>
            </a:r>
            <a:endParaRPr lang="en-US" sz="1100" dirty="0"/>
          </a:p>
          <a:p>
            <a:pPr marL="342900" indent="-3429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FR2 — start an impromptu speaking exercise</a:t>
            </a:r>
            <a:endParaRPr lang="en-US" sz="1100" dirty="0"/>
          </a:p>
          <a:p>
            <a:pPr marL="342900" indent="-3429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FR7 — create an account</a:t>
            </a:r>
            <a:endParaRPr lang="en-US" sz="1100" dirty="0"/>
          </a:p>
          <a:p>
            <a:pPr marL="342900" indent="-3429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NFR1 — respond within 5 s</a:t>
            </a:r>
            <a:endParaRPr lang="en-US" sz="1100" dirty="0"/>
          </a:p>
          <a:p>
            <a:pPr marL="342900" indent="-3429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NFR2 — learn help feature within 10 min</a:t>
            </a:r>
            <a:endParaRPr lang="en-US" sz="1100" dirty="0"/>
          </a:p>
          <a:p>
            <a:pPr marL="342900" indent="-3429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NFR3 — audio data stored only on user's account</a:t>
            </a:r>
            <a:endParaRPr lang="en-US" sz="1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3200400"/>
          <a:ext cx="11274552" cy="914400"/>
        </p:xfrm>
        <a:graphic>
          <a:graphicData uri="http://schemas.openxmlformats.org/drawingml/2006/table">
            <a:tbl>
              <a:tblPr/>
              <a:tblGrid>
                <a:gridCol w="640080"/>
                <a:gridCol w="3657600"/>
                <a:gridCol w="3657600"/>
                <a:gridCol w="3319272"/>
              </a:tblGrid>
              <a:tr h="0">
                <a:tc>
                  <a:txBody>
                    <a:bodyPr/>
                    <a:lstStyle/>
                    <a:p>
                      <a:pPr indent="0" marL="0">
                        <a:buNone/>
                      </a:pPr>
                      <a:r>
                        <a:rPr lang="en-US" sz="1000" b="1" dirty="0">
                          <a:solidFill>
                            <a:srgbClr val="1F2937"/>
                          </a:solidFill>
                          <a:latin typeface="Calibri" pitchFamily="34" charset="0"/>
                          <a:ea typeface="Calibri" pitchFamily="34" charset="-122"/>
                          <a:cs typeface="Calibri" pitchFamily="34" charset="-120"/>
                        </a:rPr>
                        <a:t>ID</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000" b="1" dirty="0">
                          <a:solidFill>
                            <a:srgbClr val="1F2937"/>
                          </a:solidFill>
                          <a:latin typeface="Calibri" pitchFamily="34" charset="0"/>
                          <a:ea typeface="Calibri" pitchFamily="34" charset="-122"/>
                          <a:cs typeface="Calibri" pitchFamily="34" charset="-120"/>
                        </a:rPr>
                        <a:t>Feature &amp; Description</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000" b="1" dirty="0">
                          <a:solidFill>
                            <a:srgbClr val="1F2937"/>
                          </a:solidFill>
                          <a:latin typeface="Calibri" pitchFamily="34" charset="0"/>
                          <a:ea typeface="Calibri" pitchFamily="34" charset="-122"/>
                          <a:cs typeface="Calibri" pitchFamily="34" charset="-120"/>
                        </a:rPr>
                        <a:t>Input Operations</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000" b="1" dirty="0">
                          <a:solidFill>
                            <a:srgbClr val="1F2937"/>
                          </a:solidFill>
                          <a:latin typeface="Calibri" pitchFamily="34" charset="0"/>
                          <a:ea typeface="Calibri" pitchFamily="34" charset="-122"/>
                          <a:cs typeface="Calibri" pitchFamily="34" charset="-120"/>
                        </a:rPr>
                        <a:t>Expected Output</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r>
              <a:tr h="0">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F1</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Generate Prompt — request a random topic</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Click Generate Prompt on TrainerView.</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A Prompt topic displayed (≤ 2 s).</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0">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F2</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Record Speech — record 30–60 s of audio</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Click Start. Speak. Click Stop.</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Live transcript during recording; AudioRecording + TranscriptSegments saved.</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0">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F3</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Create Account — new user signup</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Click Sign up. Enter email + password. Click Create.</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Account stored; user logged in.</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
        <p:nvSpPr>
          <p:cNvPr id="9" name="Text 6"/>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SpeakFlow — CS6005 Portfolio</a:t>
            </a:r>
            <a:endParaRPr lang="en-US" sz="900" dirty="0"/>
          </a:p>
        </p:txBody>
      </p:sp>
      <p:sp>
        <p:nvSpPr>
          <p:cNvPr id="10" name="Text 7"/>
          <p:cNvSpPr/>
          <p:nvPr/>
        </p:nvSpPr>
        <p:spPr>
          <a:xfrm>
            <a:off x="10972800" y="6492240"/>
            <a:ext cx="758952"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274320"/>
            <a:ext cx="9144000" cy="274320"/>
          </a:xfrm>
          <a:prstGeom prst="rect">
            <a:avLst/>
          </a:prstGeom>
          <a:noFill/>
          <a:ln/>
        </p:spPr>
        <p:txBody>
          <a:bodyPr wrap="square" rtlCol="0" anchor="ctr"/>
          <a:lstStyle/>
          <a:p>
            <a:pPr algn="l" indent="0" marL="0">
              <a:buNone/>
            </a:pPr>
            <a:r>
              <a:rPr lang="en-US" sz="1100" dirty="0">
                <a:solidFill>
                  <a:srgbClr val="6B7280"/>
                </a:solidFill>
                <a:latin typeface="Calibri" pitchFamily="34" charset="0"/>
                <a:ea typeface="Calibri" pitchFamily="34" charset="-122"/>
                <a:cs typeface="Calibri" pitchFamily="34" charset="-120"/>
              </a:rPr>
              <a:t>2.4  Sprint 2</a:t>
            </a:r>
            <a:endParaRPr lang="en-US" sz="1100" dirty="0"/>
          </a:p>
        </p:txBody>
      </p:sp>
      <p:sp>
        <p:nvSpPr>
          <p:cNvPr id="3" name="Text 1"/>
          <p:cNvSpPr/>
          <p:nvPr/>
        </p:nvSpPr>
        <p:spPr>
          <a:xfrm>
            <a:off x="9902952" y="274320"/>
            <a:ext cx="18288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Section 2 — 25%</a:t>
            </a:r>
            <a:endParaRPr lang="en-US" sz="1100" dirty="0"/>
          </a:p>
        </p:txBody>
      </p:sp>
      <p:sp>
        <p:nvSpPr>
          <p:cNvPr id="4" name="Shape 2"/>
          <p:cNvSpPr/>
          <p:nvPr/>
        </p:nvSpPr>
        <p:spPr>
          <a:xfrm>
            <a:off x="457200" y="594360"/>
            <a:ext cx="11274552" cy="0"/>
          </a:xfrm>
          <a:prstGeom prst="line">
            <a:avLst/>
          </a:prstGeom>
          <a:noFill/>
          <a:ln w="9525">
            <a:solidFill>
              <a:srgbClr val="D1D5DB"/>
            </a:solidFill>
            <a:prstDash val="solid"/>
          </a:ln>
        </p:spPr>
      </p:sp>
      <p:sp>
        <p:nvSpPr>
          <p:cNvPr id="5" name="Text 3"/>
          <p:cNvSpPr/>
          <p:nvPr/>
        </p:nvSpPr>
        <p:spPr>
          <a:xfrm>
            <a:off x="457200" y="777240"/>
            <a:ext cx="11274552" cy="640080"/>
          </a:xfrm>
          <a:prstGeom prst="rect">
            <a:avLst/>
          </a:prstGeom>
          <a:noFill/>
          <a:ln/>
        </p:spPr>
        <p:txBody>
          <a:bodyPr wrap="square" rtlCol="0" anchor="ctr"/>
          <a:lstStyle/>
          <a:p>
            <a:pPr indent="0" marL="0">
              <a:buNone/>
            </a:pPr>
            <a:r>
              <a:rPr lang="en-US" sz="2800" b="1" dirty="0">
                <a:solidFill>
                  <a:srgbClr val="1F2937"/>
                </a:solidFill>
                <a:latin typeface="Calibri" pitchFamily="34" charset="0"/>
                <a:ea typeface="Calibri" pitchFamily="34" charset="-122"/>
                <a:cs typeface="Calibri" pitchFamily="34" charset="-120"/>
              </a:rPr>
              <a:t>Sprint 2 — Analysis and dashboard (UC3)</a:t>
            </a:r>
            <a:endParaRPr lang="en-US" sz="2800" dirty="0"/>
          </a:p>
        </p:txBody>
      </p:sp>
      <p:sp>
        <p:nvSpPr>
          <p:cNvPr id="6" name="Text 4"/>
          <p:cNvSpPr/>
          <p:nvPr/>
        </p:nvSpPr>
        <p:spPr>
          <a:xfrm>
            <a:off x="457200" y="1280160"/>
            <a:ext cx="11274552" cy="274320"/>
          </a:xfrm>
          <a:prstGeom prst="rect">
            <a:avLst/>
          </a:prstGeom>
          <a:noFill/>
          <a:ln/>
        </p:spPr>
        <p:txBody>
          <a:bodyPr wrap="square"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Sprint features (must include min 3 NFRs):</a:t>
            </a:r>
            <a:endParaRPr lang="en-US" sz="1200" dirty="0"/>
          </a:p>
        </p:txBody>
      </p:sp>
      <p:sp>
        <p:nvSpPr>
          <p:cNvPr id="7" name="Text 5"/>
          <p:cNvSpPr/>
          <p:nvPr/>
        </p:nvSpPr>
        <p:spPr>
          <a:xfrm>
            <a:off x="457200" y="1554480"/>
            <a:ext cx="11274552" cy="1554480"/>
          </a:xfrm>
          <a:prstGeom prst="rect">
            <a:avLst/>
          </a:prstGeom>
          <a:noFill/>
          <a:ln/>
        </p:spPr>
        <p:txBody>
          <a:bodyPr wrap="square" rtlCol="0" anchor="t"/>
          <a:lstStyle/>
          <a:p>
            <a:pPr marL="342900" indent="-3429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FR3 — filler-word detection across a recording</a:t>
            </a:r>
            <a:endParaRPr lang="en-US" sz="1100" dirty="0"/>
          </a:p>
          <a:p>
            <a:pPr marL="342900" indent="-3429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FR5 — dashboard of filler-word progress</a:t>
            </a:r>
            <a:endParaRPr lang="en-US" sz="1100" dirty="0"/>
          </a:p>
          <a:p>
            <a:pPr marL="342900" indent="-3429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FR8 — topic-relevance analysis</a:t>
            </a:r>
            <a:endParaRPr lang="en-US" sz="1100" dirty="0"/>
          </a:p>
          <a:p>
            <a:pPr marL="342900" indent="-3429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NFR1 — response time ≤ 5 s</a:t>
            </a:r>
            <a:endParaRPr lang="en-US" sz="1100" dirty="0"/>
          </a:p>
          <a:p>
            <a:pPr marL="342900" indent="-3429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NFR4 — graceful degradation when AI service unavailable</a:t>
            </a:r>
            <a:endParaRPr lang="en-US" sz="1100" dirty="0"/>
          </a:p>
          <a:p>
            <a:pPr marL="342900" indent="-3429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NFR5 — WCAG 2.1 AA contrast</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3200400"/>
          <a:ext cx="11274552" cy="914400"/>
        </p:xfrm>
        <a:graphic>
          <a:graphicData uri="http://schemas.openxmlformats.org/drawingml/2006/table">
            <a:tbl>
              <a:tblPr/>
              <a:tblGrid>
                <a:gridCol w="640080"/>
                <a:gridCol w="3657600"/>
                <a:gridCol w="3657600"/>
                <a:gridCol w="3319272"/>
              </a:tblGrid>
              <a:tr h="0">
                <a:tc>
                  <a:txBody>
                    <a:bodyPr/>
                    <a:lstStyle/>
                    <a:p>
                      <a:pPr indent="0" marL="0">
                        <a:buNone/>
                      </a:pPr>
                      <a:r>
                        <a:rPr lang="en-US" sz="1000" b="1" dirty="0">
                          <a:solidFill>
                            <a:srgbClr val="1F2937"/>
                          </a:solidFill>
                          <a:latin typeface="Calibri" pitchFamily="34" charset="0"/>
                          <a:ea typeface="Calibri" pitchFamily="34" charset="-122"/>
                          <a:cs typeface="Calibri" pitchFamily="34" charset="-120"/>
                        </a:rPr>
                        <a:t>ID</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000" b="1" dirty="0">
                          <a:solidFill>
                            <a:srgbClr val="1F2937"/>
                          </a:solidFill>
                          <a:latin typeface="Calibri" pitchFamily="34" charset="0"/>
                          <a:ea typeface="Calibri" pitchFamily="34" charset="-122"/>
                          <a:cs typeface="Calibri" pitchFamily="34" charset="-120"/>
                        </a:rPr>
                        <a:t>Feature &amp; Description</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000" b="1" dirty="0">
                          <a:solidFill>
                            <a:srgbClr val="1F2937"/>
                          </a:solidFill>
                          <a:latin typeface="Calibri" pitchFamily="34" charset="0"/>
                          <a:ea typeface="Calibri" pitchFamily="34" charset="-122"/>
                          <a:cs typeface="Calibri" pitchFamily="34" charset="-120"/>
                        </a:rPr>
                        <a:t>Input Operations</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000" b="1" dirty="0">
                          <a:solidFill>
                            <a:srgbClr val="1F2937"/>
                          </a:solidFill>
                          <a:latin typeface="Calibri" pitchFamily="34" charset="0"/>
                          <a:ea typeface="Calibri" pitchFamily="34" charset="-122"/>
                          <a:cs typeface="Calibri" pitchFamily="34" charset="-120"/>
                        </a:rPr>
                        <a:t>Expected Output</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r>
              <a:tr h="0">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F4</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Analyse Recording — run AI analysis</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Click Analyse on a recording on DashboardView.</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SpeechAnalysis displayed: fillers, WPM, clarity %, relevance %, feedback.</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0">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F5</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View History — past DrillSessions</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Navigate to DashboardView.</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Chronological list with scores, charts, streak counter.</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0">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F6</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Change Password</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Click Change Password. Enter old + new.</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Password updated; confirmation banner.</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
        <p:nvSpPr>
          <p:cNvPr id="9" name="Text 6"/>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SpeakFlow — CS6005 Portfolio</a:t>
            </a:r>
            <a:endParaRPr lang="en-US" sz="900" dirty="0"/>
          </a:p>
        </p:txBody>
      </p:sp>
      <p:sp>
        <p:nvSpPr>
          <p:cNvPr id="10" name="Text 7"/>
          <p:cNvSpPr/>
          <p:nvPr/>
        </p:nvSpPr>
        <p:spPr>
          <a:xfrm>
            <a:off x="10972800" y="6492240"/>
            <a:ext cx="758952"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274320"/>
            <a:ext cx="9144000" cy="274320"/>
          </a:xfrm>
          <a:prstGeom prst="rect">
            <a:avLst/>
          </a:prstGeom>
          <a:noFill/>
          <a:ln/>
        </p:spPr>
        <p:txBody>
          <a:bodyPr wrap="square" rtlCol="0" anchor="ctr"/>
          <a:lstStyle/>
          <a:p>
            <a:pPr algn="l" indent="0" marL="0">
              <a:buNone/>
            </a:pPr>
            <a:r>
              <a:rPr lang="en-US" sz="1100" dirty="0">
                <a:solidFill>
                  <a:srgbClr val="6B7280"/>
                </a:solidFill>
                <a:latin typeface="Calibri" pitchFamily="34" charset="0"/>
                <a:ea typeface="Calibri" pitchFamily="34" charset="-122"/>
                <a:cs typeface="Calibri" pitchFamily="34" charset="-120"/>
              </a:rPr>
              <a:t>2.4  Sprint 3</a:t>
            </a:r>
            <a:endParaRPr lang="en-US" sz="1100" dirty="0"/>
          </a:p>
        </p:txBody>
      </p:sp>
      <p:sp>
        <p:nvSpPr>
          <p:cNvPr id="3" name="Text 1"/>
          <p:cNvSpPr/>
          <p:nvPr/>
        </p:nvSpPr>
        <p:spPr>
          <a:xfrm>
            <a:off x="9902952" y="274320"/>
            <a:ext cx="18288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Section 2 — 25%</a:t>
            </a:r>
            <a:endParaRPr lang="en-US" sz="1100" dirty="0"/>
          </a:p>
        </p:txBody>
      </p:sp>
      <p:sp>
        <p:nvSpPr>
          <p:cNvPr id="4" name="Shape 2"/>
          <p:cNvSpPr/>
          <p:nvPr/>
        </p:nvSpPr>
        <p:spPr>
          <a:xfrm>
            <a:off x="457200" y="594360"/>
            <a:ext cx="11274552" cy="0"/>
          </a:xfrm>
          <a:prstGeom prst="line">
            <a:avLst/>
          </a:prstGeom>
          <a:noFill/>
          <a:ln w="9525">
            <a:solidFill>
              <a:srgbClr val="D1D5DB"/>
            </a:solidFill>
            <a:prstDash val="solid"/>
          </a:ln>
        </p:spPr>
      </p:sp>
      <p:sp>
        <p:nvSpPr>
          <p:cNvPr id="5" name="Text 3"/>
          <p:cNvSpPr/>
          <p:nvPr/>
        </p:nvSpPr>
        <p:spPr>
          <a:xfrm>
            <a:off x="457200" y="777240"/>
            <a:ext cx="11274552" cy="640080"/>
          </a:xfrm>
          <a:prstGeom prst="rect">
            <a:avLst/>
          </a:prstGeom>
          <a:noFill/>
          <a:ln/>
        </p:spPr>
        <p:txBody>
          <a:bodyPr wrap="square" rtlCol="0" anchor="ctr"/>
          <a:lstStyle/>
          <a:p>
            <a:pPr indent="0" marL="0">
              <a:buNone/>
            </a:pPr>
            <a:r>
              <a:rPr lang="en-US" sz="2800" b="1" dirty="0">
                <a:solidFill>
                  <a:srgbClr val="1F2937"/>
                </a:solidFill>
                <a:latin typeface="Calibri" pitchFamily="34" charset="0"/>
                <a:ea typeface="Calibri" pitchFamily="34" charset="-122"/>
                <a:cs typeface="Calibri" pitchFamily="34" charset="-120"/>
              </a:rPr>
              <a:t>Sprint 3 — Teleprompter and account cleanup</a:t>
            </a:r>
            <a:endParaRPr lang="en-US" sz="2800" dirty="0"/>
          </a:p>
        </p:txBody>
      </p:sp>
      <p:sp>
        <p:nvSpPr>
          <p:cNvPr id="6" name="Text 4"/>
          <p:cNvSpPr/>
          <p:nvPr/>
        </p:nvSpPr>
        <p:spPr>
          <a:xfrm>
            <a:off x="457200" y="1280160"/>
            <a:ext cx="11274552" cy="274320"/>
          </a:xfrm>
          <a:prstGeom prst="rect">
            <a:avLst/>
          </a:prstGeom>
          <a:noFill/>
          <a:ln/>
        </p:spPr>
        <p:txBody>
          <a:bodyPr wrap="square"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Sprint features (must include min 3 NFRs):</a:t>
            </a:r>
            <a:endParaRPr lang="en-US" sz="1200" dirty="0"/>
          </a:p>
        </p:txBody>
      </p:sp>
      <p:sp>
        <p:nvSpPr>
          <p:cNvPr id="7" name="Text 5"/>
          <p:cNvSpPr/>
          <p:nvPr/>
        </p:nvSpPr>
        <p:spPr>
          <a:xfrm>
            <a:off x="457200" y="1554480"/>
            <a:ext cx="11274552" cy="1554480"/>
          </a:xfrm>
          <a:prstGeom prst="rect">
            <a:avLst/>
          </a:prstGeom>
          <a:noFill/>
          <a:ln/>
        </p:spPr>
        <p:txBody>
          <a:bodyPr wrap="square" rtlCol="0" anchor="t"/>
          <a:lstStyle/>
          <a:p>
            <a:pPr marL="342900" indent="-3429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FR6 — teleprompter at selectable scrolling speed</a:t>
            </a:r>
            <a:endParaRPr lang="en-US" sz="1100" dirty="0"/>
          </a:p>
          <a:p>
            <a:pPr marL="342900" indent="-3429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FR9 — delete account</a:t>
            </a:r>
            <a:endParaRPr lang="en-US" sz="1100" dirty="0"/>
          </a:p>
          <a:p>
            <a:pPr marL="342900" indent="-3429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NFR1 — response time ≤ 5 s</a:t>
            </a:r>
            <a:endParaRPr lang="en-US" sz="1100" dirty="0"/>
          </a:p>
          <a:p>
            <a:pPr marL="342900" indent="-3429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NFR2 — learnability ≤ 10 min</a:t>
            </a:r>
            <a:endParaRPr lang="en-US" sz="1100" dirty="0"/>
          </a:p>
          <a:p>
            <a:pPr marL="342900" indent="-3429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NFR3 — audio stored only on user's account</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3200400"/>
          <a:ext cx="11274552" cy="914400"/>
        </p:xfrm>
        <a:graphic>
          <a:graphicData uri="http://schemas.openxmlformats.org/drawingml/2006/table">
            <a:tbl>
              <a:tblPr/>
              <a:tblGrid>
                <a:gridCol w="640080"/>
                <a:gridCol w="3657600"/>
                <a:gridCol w="3657600"/>
                <a:gridCol w="3319272"/>
              </a:tblGrid>
              <a:tr h="0">
                <a:tc>
                  <a:txBody>
                    <a:bodyPr/>
                    <a:lstStyle/>
                    <a:p>
                      <a:pPr indent="0" marL="0">
                        <a:buNone/>
                      </a:pPr>
                      <a:r>
                        <a:rPr lang="en-US" sz="1000" b="1" dirty="0">
                          <a:solidFill>
                            <a:srgbClr val="1F2937"/>
                          </a:solidFill>
                          <a:latin typeface="Calibri" pitchFamily="34" charset="0"/>
                          <a:ea typeface="Calibri" pitchFamily="34" charset="-122"/>
                          <a:cs typeface="Calibri" pitchFamily="34" charset="-120"/>
                        </a:rPr>
                        <a:t>ID</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000" b="1" dirty="0">
                          <a:solidFill>
                            <a:srgbClr val="1F2937"/>
                          </a:solidFill>
                          <a:latin typeface="Calibri" pitchFamily="34" charset="0"/>
                          <a:ea typeface="Calibri" pitchFamily="34" charset="-122"/>
                          <a:cs typeface="Calibri" pitchFamily="34" charset="-120"/>
                        </a:rPr>
                        <a:t>Feature &amp; Description</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000" b="1" dirty="0">
                          <a:solidFill>
                            <a:srgbClr val="1F2937"/>
                          </a:solidFill>
                          <a:latin typeface="Calibri" pitchFamily="34" charset="0"/>
                          <a:ea typeface="Calibri" pitchFamily="34" charset="-122"/>
                          <a:cs typeface="Calibri" pitchFamily="34" charset="-120"/>
                        </a:rPr>
                        <a:t>Input Operations</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000" b="1" dirty="0">
                          <a:solidFill>
                            <a:srgbClr val="1F2937"/>
                          </a:solidFill>
                          <a:latin typeface="Calibri" pitchFamily="34" charset="0"/>
                          <a:ea typeface="Calibri" pitchFamily="34" charset="-122"/>
                          <a:cs typeface="Calibri" pitchFamily="34" charset="-120"/>
                        </a:rPr>
                        <a:t>Expected Output</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r>
              <a:tr h="0">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F7</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Teleprompter Mode — practise from a script</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Open TeleprompterView. Paste script. Pick WPM. Start.</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Script scrolls at selected WPM; transcript shows pacing accuracy.</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0">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F8</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Delete Account</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Click Delete Account. Confirm.</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Account + all DrillSessions deleted; user logged out.</a:t>
                      </a:r>
                      <a:endParaRPr lang="en-US" sz="10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
        <p:nvSpPr>
          <p:cNvPr id="9" name="Text 6"/>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SpeakFlow — CS6005 Portfolio</a:t>
            </a:r>
            <a:endParaRPr lang="en-US" sz="900" dirty="0"/>
          </a:p>
        </p:txBody>
      </p:sp>
      <p:sp>
        <p:nvSpPr>
          <p:cNvPr id="10" name="Text 7"/>
          <p:cNvSpPr/>
          <p:nvPr/>
        </p:nvSpPr>
        <p:spPr>
          <a:xfrm>
            <a:off x="10972800" y="6492240"/>
            <a:ext cx="758952"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468880"/>
            <a:ext cx="11274552" cy="457200"/>
          </a:xfrm>
          <a:prstGeom prst="rect">
            <a:avLst/>
          </a:prstGeom>
          <a:noFill/>
          <a:ln/>
        </p:spPr>
        <p:txBody>
          <a:bodyPr wrap="square" rtlCol="0" anchor="ctr"/>
          <a:lstStyle/>
          <a:p>
            <a:pPr indent="0" marL="0">
              <a:buNone/>
            </a:pPr>
            <a:r>
              <a:rPr lang="en-US" sz="1800" dirty="0">
                <a:solidFill>
                  <a:srgbClr val="6B7280"/>
                </a:solidFill>
                <a:latin typeface="Calibri" pitchFamily="34" charset="0"/>
                <a:ea typeface="Calibri" pitchFamily="34" charset="-122"/>
                <a:cs typeface="Calibri" pitchFamily="34" charset="-120"/>
              </a:rPr>
              <a:t>Section 3</a:t>
            </a:r>
            <a:endParaRPr lang="en-US" sz="1800" dirty="0"/>
          </a:p>
        </p:txBody>
      </p:sp>
      <p:sp>
        <p:nvSpPr>
          <p:cNvPr id="3" name="Text 1"/>
          <p:cNvSpPr/>
          <p:nvPr/>
        </p:nvSpPr>
        <p:spPr>
          <a:xfrm>
            <a:off x="457200" y="2926080"/>
            <a:ext cx="11274552" cy="914400"/>
          </a:xfrm>
          <a:prstGeom prst="rect">
            <a:avLst/>
          </a:prstGeom>
          <a:noFill/>
          <a:ln/>
        </p:spPr>
        <p:txBody>
          <a:bodyPr wrap="square" rtlCol="0" anchor="ctr"/>
          <a:lstStyle/>
          <a:p>
            <a:pPr indent="0" marL="0">
              <a:buNone/>
            </a:pPr>
            <a:r>
              <a:rPr lang="en-US" sz="4800" b="1" dirty="0">
                <a:solidFill>
                  <a:srgbClr val="1F2937"/>
                </a:solidFill>
                <a:latin typeface="Calibri" pitchFamily="34" charset="0"/>
                <a:ea typeface="Calibri" pitchFamily="34" charset="-122"/>
                <a:cs typeface="Calibri" pitchFamily="34" charset="-120"/>
              </a:rPr>
              <a:t>Architecture &amp; OO Design</a:t>
            </a:r>
            <a:endParaRPr lang="en-US" sz="4800" dirty="0"/>
          </a:p>
        </p:txBody>
      </p:sp>
      <p:sp>
        <p:nvSpPr>
          <p:cNvPr id="4" name="Shape 2"/>
          <p:cNvSpPr/>
          <p:nvPr/>
        </p:nvSpPr>
        <p:spPr>
          <a:xfrm>
            <a:off x="457200" y="3931920"/>
            <a:ext cx="3200400" cy="0"/>
          </a:xfrm>
          <a:prstGeom prst="line">
            <a:avLst/>
          </a:prstGeom>
          <a:noFill/>
          <a:ln w="19050">
            <a:solidFill>
              <a:srgbClr val="1F2937"/>
            </a:solidFill>
            <a:prstDash val="solid"/>
          </a:ln>
        </p:spPr>
      </p:sp>
      <p:sp>
        <p:nvSpPr>
          <p:cNvPr id="5" name="Text 3"/>
          <p:cNvSpPr/>
          <p:nvPr/>
        </p:nvSpPr>
        <p:spPr>
          <a:xfrm>
            <a:off x="457200" y="4023360"/>
            <a:ext cx="11274552" cy="365760"/>
          </a:xfrm>
          <a:prstGeom prst="rect">
            <a:avLst/>
          </a:prstGeom>
          <a:noFill/>
          <a:ln/>
        </p:spPr>
        <p:txBody>
          <a:bodyPr wrap="square" rtlCol="0" anchor="ctr"/>
          <a:lstStyle/>
          <a:p>
            <a:pPr indent="0" marL="0">
              <a:buNone/>
            </a:pPr>
            <a:r>
              <a:rPr lang="en-US" sz="1600" dirty="0">
                <a:solidFill>
                  <a:srgbClr val="6B7280"/>
                </a:solidFill>
                <a:latin typeface="Calibri" pitchFamily="34" charset="0"/>
                <a:ea typeface="Calibri" pitchFamily="34" charset="-122"/>
                <a:cs typeface="Calibri" pitchFamily="34" charset="-120"/>
              </a:rPr>
              <a:t>25%</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274320"/>
            <a:ext cx="9144000" cy="274320"/>
          </a:xfrm>
          <a:prstGeom prst="rect">
            <a:avLst/>
          </a:prstGeom>
          <a:noFill/>
          <a:ln/>
        </p:spPr>
        <p:txBody>
          <a:bodyPr wrap="square" rtlCol="0" anchor="ctr"/>
          <a:lstStyle/>
          <a:p>
            <a:pPr algn="l" indent="0" marL="0">
              <a:buNone/>
            </a:pPr>
            <a:r>
              <a:rPr lang="en-US" sz="1100" dirty="0">
                <a:solidFill>
                  <a:srgbClr val="6B7280"/>
                </a:solidFill>
                <a:latin typeface="Calibri" pitchFamily="34" charset="0"/>
                <a:ea typeface="Calibri" pitchFamily="34" charset="-122"/>
                <a:cs typeface="Calibri" pitchFamily="34" charset="-120"/>
              </a:rPr>
              <a:t>3.1  Architecture Style</a:t>
            </a:r>
            <a:endParaRPr lang="en-US" sz="1100" dirty="0"/>
          </a:p>
        </p:txBody>
      </p:sp>
      <p:sp>
        <p:nvSpPr>
          <p:cNvPr id="3" name="Text 1"/>
          <p:cNvSpPr/>
          <p:nvPr/>
        </p:nvSpPr>
        <p:spPr>
          <a:xfrm>
            <a:off x="9902952" y="274320"/>
            <a:ext cx="18288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Section 3 — 25%</a:t>
            </a:r>
            <a:endParaRPr lang="en-US" sz="1100" dirty="0"/>
          </a:p>
        </p:txBody>
      </p:sp>
      <p:sp>
        <p:nvSpPr>
          <p:cNvPr id="4" name="Shape 2"/>
          <p:cNvSpPr/>
          <p:nvPr/>
        </p:nvSpPr>
        <p:spPr>
          <a:xfrm>
            <a:off x="457200" y="594360"/>
            <a:ext cx="11274552" cy="0"/>
          </a:xfrm>
          <a:prstGeom prst="line">
            <a:avLst/>
          </a:prstGeom>
          <a:noFill/>
          <a:ln w="9525">
            <a:solidFill>
              <a:srgbClr val="D1D5DB"/>
            </a:solidFill>
            <a:prstDash val="solid"/>
          </a:ln>
        </p:spPr>
      </p:sp>
      <p:sp>
        <p:nvSpPr>
          <p:cNvPr id="5" name="Text 3"/>
          <p:cNvSpPr/>
          <p:nvPr/>
        </p:nvSpPr>
        <p:spPr>
          <a:xfrm>
            <a:off x="457200" y="777240"/>
            <a:ext cx="11274552" cy="640080"/>
          </a:xfrm>
          <a:prstGeom prst="rect">
            <a:avLst/>
          </a:prstGeom>
          <a:noFill/>
          <a:ln/>
        </p:spPr>
        <p:txBody>
          <a:bodyPr wrap="square" rtlCol="0" anchor="ctr"/>
          <a:lstStyle/>
          <a:p>
            <a:pPr indent="0" marL="0">
              <a:buNone/>
            </a:pPr>
            <a:r>
              <a:rPr lang="en-US" sz="2800" b="1" dirty="0">
                <a:solidFill>
                  <a:srgbClr val="1F2937"/>
                </a:solidFill>
                <a:latin typeface="Calibri" pitchFamily="34" charset="0"/>
                <a:ea typeface="Calibri" pitchFamily="34" charset="-122"/>
                <a:cs typeface="Calibri" pitchFamily="34" charset="-120"/>
              </a:rPr>
              <a:t>MVC + Pipe-and-Filter — two styles, two levels</a:t>
            </a:r>
            <a:endParaRPr lang="en-US" sz="2800" dirty="0"/>
          </a:p>
        </p:txBody>
      </p:sp>
      <p:sp>
        <p:nvSpPr>
          <p:cNvPr id="6" name="Text 4"/>
          <p:cNvSpPr/>
          <p:nvPr/>
        </p:nvSpPr>
        <p:spPr>
          <a:xfrm>
            <a:off x="457200" y="1554480"/>
            <a:ext cx="11274552" cy="4754880"/>
          </a:xfrm>
          <a:prstGeom prst="rect">
            <a:avLst/>
          </a:prstGeom>
          <a:noFill/>
          <a:ln/>
        </p:spPr>
        <p:txBody>
          <a:bodyPr wrap="square" rtlCol="0" anchor="t"/>
          <a:lstStyle/>
          <a:p>
            <a:pPr indent="0" marL="0">
              <a:spcAft>
                <a:spcPts val="600"/>
              </a:spcAft>
              <a:buNone/>
            </a:pPr>
            <a:r>
              <a:rPr lang="en-US" sz="1300" dirty="0">
                <a:solidFill>
                  <a:srgbClr val="1F2937"/>
                </a:solidFill>
                <a:latin typeface="Calibri" pitchFamily="34" charset="0"/>
                <a:ea typeface="Calibri" pitchFamily="34" charset="-122"/>
                <a:cs typeface="Calibri" pitchFamily="34" charset="-120"/>
              </a:rPr>
              <a:t>SpeakFlow uses two complementary architectural styles at two different levels of abstraction.</a:t>
            </a:r>
            <a:endParaRPr lang="en-US" sz="1300" dirty="0"/>
          </a:p>
          <a:p>
            <a:pPr indent="0" marL="0">
              <a:spcAft>
                <a:spcPts val="600"/>
              </a:spcAft>
              <a:buNone/>
            </a:pPr>
            <a:endParaRPr lang="en-US" sz="1300" dirty="0"/>
          </a:p>
          <a:p>
            <a:pPr indent="0" marL="0">
              <a:spcAft>
                <a:spcPts val="600"/>
              </a:spcAft>
              <a:buNone/>
            </a:pPr>
            <a:r>
              <a:rPr lang="en-US" sz="1300" dirty="0">
                <a:solidFill>
                  <a:srgbClr val="1F2937"/>
                </a:solidFill>
                <a:latin typeface="Calibri" pitchFamily="34" charset="0"/>
                <a:ea typeface="Calibri" pitchFamily="34" charset="-122"/>
                <a:cs typeface="Calibri" pitchFamily="34" charset="-120"/>
              </a:rPr>
              <a:t>At the OO design level: Model–View–Controller. Every class belongs to one of four groups — Views, Controllers, Models, or External services — and responsibilities don't cross the lines. This organises the class diagram (Section 3.3).</a:t>
            </a:r>
            <a:endParaRPr lang="en-US" sz="1300" dirty="0"/>
          </a:p>
          <a:p>
            <a:pPr indent="0" marL="0">
              <a:spcAft>
                <a:spcPts val="600"/>
              </a:spcAft>
              <a:buNone/>
            </a:pPr>
            <a:endParaRPr lang="en-US" sz="1300" dirty="0"/>
          </a:p>
          <a:p>
            <a:pPr indent="0" marL="0">
              <a:spcAft>
                <a:spcPts val="600"/>
              </a:spcAft>
              <a:buNone/>
            </a:pPr>
            <a:r>
              <a:rPr lang="en-US" sz="1300" dirty="0">
                <a:solidFill>
                  <a:srgbClr val="1F2937"/>
                </a:solidFill>
                <a:latin typeface="Calibri" pitchFamily="34" charset="0"/>
                <a:ea typeface="Calibri" pitchFamily="34" charset="-122"/>
                <a:cs typeface="Calibri" pitchFamily="34" charset="-120"/>
              </a:rPr>
              <a:t>At the runtime data-flow level: Pipe-and-Filter. The voice → feedback transformation is captured, transcribed, normalised, scanned for fillers, aggregated, scored by AI, formatted for display. Each step is a filter. This organises the architecture diagram (Section 3.2).</a:t>
            </a:r>
            <a:endParaRPr lang="en-US" sz="1300" dirty="0"/>
          </a:p>
          <a:p>
            <a:pPr indent="0" marL="0">
              <a:spcAft>
                <a:spcPts val="600"/>
              </a:spcAft>
              <a:buNone/>
            </a:pPr>
            <a:endParaRPr lang="en-US" sz="1300" dirty="0"/>
          </a:p>
          <a:p>
            <a:pPr indent="0" marL="0">
              <a:spcAft>
                <a:spcPts val="600"/>
              </a:spcAft>
              <a:buNone/>
            </a:pPr>
            <a:r>
              <a:rPr lang="en-US" sz="1300" dirty="0">
                <a:solidFill>
                  <a:srgbClr val="1F2937"/>
                </a:solidFill>
                <a:latin typeface="Calibri" pitchFamily="34" charset="0"/>
                <a:ea typeface="Calibri" pitchFamily="34" charset="-122"/>
                <a:cs typeface="Calibri" pitchFamily="34" charset="-120"/>
              </a:rPr>
              <a:t>MVC is about who owns what; Pipe-and-Filter is about how data moves. The External service layer in MVC = the chain of filters in P&amp;F.</a:t>
            </a:r>
            <a:endParaRPr lang="en-US" sz="1300" dirty="0"/>
          </a:p>
        </p:txBody>
      </p:sp>
      <p:sp>
        <p:nvSpPr>
          <p:cNvPr id="7" name="Text 5"/>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SpeakFlow — CS6005 Portfolio</a:t>
            </a:r>
            <a:endParaRPr lang="en-US" sz="900" dirty="0"/>
          </a:p>
        </p:txBody>
      </p:sp>
      <p:sp>
        <p:nvSpPr>
          <p:cNvPr id="8" name="Text 6"/>
          <p:cNvSpPr/>
          <p:nvPr/>
        </p:nvSpPr>
        <p:spPr>
          <a:xfrm>
            <a:off x="10972800" y="6492240"/>
            <a:ext cx="758952"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274320"/>
            <a:ext cx="9144000" cy="274320"/>
          </a:xfrm>
          <a:prstGeom prst="rect">
            <a:avLst/>
          </a:prstGeom>
          <a:noFill/>
          <a:ln/>
        </p:spPr>
        <p:txBody>
          <a:bodyPr wrap="square" rtlCol="0" anchor="ctr"/>
          <a:lstStyle/>
          <a:p>
            <a:pPr algn="l" indent="0" marL="0">
              <a:buNone/>
            </a:pPr>
            <a:r>
              <a:rPr lang="en-US" sz="1100" dirty="0">
                <a:solidFill>
                  <a:srgbClr val="6B7280"/>
                </a:solidFill>
                <a:latin typeface="Calibri" pitchFamily="34" charset="0"/>
                <a:ea typeface="Calibri" pitchFamily="34" charset="-122"/>
                <a:cs typeface="Calibri" pitchFamily="34" charset="-120"/>
              </a:rPr>
              <a:t>3.1  Architectural Goals &amp; Justification</a:t>
            </a:r>
            <a:endParaRPr lang="en-US" sz="1100" dirty="0"/>
          </a:p>
        </p:txBody>
      </p:sp>
      <p:sp>
        <p:nvSpPr>
          <p:cNvPr id="3" name="Text 1"/>
          <p:cNvSpPr/>
          <p:nvPr/>
        </p:nvSpPr>
        <p:spPr>
          <a:xfrm>
            <a:off x="9902952" y="274320"/>
            <a:ext cx="18288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Section 3 — 25%</a:t>
            </a:r>
            <a:endParaRPr lang="en-US" sz="1100" dirty="0"/>
          </a:p>
        </p:txBody>
      </p:sp>
      <p:sp>
        <p:nvSpPr>
          <p:cNvPr id="4" name="Shape 2"/>
          <p:cNvSpPr/>
          <p:nvPr/>
        </p:nvSpPr>
        <p:spPr>
          <a:xfrm>
            <a:off x="457200" y="594360"/>
            <a:ext cx="11274552" cy="0"/>
          </a:xfrm>
          <a:prstGeom prst="line">
            <a:avLst/>
          </a:prstGeom>
          <a:noFill/>
          <a:ln w="9525">
            <a:solidFill>
              <a:srgbClr val="D1D5DB"/>
            </a:solidFill>
            <a:prstDash val="solid"/>
          </a:ln>
        </p:spPr>
      </p:sp>
      <p:sp>
        <p:nvSpPr>
          <p:cNvPr id="5" name="Text 3"/>
          <p:cNvSpPr/>
          <p:nvPr/>
        </p:nvSpPr>
        <p:spPr>
          <a:xfrm>
            <a:off x="457200" y="777240"/>
            <a:ext cx="11274552" cy="640080"/>
          </a:xfrm>
          <a:prstGeom prst="rect">
            <a:avLst/>
          </a:prstGeom>
          <a:noFill/>
          <a:ln/>
        </p:spPr>
        <p:txBody>
          <a:bodyPr wrap="square" rtlCol="0" anchor="ctr"/>
          <a:lstStyle/>
          <a:p>
            <a:pPr indent="0" marL="0">
              <a:buNone/>
            </a:pPr>
            <a:r>
              <a:rPr lang="en-US" sz="2800" b="1" dirty="0">
                <a:solidFill>
                  <a:srgbClr val="1F2937"/>
                </a:solidFill>
                <a:latin typeface="Calibri" pitchFamily="34" charset="0"/>
                <a:ea typeface="Calibri" pitchFamily="34" charset="-122"/>
                <a:cs typeface="Calibri" pitchFamily="34" charset="-120"/>
              </a:rPr>
              <a:t>Goals addressed, why this combination</a:t>
            </a:r>
            <a:endParaRPr lang="en-US" sz="28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828800"/>
                <a:gridCol w="9445752"/>
              </a:tblGrid>
              <a:tr h="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Goal</a:t>
                      </a:r>
                      <a:endParaRPr lang="en-US" sz="11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How SpeakFlow achieves it</a:t>
                      </a:r>
                      <a:endParaRPr lang="en-US" sz="11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Re-use</a:t>
                      </a:r>
                      <a:endParaRPr lang="en-US" sz="11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External services can be re-used by other features (e.g. Teleprompter) without change.</a:t>
                      </a:r>
                      <a:endParaRPr lang="en-US" sz="11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0">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Composition</a:t>
                      </a:r>
                      <a:endParaRPr lang="en-US" sz="11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Filters in the audio pipeline can be reordered or swapped without touching View/Model layers.</a:t>
                      </a:r>
                      <a:endParaRPr lang="en-US" sz="11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0">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Incremental</a:t>
                      </a:r>
                      <a:endParaRPr lang="en-US" sz="11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Live filler detection + transcript display happen while the user is still speaking.</a:t>
                      </a:r>
                      <a:endParaRPr lang="en-US" sz="11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0">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Parallelism</a:t>
                      </a:r>
                      <a:endParaRPr lang="en-US" sz="11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Filler detection + transcript store run on the same stream concurrently.</a:t>
                      </a:r>
                      <a:endParaRPr lang="en-US" sz="11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0">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Separation</a:t>
                      </a:r>
                      <a:endParaRPr lang="en-US" sz="11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UI bug cannot corrupt analysis logic; AI service change cannot corrupt UI state.</a:t>
                      </a:r>
                      <a:endParaRPr lang="en-US" sz="11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
        <p:nvSpPr>
          <p:cNvPr id="7" name="Text 4"/>
          <p:cNvSpPr/>
          <p:nvPr/>
        </p:nvSpPr>
        <p:spPr>
          <a:xfrm>
            <a:off x="457200" y="4023360"/>
            <a:ext cx="11274552" cy="274320"/>
          </a:xfrm>
          <a:prstGeom prst="rect">
            <a:avLst/>
          </a:prstGeom>
          <a:noFill/>
          <a:ln/>
        </p:spPr>
        <p:txBody>
          <a:bodyPr wrap="square"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Why this combination</a:t>
            </a:r>
            <a:endParaRPr lang="en-US" sz="1400" dirty="0"/>
          </a:p>
        </p:txBody>
      </p:sp>
      <p:sp>
        <p:nvSpPr>
          <p:cNvPr id="8" name="Text 5"/>
          <p:cNvSpPr/>
          <p:nvPr/>
        </p:nvSpPr>
        <p:spPr>
          <a:xfrm>
            <a:off x="457200" y="4297680"/>
            <a:ext cx="11274552" cy="1188720"/>
          </a:xfrm>
          <a:prstGeom prst="rect">
            <a:avLst/>
          </a:prstGeom>
          <a:noFill/>
          <a:ln/>
        </p:spPr>
        <p:txBody>
          <a:bodyPr wrap="square" rtlCol="0" anchor="ctr"/>
          <a:lstStyle/>
          <a:p>
            <a:pPr indent="0" marL="0">
              <a:buNone/>
            </a:pPr>
            <a:r>
              <a:rPr lang="en-US" sz="1200" dirty="0">
                <a:solidFill>
                  <a:srgbClr val="1F2937"/>
                </a:solidFill>
                <a:latin typeface="Calibri" pitchFamily="34" charset="0"/>
                <a:ea typeface="Calibri" pitchFamily="34" charset="-122"/>
                <a:cs typeface="Calibri" pitchFamily="34" charset="-120"/>
              </a:rPr>
              <a:t>SpeakFlow is fundamentally a tool for transforming speech into feedback — that core feature is a data-flow problem (P&amp;F). Meanwhile the rest of the system (pages, buttons, controllers, schema) is a conventional interactive app, where MVC is the standard well-understood choice.</a:t>
            </a:r>
            <a:endParaRPr lang="en-US" sz="1200" dirty="0"/>
          </a:p>
        </p:txBody>
      </p:sp>
      <p:sp>
        <p:nvSpPr>
          <p:cNvPr id="9" name="Text 6"/>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SpeakFlow — CS6005 Portfolio</a:t>
            </a:r>
            <a:endParaRPr lang="en-US" sz="900" dirty="0"/>
          </a:p>
        </p:txBody>
      </p:sp>
      <p:sp>
        <p:nvSpPr>
          <p:cNvPr id="10" name="Text 7"/>
          <p:cNvSpPr/>
          <p:nvPr/>
        </p:nvSpPr>
        <p:spPr>
          <a:xfrm>
            <a:off x="10972800" y="6492240"/>
            <a:ext cx="758952"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274320"/>
            <a:ext cx="9144000" cy="274320"/>
          </a:xfrm>
          <a:prstGeom prst="rect">
            <a:avLst/>
          </a:prstGeom>
          <a:noFill/>
          <a:ln/>
        </p:spPr>
        <p:txBody>
          <a:bodyPr wrap="square" rtlCol="0" anchor="ctr"/>
          <a:lstStyle/>
          <a:p>
            <a:pPr algn="l" indent="0" marL="0">
              <a:buNone/>
            </a:pPr>
            <a:r>
              <a:rPr lang="en-US" sz="1100" dirty="0">
                <a:solidFill>
                  <a:srgbClr val="6B7280"/>
                </a:solidFill>
                <a:latin typeface="Calibri" pitchFamily="34" charset="0"/>
                <a:ea typeface="Calibri" pitchFamily="34" charset="-122"/>
                <a:cs typeface="Calibri" pitchFamily="34" charset="-120"/>
              </a:rPr>
              <a:t>3.1  Limitations of Pipe-and-Filter</a:t>
            </a:r>
            <a:endParaRPr lang="en-US" sz="1100" dirty="0"/>
          </a:p>
        </p:txBody>
      </p:sp>
      <p:sp>
        <p:nvSpPr>
          <p:cNvPr id="3" name="Text 1"/>
          <p:cNvSpPr/>
          <p:nvPr/>
        </p:nvSpPr>
        <p:spPr>
          <a:xfrm>
            <a:off x="9902952" y="274320"/>
            <a:ext cx="18288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Section 3 — 25%</a:t>
            </a:r>
            <a:endParaRPr lang="en-US" sz="1100" dirty="0"/>
          </a:p>
        </p:txBody>
      </p:sp>
      <p:sp>
        <p:nvSpPr>
          <p:cNvPr id="4" name="Shape 2"/>
          <p:cNvSpPr/>
          <p:nvPr/>
        </p:nvSpPr>
        <p:spPr>
          <a:xfrm>
            <a:off x="457200" y="594360"/>
            <a:ext cx="11274552" cy="0"/>
          </a:xfrm>
          <a:prstGeom prst="line">
            <a:avLst/>
          </a:prstGeom>
          <a:noFill/>
          <a:ln w="9525">
            <a:solidFill>
              <a:srgbClr val="D1D5DB"/>
            </a:solidFill>
            <a:prstDash val="solid"/>
          </a:ln>
        </p:spPr>
      </p:sp>
      <p:sp>
        <p:nvSpPr>
          <p:cNvPr id="5" name="Text 3"/>
          <p:cNvSpPr/>
          <p:nvPr/>
        </p:nvSpPr>
        <p:spPr>
          <a:xfrm>
            <a:off x="457200" y="777240"/>
            <a:ext cx="11274552" cy="640080"/>
          </a:xfrm>
          <a:prstGeom prst="rect">
            <a:avLst/>
          </a:prstGeom>
          <a:noFill/>
          <a:ln/>
        </p:spPr>
        <p:txBody>
          <a:bodyPr wrap="square" rtlCol="0" anchor="ctr"/>
          <a:lstStyle/>
          <a:p>
            <a:pPr indent="0" marL="0">
              <a:buNone/>
            </a:pPr>
            <a:r>
              <a:rPr lang="en-US" sz="2800" b="1" dirty="0">
                <a:solidFill>
                  <a:srgbClr val="1F2937"/>
                </a:solidFill>
                <a:latin typeface="Calibri" pitchFamily="34" charset="0"/>
                <a:ea typeface="Calibri" pitchFamily="34" charset="-122"/>
                <a:cs typeface="Calibri" pitchFamily="34" charset="-120"/>
              </a:rPr>
              <a:t>Honest pros and cons</a:t>
            </a:r>
            <a:endParaRPr lang="en-US" sz="28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11274552" cy="914400"/>
        </p:xfrm>
        <a:graphic>
          <a:graphicData uri="http://schemas.openxmlformats.org/drawingml/2006/table">
            <a:tbl>
              <a:tblPr/>
              <a:tblGrid>
                <a:gridCol w="5632704"/>
                <a:gridCol w="5641848"/>
              </a:tblGrid>
              <a:tr h="914400">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Strength</a:t>
                      </a:r>
                      <a:endParaRPr lang="en-US" sz="12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Weakness</a:t>
                      </a:r>
                      <a:endParaRPr lang="en-US" sz="12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r>
              <a:tr h="91440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Easy to follow what enters each component and what transform happens.</a:t>
                      </a:r>
                      <a:endParaRPr lang="en-US" sz="12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DataRepository isn't really a filter — it sits outside and is read/written from multiple points.</a:t>
                      </a:r>
                      <a:endParaRPr lang="en-US" sz="12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91440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Separates concerns — each filter performs a single transform.</a:t>
                      </a:r>
                      <a:endParaRPr lang="en-US" sz="12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Feedback loops (e.g. forced-restart on fillers) are hard to show in a strictly linear diagram.</a:t>
                      </a:r>
                      <a:endParaRPr lang="en-US" sz="12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91440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Supports parallelism (filler detection &amp; transcript store run concurrently).</a:t>
                      </a:r>
                      <a:endParaRPr lang="en-US" sz="12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Can be misleading — suggests sequential transforms when some parts are asynchronous.</a:t>
                      </a:r>
                      <a:endParaRPr lang="en-US" sz="1200" dirty="0">
                        <a:latin typeface="Calibri" charset="0"/>
                        <a:ea typeface="Calibri" charset="0"/>
                        <a:cs typeface="Calibri" charset="0"/>
                      </a:endParaRPr>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
        <p:nvSpPr>
          <p:cNvPr id="7" name="Text 4"/>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SpeakFlow — CS6005 Portfolio</a:t>
            </a:r>
            <a:endParaRPr lang="en-US" sz="900" dirty="0"/>
          </a:p>
        </p:txBody>
      </p:sp>
      <p:sp>
        <p:nvSpPr>
          <p:cNvPr id="8" name="Text 5"/>
          <p:cNvSpPr/>
          <p:nvPr/>
        </p:nvSpPr>
        <p:spPr>
          <a:xfrm>
            <a:off x="10972800" y="6492240"/>
            <a:ext cx="758952"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274320"/>
            <a:ext cx="9144000" cy="274320"/>
          </a:xfrm>
          <a:prstGeom prst="rect">
            <a:avLst/>
          </a:prstGeom>
          <a:noFill/>
          <a:ln/>
        </p:spPr>
        <p:txBody>
          <a:bodyPr wrap="square" rtlCol="0" anchor="ctr"/>
          <a:lstStyle/>
          <a:p>
            <a:pPr algn="l" indent="0" marL="0">
              <a:buNone/>
            </a:pPr>
            <a:r>
              <a:rPr lang="en-US" sz="1100" dirty="0">
                <a:solidFill>
                  <a:srgbClr val="6B7280"/>
                </a:solidFill>
                <a:latin typeface="Calibri" pitchFamily="34" charset="0"/>
                <a:ea typeface="Calibri" pitchFamily="34" charset="-122"/>
                <a:cs typeface="Calibri" pitchFamily="34" charset="-120"/>
              </a:rPr>
              <a:t>3.2  Architecture Diagram — Pipe and Filter</a:t>
            </a:r>
            <a:endParaRPr lang="en-US" sz="1100" dirty="0"/>
          </a:p>
        </p:txBody>
      </p:sp>
      <p:sp>
        <p:nvSpPr>
          <p:cNvPr id="3" name="Text 1"/>
          <p:cNvSpPr/>
          <p:nvPr/>
        </p:nvSpPr>
        <p:spPr>
          <a:xfrm>
            <a:off x="9902952" y="274320"/>
            <a:ext cx="18288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Section 3 — 25%</a:t>
            </a:r>
            <a:endParaRPr lang="en-US" sz="1100" dirty="0"/>
          </a:p>
        </p:txBody>
      </p:sp>
      <p:sp>
        <p:nvSpPr>
          <p:cNvPr id="4" name="Shape 2"/>
          <p:cNvSpPr/>
          <p:nvPr/>
        </p:nvSpPr>
        <p:spPr>
          <a:xfrm>
            <a:off x="457200" y="594360"/>
            <a:ext cx="11274552" cy="0"/>
          </a:xfrm>
          <a:prstGeom prst="line">
            <a:avLst/>
          </a:prstGeom>
          <a:noFill/>
          <a:ln w="9525">
            <a:solidFill>
              <a:srgbClr val="D1D5DB"/>
            </a:solidFill>
            <a:prstDash val="solid"/>
          </a:ln>
        </p:spPr>
      </p:sp>
      <p:sp>
        <p:nvSpPr>
          <p:cNvPr id="5" name="Text 3"/>
          <p:cNvSpPr/>
          <p:nvPr/>
        </p:nvSpPr>
        <p:spPr>
          <a:xfrm>
            <a:off x="457200" y="777240"/>
            <a:ext cx="11274552" cy="640080"/>
          </a:xfrm>
          <a:prstGeom prst="rect">
            <a:avLst/>
          </a:prstGeom>
          <a:noFill/>
          <a:ln/>
        </p:spPr>
        <p:txBody>
          <a:bodyPr wrap="square" rtlCol="0" anchor="ctr"/>
          <a:lstStyle/>
          <a:p>
            <a:pPr indent="0" marL="0">
              <a:buNone/>
            </a:pPr>
            <a:r>
              <a:rPr lang="en-US" sz="2800" b="1" dirty="0">
                <a:solidFill>
                  <a:srgbClr val="1F2937"/>
                </a:solidFill>
                <a:latin typeface="Calibri" pitchFamily="34" charset="0"/>
                <a:ea typeface="Calibri" pitchFamily="34" charset="-122"/>
                <a:cs typeface="Calibri" pitchFamily="34" charset="-120"/>
              </a:rPr>
              <a:t>Runtime data flow: audio → feedback</a:t>
            </a:r>
            <a:endParaRPr lang="en-US" sz="2800" dirty="0"/>
          </a:p>
        </p:txBody>
      </p:sp>
      <p:sp>
        <p:nvSpPr>
          <p:cNvPr id="6" name="Shape 4"/>
          <p:cNvSpPr/>
          <p:nvPr/>
        </p:nvSpPr>
        <p:spPr>
          <a:xfrm>
            <a:off x="457200" y="1463040"/>
            <a:ext cx="11274552" cy="4023360"/>
          </a:xfrm>
          <a:prstGeom prst="rect">
            <a:avLst/>
          </a:prstGeom>
          <a:solidFill>
            <a:srgbClr val="FAFAFA"/>
          </a:solidFill>
          <a:ln w="12700">
            <a:solidFill>
              <a:srgbClr val="D1D5DB"/>
            </a:solidFill>
            <a:prstDash val="dash"/>
          </a:ln>
        </p:spPr>
      </p:sp>
      <p:sp>
        <p:nvSpPr>
          <p:cNvPr id="7" name="Text 5"/>
          <p:cNvSpPr/>
          <p:nvPr/>
        </p:nvSpPr>
        <p:spPr>
          <a:xfrm>
            <a:off x="457200" y="1463040"/>
            <a:ext cx="11274552" cy="4023360"/>
          </a:xfrm>
          <a:prstGeom prst="rect">
            <a:avLst/>
          </a:prstGeom>
          <a:noFill/>
          <a:ln/>
        </p:spPr>
        <p:txBody>
          <a:bodyPr wrap="square" rtlCol="0" anchor="ctr"/>
          <a:lstStyle/>
          <a:p>
            <a:pPr algn="ctr" indent="0" marL="0">
              <a:buNone/>
            </a:pPr>
            <a:r>
              <a:rPr lang="en-US" sz="1300" i="1" dirty="0">
                <a:solidFill>
                  <a:srgbClr val="6B7280"/>
                </a:solidFill>
                <a:latin typeface="Calibri" pitchFamily="34" charset="0"/>
                <a:ea typeface="Calibri" pitchFamily="34" charset="-122"/>
                <a:cs typeface="Calibri" pitchFamily="34" charset="-120"/>
              </a:rPr>
              <a:t>[ Paste pipe-and-filter diagram — diagrams/architecture-pipe-filter.mmd ]</a:t>
            </a:r>
            <a:endParaRPr lang="en-US" sz="1300" dirty="0"/>
          </a:p>
        </p:txBody>
      </p:sp>
      <p:sp>
        <p:nvSpPr>
          <p:cNvPr id="8" name="Text 6"/>
          <p:cNvSpPr/>
          <p:nvPr/>
        </p:nvSpPr>
        <p:spPr>
          <a:xfrm>
            <a:off x="457200" y="5577840"/>
            <a:ext cx="11274552" cy="822960"/>
          </a:xfrm>
          <a:prstGeom prst="rect">
            <a:avLst/>
          </a:prstGeom>
          <a:noFill/>
          <a:ln/>
        </p:spPr>
        <p:txBody>
          <a:bodyPr wrap="square"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How the diagram maps to the use cases
</a:t>
            </a:r>
            <a:pPr indent="0" marL="0">
              <a:buNone/>
            </a:pPr>
            <a:r>
              <a:rPr lang="en-US" sz="1100" dirty="0">
                <a:solidFill>
                  <a:srgbClr val="1F2937"/>
                </a:solidFill>
                <a:latin typeface="Calibri" pitchFamily="34" charset="0"/>
                <a:ea typeface="Calibri" pitchFamily="34" charset="-122"/>
                <a:cs typeface="Calibri" pitchFamily="34" charset="-120"/>
              </a:rPr>
              <a:t>UC1 (Generate Prompt) is a pre-flight read of DataRepository — not part of the audio pipeline.
</a:t>
            </a:r>
            <a:pPr indent="0" marL="0">
              <a:buNone/>
            </a:pPr>
            <a:r>
              <a:rPr lang="en-US" sz="1100" dirty="0">
                <a:solidFill>
                  <a:srgbClr val="1F2937"/>
                </a:solidFill>
                <a:latin typeface="Calibri" pitchFamily="34" charset="0"/>
                <a:ea typeface="Calibri" pitchFamily="34" charset="-122"/>
                <a:cs typeface="Calibri" pitchFamily="34" charset="-120"/>
              </a:rPr>
              <a:t>UC2 (Record) drives filters 1 → 2 → 3 and writes the transcript to DataRepository.
</a:t>
            </a:r>
            <a:pPr indent="0" marL="0">
              <a:buNone/>
            </a:pPr>
            <a:r>
              <a:rPr lang="en-US" sz="1100" dirty="0">
                <a:solidFill>
                  <a:srgbClr val="1F2937"/>
                </a:solidFill>
                <a:latin typeface="Calibri" pitchFamily="34" charset="0"/>
                <a:ea typeface="Calibri" pitchFamily="34" charset="-122"/>
                <a:cs typeface="Calibri" pitchFamily="34" charset="-120"/>
              </a:rPr>
              <a:t>UC3 (Analyse) drives filters 3 → 4 → 5 → 6 → 7 and writes the DrillSession out.</a:t>
            </a:r>
            <a:endParaRPr lang="en-US" sz="1100" dirty="0"/>
          </a:p>
        </p:txBody>
      </p:sp>
      <p:sp>
        <p:nvSpPr>
          <p:cNvPr id="9" name="Text 7"/>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SpeakFlow — CS6005 Portfolio</a:t>
            </a:r>
            <a:endParaRPr lang="en-US" sz="900" dirty="0"/>
          </a:p>
        </p:txBody>
      </p:sp>
      <p:sp>
        <p:nvSpPr>
          <p:cNvPr id="10" name="Text 8"/>
          <p:cNvSpPr/>
          <p:nvPr/>
        </p:nvSpPr>
        <p:spPr>
          <a:xfrm>
            <a:off x="10972800" y="6492240"/>
            <a:ext cx="758952"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274320"/>
            <a:ext cx="9144000" cy="274320"/>
          </a:xfrm>
          <a:prstGeom prst="rect">
            <a:avLst/>
          </a:prstGeom>
          <a:noFill/>
          <a:ln/>
        </p:spPr>
        <p:txBody>
          <a:bodyPr wrap="square" rtlCol="0" anchor="ctr"/>
          <a:lstStyle/>
          <a:p>
            <a:pPr algn="l" indent="0" marL="0">
              <a:buNone/>
            </a:pPr>
            <a:r>
              <a:rPr lang="en-US" sz="1100" dirty="0">
                <a:solidFill>
                  <a:srgbClr val="6B7280"/>
                </a:solidFill>
                <a:latin typeface="Calibri" pitchFamily="34" charset="0"/>
                <a:ea typeface="Calibri" pitchFamily="34" charset="-122"/>
                <a:cs typeface="Calibri" pitchFamily="34" charset="-120"/>
              </a:rPr>
              <a:t>3.3  Class Diagram (MVC)</a:t>
            </a:r>
            <a:endParaRPr lang="en-US" sz="1100" dirty="0"/>
          </a:p>
        </p:txBody>
      </p:sp>
      <p:sp>
        <p:nvSpPr>
          <p:cNvPr id="3" name="Text 1"/>
          <p:cNvSpPr/>
          <p:nvPr/>
        </p:nvSpPr>
        <p:spPr>
          <a:xfrm>
            <a:off x="9902952" y="274320"/>
            <a:ext cx="18288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Section 3 — 25%</a:t>
            </a:r>
            <a:endParaRPr lang="en-US" sz="1100" dirty="0"/>
          </a:p>
        </p:txBody>
      </p:sp>
      <p:sp>
        <p:nvSpPr>
          <p:cNvPr id="4" name="Shape 2"/>
          <p:cNvSpPr/>
          <p:nvPr/>
        </p:nvSpPr>
        <p:spPr>
          <a:xfrm>
            <a:off x="457200" y="594360"/>
            <a:ext cx="11274552" cy="0"/>
          </a:xfrm>
          <a:prstGeom prst="line">
            <a:avLst/>
          </a:prstGeom>
          <a:noFill/>
          <a:ln w="9525">
            <a:solidFill>
              <a:srgbClr val="D1D5DB"/>
            </a:solidFill>
            <a:prstDash val="solid"/>
          </a:ln>
        </p:spPr>
      </p:sp>
      <p:sp>
        <p:nvSpPr>
          <p:cNvPr id="5" name="Text 3"/>
          <p:cNvSpPr/>
          <p:nvPr/>
        </p:nvSpPr>
        <p:spPr>
          <a:xfrm>
            <a:off x="457200" y="777240"/>
            <a:ext cx="11274552" cy="640080"/>
          </a:xfrm>
          <a:prstGeom prst="rect">
            <a:avLst/>
          </a:prstGeom>
          <a:noFill/>
          <a:ln/>
        </p:spPr>
        <p:txBody>
          <a:bodyPr wrap="square" rtlCol="0" anchor="ctr"/>
          <a:lstStyle/>
          <a:p>
            <a:pPr indent="0" marL="0">
              <a:buNone/>
            </a:pPr>
            <a:r>
              <a:rPr lang="en-US" sz="2800" b="1" dirty="0">
                <a:solidFill>
                  <a:srgbClr val="1F2937"/>
                </a:solidFill>
                <a:latin typeface="Calibri" pitchFamily="34" charset="0"/>
                <a:ea typeface="Calibri" pitchFamily="34" charset="-122"/>
                <a:cs typeface="Calibri" pitchFamily="34" charset="-120"/>
              </a:rPr>
              <a:t>Class diagram — labelled associations + multiplicities</a:t>
            </a:r>
            <a:endParaRPr lang="en-US" sz="2800" dirty="0"/>
          </a:p>
        </p:txBody>
      </p:sp>
      <p:sp>
        <p:nvSpPr>
          <p:cNvPr id="6" name="Shape 4"/>
          <p:cNvSpPr/>
          <p:nvPr/>
        </p:nvSpPr>
        <p:spPr>
          <a:xfrm>
            <a:off x="457200" y="1463040"/>
            <a:ext cx="11274552" cy="4114800"/>
          </a:xfrm>
          <a:prstGeom prst="rect">
            <a:avLst/>
          </a:prstGeom>
          <a:solidFill>
            <a:srgbClr val="FAFAFA"/>
          </a:solidFill>
          <a:ln w="12700">
            <a:solidFill>
              <a:srgbClr val="D1D5DB"/>
            </a:solidFill>
            <a:prstDash val="dash"/>
          </a:ln>
        </p:spPr>
      </p:sp>
      <p:sp>
        <p:nvSpPr>
          <p:cNvPr id="7" name="Text 5"/>
          <p:cNvSpPr/>
          <p:nvPr/>
        </p:nvSpPr>
        <p:spPr>
          <a:xfrm>
            <a:off x="457200" y="1463040"/>
            <a:ext cx="11274552" cy="4114800"/>
          </a:xfrm>
          <a:prstGeom prst="rect">
            <a:avLst/>
          </a:prstGeom>
          <a:noFill/>
          <a:ln/>
        </p:spPr>
        <p:txBody>
          <a:bodyPr wrap="square" rtlCol="0" anchor="ctr"/>
          <a:lstStyle/>
          <a:p>
            <a:pPr algn="ctr" indent="0" marL="0">
              <a:buNone/>
            </a:pPr>
            <a:r>
              <a:rPr lang="en-US" sz="1300" i="1" dirty="0">
                <a:solidFill>
                  <a:srgbClr val="6B7280"/>
                </a:solidFill>
                <a:latin typeface="Calibri" pitchFamily="34" charset="0"/>
                <a:ea typeface="Calibri" pitchFamily="34" charset="-122"/>
                <a:cs typeface="Calibri" pitchFamily="34" charset="-120"/>
              </a:rPr>
              <a:t>[ Paste class diagram — diagrams/class-diagram.mmd ]</a:t>
            </a:r>
            <a:endParaRPr lang="en-US" sz="1300" dirty="0"/>
          </a:p>
        </p:txBody>
      </p:sp>
      <p:sp>
        <p:nvSpPr>
          <p:cNvPr id="8" name="Text 6"/>
          <p:cNvSpPr/>
          <p:nvPr/>
        </p:nvSpPr>
        <p:spPr>
          <a:xfrm>
            <a:off x="457200" y="5669280"/>
            <a:ext cx="11274552" cy="731520"/>
          </a:xfrm>
          <a:prstGeom prst="rect">
            <a:avLst/>
          </a:prstGeom>
          <a:noFill/>
          <a:ln/>
        </p:spPr>
        <p:txBody>
          <a:bodyPr wrap="square" rtlCol="0" anchor="ctr"/>
          <a:lstStyle/>
          <a:p>
            <a:pPr indent="0" marL="0">
              <a:buNone/>
            </a:pPr>
            <a:r>
              <a:rPr lang="en-US" sz="1100" b="1" dirty="0">
                <a:solidFill>
                  <a:srgbClr val="1F2937"/>
                </a:solidFill>
                <a:latin typeface="Calibri" pitchFamily="34" charset="0"/>
                <a:ea typeface="Calibri" pitchFamily="34" charset="-122"/>
                <a:cs typeface="Calibri" pitchFamily="34" charset="-120"/>
              </a:rPr>
              <a:t>Reading guide  </a:t>
            </a:r>
            <a:pPr indent="0" marL="0">
              <a:buNone/>
            </a:pPr>
            <a:r>
              <a:rPr lang="en-US" sz="1100" dirty="0">
                <a:solidFill>
                  <a:srgbClr val="1F2937"/>
                </a:solidFill>
                <a:latin typeface="Calibri" pitchFamily="34" charset="0"/>
                <a:ea typeface="Calibri" pitchFamily="34" charset="-122"/>
                <a:cs typeface="Calibri" pitchFamily="34" charset="-120"/>
              </a:rPr>
              <a:t>&lt;&lt;View&gt;&gt; / &lt;&lt;Controller&gt;&gt; / &lt;&lt;Model&gt;&gt; / &lt;&lt;External&gt;&gt; stereotypes mark MVC layer. Composition (filled diamond) = parts whose life is tied to parent. Aggregation (hollow diamond) = independent thing referenced. Every line has a verbal label and multiplicities on both ends.</a:t>
            </a:r>
            <a:endParaRPr lang="en-US" sz="1100" dirty="0"/>
          </a:p>
        </p:txBody>
      </p:sp>
      <p:sp>
        <p:nvSpPr>
          <p:cNvPr id="9" name="Text 7"/>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SpeakFlow — CS6005 Portfolio</a:t>
            </a:r>
            <a:endParaRPr lang="en-US" sz="900" dirty="0"/>
          </a:p>
        </p:txBody>
      </p:sp>
      <p:sp>
        <p:nvSpPr>
          <p:cNvPr id="10" name="Text 8"/>
          <p:cNvSpPr/>
          <p:nvPr/>
        </p:nvSpPr>
        <p:spPr>
          <a:xfrm>
            <a:off x="10972800" y="6492240"/>
            <a:ext cx="758952"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274320"/>
            <a:ext cx="9144000" cy="274320"/>
          </a:xfrm>
          <a:prstGeom prst="rect">
            <a:avLst/>
          </a:prstGeom>
          <a:noFill/>
          <a:ln/>
        </p:spPr>
        <p:txBody>
          <a:bodyPr wrap="square" rtlCol="0" anchor="ctr"/>
          <a:lstStyle/>
          <a:p>
            <a:pPr algn="l" indent="0" marL="0">
              <a:buNone/>
            </a:pPr>
            <a:r>
              <a:rPr lang="en-US" sz="1100" dirty="0">
                <a:solidFill>
                  <a:srgbClr val="6B7280"/>
                </a:solidFill>
                <a:latin typeface="Calibri" pitchFamily="34" charset="0"/>
                <a:ea typeface="Calibri" pitchFamily="34" charset="-122"/>
                <a:cs typeface="Calibri" pitchFamily="34" charset="-120"/>
              </a:rPr>
              <a:t>3.3  MVC Invariants</a:t>
            </a:r>
            <a:endParaRPr lang="en-US" sz="1100" dirty="0"/>
          </a:p>
        </p:txBody>
      </p:sp>
      <p:sp>
        <p:nvSpPr>
          <p:cNvPr id="3" name="Text 1"/>
          <p:cNvSpPr/>
          <p:nvPr/>
        </p:nvSpPr>
        <p:spPr>
          <a:xfrm>
            <a:off x="9902952" y="274320"/>
            <a:ext cx="18288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Section 3 — 25%</a:t>
            </a:r>
            <a:endParaRPr lang="en-US" sz="1100" dirty="0"/>
          </a:p>
        </p:txBody>
      </p:sp>
      <p:sp>
        <p:nvSpPr>
          <p:cNvPr id="4" name="Shape 2"/>
          <p:cNvSpPr/>
          <p:nvPr/>
        </p:nvSpPr>
        <p:spPr>
          <a:xfrm>
            <a:off x="457200" y="594360"/>
            <a:ext cx="11274552" cy="0"/>
          </a:xfrm>
          <a:prstGeom prst="line">
            <a:avLst/>
          </a:prstGeom>
          <a:noFill/>
          <a:ln w="9525">
            <a:solidFill>
              <a:srgbClr val="D1D5DB"/>
            </a:solidFill>
            <a:prstDash val="solid"/>
          </a:ln>
        </p:spPr>
      </p:sp>
      <p:sp>
        <p:nvSpPr>
          <p:cNvPr id="5" name="Text 3"/>
          <p:cNvSpPr/>
          <p:nvPr/>
        </p:nvSpPr>
        <p:spPr>
          <a:xfrm>
            <a:off x="457200" y="777240"/>
            <a:ext cx="11274552" cy="640080"/>
          </a:xfrm>
          <a:prstGeom prst="rect">
            <a:avLst/>
          </a:prstGeom>
          <a:noFill/>
          <a:ln/>
        </p:spPr>
        <p:txBody>
          <a:bodyPr wrap="square" rtlCol="0" anchor="ctr"/>
          <a:lstStyle/>
          <a:p>
            <a:pPr indent="0" marL="0">
              <a:buNone/>
            </a:pPr>
            <a:r>
              <a:rPr lang="en-US" sz="2800" b="1" dirty="0">
                <a:solidFill>
                  <a:srgbClr val="1F2937"/>
                </a:solidFill>
                <a:latin typeface="Calibri" pitchFamily="34" charset="0"/>
                <a:ea typeface="Calibri" pitchFamily="34" charset="-122"/>
                <a:cs typeface="Calibri" pitchFamily="34" charset="-120"/>
              </a:rPr>
              <a:t>Four rules enforced by the class diagram</a:t>
            </a:r>
            <a:endParaRPr lang="en-US" sz="2800" dirty="0"/>
          </a:p>
        </p:txBody>
      </p:sp>
      <p:sp>
        <p:nvSpPr>
          <p:cNvPr id="6" name="Text 4"/>
          <p:cNvSpPr/>
          <p:nvPr/>
        </p:nvSpPr>
        <p:spPr>
          <a:xfrm>
            <a:off x="457200" y="1554480"/>
            <a:ext cx="11274552" cy="4754880"/>
          </a:xfrm>
          <a:prstGeom prst="rect">
            <a:avLst/>
          </a:prstGeom>
          <a:noFill/>
          <a:ln/>
        </p:spPr>
        <p:txBody>
          <a:bodyPr wrap="square" rtlCol="0" anchor="t"/>
          <a:lstStyle/>
          <a:p>
            <a:pPr marL="342900" indent="-342900">
              <a:spcAft>
                <a:spcPts val="1400"/>
              </a:spcAft>
              <a:buSzPct val="100000"/>
              <a:buChar char="•"/>
            </a:pPr>
            <a:r>
              <a:rPr lang="en-US" sz="1600" dirty="0">
                <a:solidFill>
                  <a:srgbClr val="1F2937"/>
                </a:solidFill>
                <a:latin typeface="Calibri" pitchFamily="34" charset="0"/>
                <a:ea typeface="Calibri" pitchFamily="34" charset="-122"/>
                <a:cs typeface="Calibri" pitchFamily="34" charset="-120"/>
              </a:rPr>
              <a:t>No View directly references a Model — every data access goes through a Controller.</a:t>
            </a:r>
            <a:endParaRPr lang="en-US" sz="1600" dirty="0"/>
          </a:p>
          <a:p>
            <a:pPr marL="342900" indent="-342900">
              <a:spcAft>
                <a:spcPts val="1400"/>
              </a:spcAft>
              <a:buSzPct val="100000"/>
              <a:buChar char="•"/>
            </a:pPr>
            <a:r>
              <a:rPr lang="en-US" sz="1600" dirty="0">
                <a:solidFill>
                  <a:srgbClr val="1F2937"/>
                </a:solidFill>
                <a:latin typeface="Calibri" pitchFamily="34" charset="0"/>
                <a:ea typeface="Calibri" pitchFamily="34" charset="-122"/>
                <a:cs typeface="Calibri" pitchFamily="34" charset="-120"/>
              </a:rPr>
              <a:t>No Controller directly renders UI — it returns data to the View.</a:t>
            </a:r>
            <a:endParaRPr lang="en-US" sz="1600" dirty="0"/>
          </a:p>
          <a:p>
            <a:pPr marL="342900" indent="-342900">
              <a:spcAft>
                <a:spcPts val="1400"/>
              </a:spcAft>
              <a:buSzPct val="100000"/>
              <a:buChar char="•"/>
            </a:pPr>
            <a:r>
              <a:rPr lang="en-US" sz="1600" dirty="0">
                <a:solidFill>
                  <a:srgbClr val="1F2937"/>
                </a:solidFill>
                <a:latin typeface="Calibri" pitchFamily="34" charset="0"/>
                <a:ea typeface="Calibri" pitchFamily="34" charset="-122"/>
                <a:cs typeface="Calibri" pitchFamily="34" charset="-120"/>
              </a:rPr>
              <a:t>No View or Model calls an External service directly — the Controller layer owns all outbound calls.</a:t>
            </a:r>
            <a:endParaRPr lang="en-US" sz="1600" dirty="0"/>
          </a:p>
          <a:p>
            <a:pPr marL="342900" indent="-342900">
              <a:spcAft>
                <a:spcPts val="1400"/>
              </a:spcAft>
              <a:buSzPct val="100000"/>
              <a:buChar char="•"/>
            </a:pPr>
            <a:r>
              <a:rPr lang="en-US" sz="1600" dirty="0">
                <a:solidFill>
                  <a:srgbClr val="1F2937"/>
                </a:solidFill>
                <a:latin typeface="Calibri" pitchFamily="34" charset="0"/>
                <a:ea typeface="Calibri" pitchFamily="34" charset="-122"/>
                <a:cs typeface="Calibri" pitchFamily="34" charset="-120"/>
              </a:rPr>
              <a:t>Models are plain data with no behaviour that talks to the other layers.</a:t>
            </a:r>
            <a:endParaRPr lang="en-US" sz="1600" dirty="0"/>
          </a:p>
        </p:txBody>
      </p:sp>
      <p:sp>
        <p:nvSpPr>
          <p:cNvPr id="7" name="Text 5"/>
          <p:cNvSpPr/>
          <p:nvPr/>
        </p:nvSpPr>
        <p:spPr>
          <a:xfrm>
            <a:off x="457200" y="5029200"/>
            <a:ext cx="11274552" cy="457200"/>
          </a:xfrm>
          <a:prstGeom prst="rect">
            <a:avLst/>
          </a:prstGeom>
          <a:noFill/>
          <a:ln/>
        </p:spPr>
        <p:txBody>
          <a:bodyPr wrap="square"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These four rules are what the lecturer meant by "MVC compliance" in prior feedback.</a:t>
            </a:r>
            <a:endParaRPr lang="en-US" sz="1200" dirty="0"/>
          </a:p>
        </p:txBody>
      </p:sp>
      <p:sp>
        <p:nvSpPr>
          <p:cNvPr id="8" name="Text 6"/>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SpeakFlow — CS6005 Portfolio</a:t>
            </a:r>
            <a:endParaRPr lang="en-US" sz="900" dirty="0"/>
          </a:p>
        </p:txBody>
      </p:sp>
      <p:sp>
        <p:nvSpPr>
          <p:cNvPr id="9" name="Text 7"/>
          <p:cNvSpPr/>
          <p:nvPr/>
        </p:nvSpPr>
        <p:spPr>
          <a:xfrm>
            <a:off x="10972800" y="6492240"/>
            <a:ext cx="758952"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274320"/>
            <a:ext cx="9144000" cy="274320"/>
          </a:xfrm>
          <a:prstGeom prst="rect">
            <a:avLst/>
          </a:prstGeom>
          <a:noFill/>
          <a:ln/>
        </p:spPr>
        <p:txBody>
          <a:bodyPr wrap="square" rtlCol="0" anchor="ctr"/>
          <a:lstStyle/>
          <a:p>
            <a:pPr algn="l" indent="0" marL="0">
              <a:buNone/>
            </a:pPr>
            <a:r>
              <a:rPr lang="en-US" sz="1100" dirty="0">
                <a:solidFill>
                  <a:srgbClr val="6B7280"/>
                </a:solidFill>
                <a:latin typeface="Calibri" pitchFamily="34" charset="0"/>
                <a:ea typeface="Calibri" pitchFamily="34" charset="-122"/>
                <a:cs typeface="Calibri" pitchFamily="34" charset="-120"/>
              </a:rPr>
              <a:t>3.4  Class Descriptions</a:t>
            </a:r>
            <a:endParaRPr lang="en-US" sz="1100" dirty="0"/>
          </a:p>
        </p:txBody>
      </p:sp>
      <p:sp>
        <p:nvSpPr>
          <p:cNvPr id="3" name="Text 1"/>
          <p:cNvSpPr/>
          <p:nvPr/>
        </p:nvSpPr>
        <p:spPr>
          <a:xfrm>
            <a:off x="9902952" y="274320"/>
            <a:ext cx="18288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Section 3 — 25%</a:t>
            </a:r>
            <a:endParaRPr lang="en-US" sz="1100" dirty="0"/>
          </a:p>
        </p:txBody>
      </p:sp>
      <p:sp>
        <p:nvSpPr>
          <p:cNvPr id="4" name="Shape 2"/>
          <p:cNvSpPr/>
          <p:nvPr/>
        </p:nvSpPr>
        <p:spPr>
          <a:xfrm>
            <a:off x="457200" y="594360"/>
            <a:ext cx="11274552" cy="0"/>
          </a:xfrm>
          <a:prstGeom prst="line">
            <a:avLst/>
          </a:prstGeom>
          <a:noFill/>
          <a:ln w="9525">
            <a:solidFill>
              <a:srgbClr val="D1D5DB"/>
            </a:solidFill>
            <a:prstDash val="solid"/>
          </a:ln>
        </p:spPr>
      </p:sp>
      <p:sp>
        <p:nvSpPr>
          <p:cNvPr id="5" name="Text 3"/>
          <p:cNvSpPr/>
          <p:nvPr/>
        </p:nvSpPr>
        <p:spPr>
          <a:xfrm>
            <a:off x="457200" y="777240"/>
            <a:ext cx="11274552" cy="640080"/>
          </a:xfrm>
          <a:prstGeom prst="rect">
            <a:avLst/>
          </a:prstGeom>
          <a:noFill/>
          <a:ln/>
        </p:spPr>
        <p:txBody>
          <a:bodyPr wrap="square" rtlCol="0" anchor="ctr"/>
          <a:lstStyle/>
          <a:p>
            <a:pPr indent="0" marL="0">
              <a:buNone/>
            </a:pPr>
            <a:r>
              <a:rPr lang="en-US" sz="2800" b="1" dirty="0">
                <a:solidFill>
                  <a:srgbClr val="1F2937"/>
                </a:solidFill>
                <a:latin typeface="Calibri" pitchFamily="34" charset="0"/>
                <a:ea typeface="Calibri" pitchFamily="34" charset="-122"/>
                <a:cs typeface="Calibri" pitchFamily="34" charset="-120"/>
              </a:rPr>
              <a:t>Three classes that span all use cases</a:t>
            </a:r>
            <a:endParaRPr lang="en-US" sz="2800" dirty="0"/>
          </a:p>
        </p:txBody>
      </p:sp>
      <p:sp>
        <p:nvSpPr>
          <p:cNvPr id="6" name="Text 4"/>
          <p:cNvSpPr/>
          <p:nvPr/>
        </p:nvSpPr>
        <p:spPr>
          <a:xfrm>
            <a:off x="457200" y="1371600"/>
            <a:ext cx="11274552" cy="320040"/>
          </a:xfrm>
          <a:prstGeom prst="rect">
            <a:avLst/>
          </a:prstGeom>
          <a:noFill/>
          <a:ln/>
        </p:spPr>
        <p:txBody>
          <a:bodyPr wrap="square"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TrainerView  &lt;&lt;View&gt;&gt;</a:t>
            </a:r>
            <a:endParaRPr lang="en-US" sz="1400" dirty="0"/>
          </a:p>
        </p:txBody>
      </p:sp>
      <p:sp>
        <p:nvSpPr>
          <p:cNvPr id="7" name="Text 5"/>
          <p:cNvSpPr/>
          <p:nvPr/>
        </p:nvSpPr>
        <p:spPr>
          <a:xfrm>
            <a:off x="457200" y="1691640"/>
            <a:ext cx="11274552" cy="1188720"/>
          </a:xfrm>
          <a:prstGeom prst="rect">
            <a:avLst/>
          </a:prstGeom>
          <a:noFill/>
          <a:ln/>
        </p:spPr>
        <p:txBody>
          <a:bodyPr wrap="square" rtlCol="0" anchor="ctr"/>
          <a:lstStyle/>
          <a:p>
            <a:pPr indent="0" marL="0">
              <a:buNone/>
            </a:pPr>
            <a:r>
              <a:rPr lang="en-US" sz="1150" dirty="0">
                <a:solidFill>
                  <a:srgbClr val="1F2937"/>
                </a:solidFill>
                <a:latin typeface="Calibri" pitchFamily="34" charset="0"/>
                <a:ea typeface="Calibri" pitchFamily="34" charset="-122"/>
                <a:cs typeface="Calibri" pitchFamily="34" charset="-120"/>
              </a:rPr>
              <a:t>Main practice page. Hosts the Generate / Start / Stop buttons + live transcript box. State: currentPrompt, liveTranscript. Never calls DB or microphone directly — every action forwarded to the right controller. Appears in UC1, UC2.</a:t>
            </a:r>
            <a:endParaRPr lang="en-US" sz="1150" dirty="0"/>
          </a:p>
        </p:txBody>
      </p:sp>
      <p:sp>
        <p:nvSpPr>
          <p:cNvPr id="8" name="Text 6"/>
          <p:cNvSpPr/>
          <p:nvPr/>
        </p:nvSpPr>
        <p:spPr>
          <a:xfrm>
            <a:off x="457200" y="2971800"/>
            <a:ext cx="11274552" cy="320040"/>
          </a:xfrm>
          <a:prstGeom prst="rect">
            <a:avLst/>
          </a:prstGeom>
          <a:noFill/>
          <a:ln/>
        </p:spPr>
        <p:txBody>
          <a:bodyPr wrap="square"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RecordingController  &lt;&lt;Controller&gt;&gt;</a:t>
            </a:r>
            <a:endParaRPr lang="en-US" sz="1400" dirty="0"/>
          </a:p>
        </p:txBody>
      </p:sp>
      <p:sp>
        <p:nvSpPr>
          <p:cNvPr id="9" name="Text 7"/>
          <p:cNvSpPr/>
          <p:nvPr/>
        </p:nvSpPr>
        <p:spPr>
          <a:xfrm>
            <a:off x="457200" y="3291840"/>
            <a:ext cx="11274552" cy="1188720"/>
          </a:xfrm>
          <a:prstGeom prst="rect">
            <a:avLst/>
          </a:prstGeom>
          <a:noFill/>
          <a:ln/>
        </p:spPr>
        <p:txBody>
          <a:bodyPr wrap="square" rtlCol="0" anchor="ctr"/>
          <a:lstStyle/>
          <a:p>
            <a:pPr indent="0" marL="0">
              <a:buNone/>
            </a:pPr>
            <a:r>
              <a:rPr lang="en-US" sz="1150" dirty="0">
                <a:solidFill>
                  <a:srgbClr val="1F2937"/>
                </a:solidFill>
                <a:latin typeface="Calibri" pitchFamily="34" charset="0"/>
                <a:ea typeface="Calibri" pitchFamily="34" charset="-122"/>
                <a:cs typeface="Calibri" pitchFamily="34" charset="-120"/>
              </a:rPr>
              <a:t>Orchestrator for a live drill. startRecording activates MicrophoneService and SpeechRecognitionService, builds an AudioRecording in memory. Each TranscriptSegment is appended and pushed to TrainerView. stopRecording tears services down and persists via DataRepository. Appears in UC2.</a:t>
            </a:r>
            <a:endParaRPr lang="en-US" sz="1150" dirty="0"/>
          </a:p>
        </p:txBody>
      </p:sp>
      <p:sp>
        <p:nvSpPr>
          <p:cNvPr id="10" name="Text 8"/>
          <p:cNvSpPr/>
          <p:nvPr/>
        </p:nvSpPr>
        <p:spPr>
          <a:xfrm>
            <a:off x="457200" y="4572000"/>
            <a:ext cx="11274552" cy="320040"/>
          </a:xfrm>
          <a:prstGeom prst="rect">
            <a:avLst/>
          </a:prstGeom>
          <a:noFill/>
          <a:ln/>
        </p:spPr>
        <p:txBody>
          <a:bodyPr wrap="square"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AnalysisController  &lt;&lt;Controller&gt;&gt;</a:t>
            </a:r>
            <a:endParaRPr lang="en-US" sz="1400" dirty="0"/>
          </a:p>
        </p:txBody>
      </p:sp>
      <p:sp>
        <p:nvSpPr>
          <p:cNvPr id="11" name="Text 9"/>
          <p:cNvSpPr/>
          <p:nvPr/>
        </p:nvSpPr>
        <p:spPr>
          <a:xfrm>
            <a:off x="457200" y="4892040"/>
            <a:ext cx="11274552" cy="1188720"/>
          </a:xfrm>
          <a:prstGeom prst="rect">
            <a:avLst/>
          </a:prstGeom>
          <a:noFill/>
          <a:ln/>
        </p:spPr>
        <p:txBody>
          <a:bodyPr wrap="square" rtlCol="0" anchor="ctr"/>
          <a:lstStyle/>
          <a:p>
            <a:pPr indent="0" marL="0">
              <a:buNone/>
            </a:pPr>
            <a:r>
              <a:rPr lang="en-US" sz="1150" dirty="0">
                <a:solidFill>
                  <a:srgbClr val="1F2937"/>
                </a:solidFill>
                <a:latin typeface="Calibri" pitchFamily="34" charset="0"/>
                <a:ea typeface="Calibri" pitchFamily="34" charset="-122"/>
                <a:cs typeface="Calibri" pitchFamily="34" charset="-120"/>
              </a:rPr>
              <a:t>Orchestrator for post-drill analysis. Loads AudioRecording + TranscriptSegments, sends to AIAnalysisService with original prompt, wraps the SpeechAnalysis in a DrillSession, persists. Falls back to local basic metrics if the AI service is unavailable. Appears in UC3.</a:t>
            </a:r>
            <a:endParaRPr lang="en-US" sz="1150" dirty="0"/>
          </a:p>
        </p:txBody>
      </p:sp>
      <p:sp>
        <p:nvSpPr>
          <p:cNvPr id="12" name="Text 10"/>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SpeakFlow — CS6005 Portfolio</a:t>
            </a:r>
            <a:endParaRPr lang="en-US" sz="900" dirty="0"/>
          </a:p>
        </p:txBody>
      </p:sp>
      <p:sp>
        <p:nvSpPr>
          <p:cNvPr id="13" name="Text 11"/>
          <p:cNvSpPr/>
          <p:nvPr/>
        </p:nvSpPr>
        <p:spPr>
          <a:xfrm>
            <a:off x="10972800" y="6492240"/>
            <a:ext cx="758952"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274320"/>
            <a:ext cx="9144000" cy="274320"/>
          </a:xfrm>
          <a:prstGeom prst="rect">
            <a:avLst/>
          </a:prstGeom>
          <a:noFill/>
          <a:ln/>
        </p:spPr>
        <p:txBody>
          <a:bodyPr wrap="square" rtlCol="0" anchor="ctr"/>
          <a:lstStyle/>
          <a:p>
            <a:pPr algn="l" indent="0" marL="0">
              <a:buNone/>
            </a:pPr>
            <a:r>
              <a:rPr lang="en-US" sz="1100" dirty="0">
                <a:solidFill>
                  <a:srgbClr val="6B7280"/>
                </a:solidFill>
                <a:latin typeface="Calibri" pitchFamily="34" charset="0"/>
                <a:ea typeface="Calibri" pitchFamily="34" charset="-122"/>
                <a:cs typeface="Calibri" pitchFamily="34" charset="-120"/>
              </a:rPr>
              <a:t>3.5  Sequence Diagram — UC1</a:t>
            </a:r>
            <a:endParaRPr lang="en-US" sz="1100" dirty="0"/>
          </a:p>
        </p:txBody>
      </p:sp>
      <p:sp>
        <p:nvSpPr>
          <p:cNvPr id="3" name="Text 1"/>
          <p:cNvSpPr/>
          <p:nvPr/>
        </p:nvSpPr>
        <p:spPr>
          <a:xfrm>
            <a:off x="9902952" y="274320"/>
            <a:ext cx="18288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Section 3 — 25%</a:t>
            </a:r>
            <a:endParaRPr lang="en-US" sz="1100" dirty="0"/>
          </a:p>
        </p:txBody>
      </p:sp>
      <p:sp>
        <p:nvSpPr>
          <p:cNvPr id="4" name="Shape 2"/>
          <p:cNvSpPr/>
          <p:nvPr/>
        </p:nvSpPr>
        <p:spPr>
          <a:xfrm>
            <a:off x="457200" y="594360"/>
            <a:ext cx="11274552" cy="0"/>
          </a:xfrm>
          <a:prstGeom prst="line">
            <a:avLst/>
          </a:prstGeom>
          <a:noFill/>
          <a:ln w="9525">
            <a:solidFill>
              <a:srgbClr val="D1D5DB"/>
            </a:solidFill>
            <a:prstDash val="solid"/>
          </a:ln>
        </p:spPr>
      </p:sp>
      <p:sp>
        <p:nvSpPr>
          <p:cNvPr id="5" name="Text 3"/>
          <p:cNvSpPr/>
          <p:nvPr/>
        </p:nvSpPr>
        <p:spPr>
          <a:xfrm>
            <a:off x="457200" y="777240"/>
            <a:ext cx="11274552" cy="640080"/>
          </a:xfrm>
          <a:prstGeom prst="rect">
            <a:avLst/>
          </a:prstGeom>
          <a:noFill/>
          <a:ln/>
        </p:spPr>
        <p:txBody>
          <a:bodyPr wrap="square" rtlCol="0" anchor="ctr"/>
          <a:lstStyle/>
          <a:p>
            <a:pPr indent="0" marL="0">
              <a:buNone/>
            </a:pPr>
            <a:r>
              <a:rPr lang="en-US" sz="2800" b="1" dirty="0">
                <a:solidFill>
                  <a:srgbClr val="1F2937"/>
                </a:solidFill>
                <a:latin typeface="Calibri" pitchFamily="34" charset="0"/>
                <a:ea typeface="Calibri" pitchFamily="34" charset="-122"/>
                <a:cs typeface="Calibri" pitchFamily="34" charset="-120"/>
              </a:rPr>
              <a:t>UC1 — Generate Speaking Prompt</a:t>
            </a:r>
            <a:endParaRPr lang="en-US" sz="2800" dirty="0"/>
          </a:p>
        </p:txBody>
      </p:sp>
      <p:sp>
        <p:nvSpPr>
          <p:cNvPr id="6" name="Text 4"/>
          <p:cNvSpPr/>
          <p:nvPr/>
        </p:nvSpPr>
        <p:spPr>
          <a:xfrm>
            <a:off x="457200" y="1417320"/>
            <a:ext cx="11274552" cy="365760"/>
          </a:xfrm>
          <a:prstGeom prst="rect">
            <a:avLst/>
          </a:prstGeom>
          <a:noFill/>
          <a:ln/>
        </p:spPr>
        <p:txBody>
          <a:bodyPr wrap="square"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Message numbers below match the Main Success Scenario step numbers in the use case table (Section 2.2).</a:t>
            </a:r>
            <a:endParaRPr lang="en-US" sz="1100" dirty="0"/>
          </a:p>
        </p:txBody>
      </p:sp>
      <p:sp>
        <p:nvSpPr>
          <p:cNvPr id="7" name="Shape 5"/>
          <p:cNvSpPr/>
          <p:nvPr/>
        </p:nvSpPr>
        <p:spPr>
          <a:xfrm>
            <a:off x="457200" y="1828800"/>
            <a:ext cx="11274552" cy="4297680"/>
          </a:xfrm>
          <a:prstGeom prst="rect">
            <a:avLst/>
          </a:prstGeom>
          <a:solidFill>
            <a:srgbClr val="FAFAFA"/>
          </a:solidFill>
          <a:ln w="12700">
            <a:solidFill>
              <a:srgbClr val="D1D5DB"/>
            </a:solidFill>
            <a:prstDash val="dash"/>
          </a:ln>
        </p:spPr>
      </p:sp>
      <p:sp>
        <p:nvSpPr>
          <p:cNvPr id="8" name="Text 6"/>
          <p:cNvSpPr/>
          <p:nvPr/>
        </p:nvSpPr>
        <p:spPr>
          <a:xfrm>
            <a:off x="457200" y="1828800"/>
            <a:ext cx="11274552" cy="4297680"/>
          </a:xfrm>
          <a:prstGeom prst="rect">
            <a:avLst/>
          </a:prstGeom>
          <a:noFill/>
          <a:ln/>
        </p:spPr>
        <p:txBody>
          <a:bodyPr wrap="square" rtlCol="0" anchor="ctr"/>
          <a:lstStyle/>
          <a:p>
            <a:pPr algn="ctr" indent="0" marL="0">
              <a:buNone/>
            </a:pPr>
            <a:r>
              <a:rPr lang="en-US" sz="1300" i="1" dirty="0">
                <a:solidFill>
                  <a:srgbClr val="6B7280"/>
                </a:solidFill>
                <a:latin typeface="Calibri" pitchFamily="34" charset="0"/>
                <a:ea typeface="Calibri" pitchFamily="34" charset="-122"/>
                <a:cs typeface="Calibri" pitchFamily="34" charset="-120"/>
              </a:rPr>
              <a:t>[ Paste sequence diagram — diagrams/sequence-uc1-...mmd ]</a:t>
            </a:r>
            <a:endParaRPr lang="en-US" sz="1300" dirty="0"/>
          </a:p>
        </p:txBody>
      </p:sp>
      <p:sp>
        <p:nvSpPr>
          <p:cNvPr id="9" name="Text 7"/>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SpeakFlow — CS6005 Portfolio</a:t>
            </a:r>
            <a:endParaRPr lang="en-US" sz="900" dirty="0"/>
          </a:p>
        </p:txBody>
      </p:sp>
      <p:sp>
        <p:nvSpPr>
          <p:cNvPr id="10" name="Text 8"/>
          <p:cNvSpPr/>
          <p:nvPr/>
        </p:nvSpPr>
        <p:spPr>
          <a:xfrm>
            <a:off x="10972800" y="6492240"/>
            <a:ext cx="758952"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274320"/>
            <a:ext cx="9144000" cy="274320"/>
          </a:xfrm>
          <a:prstGeom prst="rect">
            <a:avLst/>
          </a:prstGeom>
          <a:noFill/>
          <a:ln/>
        </p:spPr>
        <p:txBody>
          <a:bodyPr wrap="square" rtlCol="0" anchor="ctr"/>
          <a:lstStyle/>
          <a:p>
            <a:pPr algn="l" indent="0" marL="0">
              <a:buNone/>
            </a:pPr>
            <a:r>
              <a:rPr lang="en-US" sz="1100" dirty="0">
                <a:solidFill>
                  <a:srgbClr val="6B7280"/>
                </a:solidFill>
                <a:latin typeface="Calibri" pitchFamily="34" charset="0"/>
                <a:ea typeface="Calibri" pitchFamily="34" charset="-122"/>
                <a:cs typeface="Calibri" pitchFamily="34" charset="-120"/>
              </a:rPr>
              <a:t>3.5  Sequence Diagram — UC2</a:t>
            </a:r>
            <a:endParaRPr lang="en-US" sz="1100" dirty="0"/>
          </a:p>
        </p:txBody>
      </p:sp>
      <p:sp>
        <p:nvSpPr>
          <p:cNvPr id="3" name="Text 1"/>
          <p:cNvSpPr/>
          <p:nvPr/>
        </p:nvSpPr>
        <p:spPr>
          <a:xfrm>
            <a:off x="9902952" y="274320"/>
            <a:ext cx="18288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Section 3 — 25%</a:t>
            </a:r>
            <a:endParaRPr lang="en-US" sz="1100" dirty="0"/>
          </a:p>
        </p:txBody>
      </p:sp>
      <p:sp>
        <p:nvSpPr>
          <p:cNvPr id="4" name="Shape 2"/>
          <p:cNvSpPr/>
          <p:nvPr/>
        </p:nvSpPr>
        <p:spPr>
          <a:xfrm>
            <a:off x="457200" y="594360"/>
            <a:ext cx="11274552" cy="0"/>
          </a:xfrm>
          <a:prstGeom prst="line">
            <a:avLst/>
          </a:prstGeom>
          <a:noFill/>
          <a:ln w="9525">
            <a:solidFill>
              <a:srgbClr val="D1D5DB"/>
            </a:solidFill>
            <a:prstDash val="solid"/>
          </a:ln>
        </p:spPr>
      </p:sp>
      <p:sp>
        <p:nvSpPr>
          <p:cNvPr id="5" name="Text 3"/>
          <p:cNvSpPr/>
          <p:nvPr/>
        </p:nvSpPr>
        <p:spPr>
          <a:xfrm>
            <a:off x="457200" y="777240"/>
            <a:ext cx="11274552" cy="640080"/>
          </a:xfrm>
          <a:prstGeom prst="rect">
            <a:avLst/>
          </a:prstGeom>
          <a:noFill/>
          <a:ln/>
        </p:spPr>
        <p:txBody>
          <a:bodyPr wrap="square" rtlCol="0" anchor="ctr"/>
          <a:lstStyle/>
          <a:p>
            <a:pPr indent="0" marL="0">
              <a:buNone/>
            </a:pPr>
            <a:r>
              <a:rPr lang="en-US" sz="2800" b="1" dirty="0">
                <a:solidFill>
                  <a:srgbClr val="1F2937"/>
                </a:solidFill>
                <a:latin typeface="Calibri" pitchFamily="34" charset="0"/>
                <a:ea typeface="Calibri" pitchFamily="34" charset="-122"/>
                <a:cs typeface="Calibri" pitchFamily="34" charset="-120"/>
              </a:rPr>
              <a:t>UC2 — Record Practice Speech</a:t>
            </a:r>
            <a:endParaRPr lang="en-US" sz="2800" dirty="0"/>
          </a:p>
        </p:txBody>
      </p:sp>
      <p:sp>
        <p:nvSpPr>
          <p:cNvPr id="6" name="Text 4"/>
          <p:cNvSpPr/>
          <p:nvPr/>
        </p:nvSpPr>
        <p:spPr>
          <a:xfrm>
            <a:off x="457200" y="1417320"/>
            <a:ext cx="11274552" cy="365760"/>
          </a:xfrm>
          <a:prstGeom prst="rect">
            <a:avLst/>
          </a:prstGeom>
          <a:noFill/>
          <a:ln/>
        </p:spPr>
        <p:txBody>
          <a:bodyPr wrap="square"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Message numbers below match the Main Success Scenario step numbers in the use case table (Section 2.2).</a:t>
            </a:r>
            <a:endParaRPr lang="en-US" sz="1100" dirty="0"/>
          </a:p>
        </p:txBody>
      </p:sp>
      <p:sp>
        <p:nvSpPr>
          <p:cNvPr id="7" name="Shape 5"/>
          <p:cNvSpPr/>
          <p:nvPr/>
        </p:nvSpPr>
        <p:spPr>
          <a:xfrm>
            <a:off x="457200" y="1828800"/>
            <a:ext cx="11274552" cy="4297680"/>
          </a:xfrm>
          <a:prstGeom prst="rect">
            <a:avLst/>
          </a:prstGeom>
          <a:solidFill>
            <a:srgbClr val="FAFAFA"/>
          </a:solidFill>
          <a:ln w="12700">
            <a:solidFill>
              <a:srgbClr val="D1D5DB"/>
            </a:solidFill>
            <a:prstDash val="dash"/>
          </a:ln>
        </p:spPr>
      </p:sp>
      <p:sp>
        <p:nvSpPr>
          <p:cNvPr id="8" name="Text 6"/>
          <p:cNvSpPr/>
          <p:nvPr/>
        </p:nvSpPr>
        <p:spPr>
          <a:xfrm>
            <a:off x="457200" y="1828800"/>
            <a:ext cx="11274552" cy="4297680"/>
          </a:xfrm>
          <a:prstGeom prst="rect">
            <a:avLst/>
          </a:prstGeom>
          <a:noFill/>
          <a:ln/>
        </p:spPr>
        <p:txBody>
          <a:bodyPr wrap="square" rtlCol="0" anchor="ctr"/>
          <a:lstStyle/>
          <a:p>
            <a:pPr algn="ctr" indent="0" marL="0">
              <a:buNone/>
            </a:pPr>
            <a:r>
              <a:rPr lang="en-US" sz="1300" i="1" dirty="0">
                <a:solidFill>
                  <a:srgbClr val="6B7280"/>
                </a:solidFill>
                <a:latin typeface="Calibri" pitchFamily="34" charset="0"/>
                <a:ea typeface="Calibri" pitchFamily="34" charset="-122"/>
                <a:cs typeface="Calibri" pitchFamily="34" charset="-120"/>
              </a:rPr>
              <a:t>[ Paste sequence diagram — diagrams/sequence-uc2-...mmd ]</a:t>
            </a:r>
            <a:endParaRPr lang="en-US" sz="1300" dirty="0"/>
          </a:p>
        </p:txBody>
      </p:sp>
      <p:sp>
        <p:nvSpPr>
          <p:cNvPr id="9" name="Text 7"/>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SpeakFlow — CS6005 Portfolio</a:t>
            </a:r>
            <a:endParaRPr lang="en-US" sz="900" dirty="0"/>
          </a:p>
        </p:txBody>
      </p:sp>
      <p:sp>
        <p:nvSpPr>
          <p:cNvPr id="10" name="Text 8"/>
          <p:cNvSpPr/>
          <p:nvPr/>
        </p:nvSpPr>
        <p:spPr>
          <a:xfrm>
            <a:off x="10972800" y="6492240"/>
            <a:ext cx="758952"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274320"/>
            <a:ext cx="9144000" cy="274320"/>
          </a:xfrm>
          <a:prstGeom prst="rect">
            <a:avLst/>
          </a:prstGeom>
          <a:noFill/>
          <a:ln/>
        </p:spPr>
        <p:txBody>
          <a:bodyPr wrap="square" rtlCol="0" anchor="ctr"/>
          <a:lstStyle/>
          <a:p>
            <a:pPr algn="l" indent="0" marL="0">
              <a:buNone/>
            </a:pPr>
            <a:r>
              <a:rPr lang="en-US" sz="1100" dirty="0">
                <a:solidFill>
                  <a:srgbClr val="6B7280"/>
                </a:solidFill>
                <a:latin typeface="Calibri" pitchFamily="34" charset="0"/>
                <a:ea typeface="Calibri" pitchFamily="34" charset="-122"/>
                <a:cs typeface="Calibri" pitchFamily="34" charset="-120"/>
              </a:rPr>
              <a:t>3.5  Sequence Diagram — UC3</a:t>
            </a:r>
            <a:endParaRPr lang="en-US" sz="1100" dirty="0"/>
          </a:p>
        </p:txBody>
      </p:sp>
      <p:sp>
        <p:nvSpPr>
          <p:cNvPr id="3" name="Text 1"/>
          <p:cNvSpPr/>
          <p:nvPr/>
        </p:nvSpPr>
        <p:spPr>
          <a:xfrm>
            <a:off x="9902952" y="274320"/>
            <a:ext cx="18288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Section 3 — 25%</a:t>
            </a:r>
            <a:endParaRPr lang="en-US" sz="1100" dirty="0"/>
          </a:p>
        </p:txBody>
      </p:sp>
      <p:sp>
        <p:nvSpPr>
          <p:cNvPr id="4" name="Shape 2"/>
          <p:cNvSpPr/>
          <p:nvPr/>
        </p:nvSpPr>
        <p:spPr>
          <a:xfrm>
            <a:off x="457200" y="594360"/>
            <a:ext cx="11274552" cy="0"/>
          </a:xfrm>
          <a:prstGeom prst="line">
            <a:avLst/>
          </a:prstGeom>
          <a:noFill/>
          <a:ln w="9525">
            <a:solidFill>
              <a:srgbClr val="D1D5DB"/>
            </a:solidFill>
            <a:prstDash val="solid"/>
          </a:ln>
        </p:spPr>
      </p:sp>
      <p:sp>
        <p:nvSpPr>
          <p:cNvPr id="5" name="Text 3"/>
          <p:cNvSpPr/>
          <p:nvPr/>
        </p:nvSpPr>
        <p:spPr>
          <a:xfrm>
            <a:off x="457200" y="777240"/>
            <a:ext cx="11274552" cy="640080"/>
          </a:xfrm>
          <a:prstGeom prst="rect">
            <a:avLst/>
          </a:prstGeom>
          <a:noFill/>
          <a:ln/>
        </p:spPr>
        <p:txBody>
          <a:bodyPr wrap="square" rtlCol="0" anchor="ctr"/>
          <a:lstStyle/>
          <a:p>
            <a:pPr indent="0" marL="0">
              <a:buNone/>
            </a:pPr>
            <a:r>
              <a:rPr lang="en-US" sz="2800" b="1" dirty="0">
                <a:solidFill>
                  <a:srgbClr val="1F2937"/>
                </a:solidFill>
                <a:latin typeface="Calibri" pitchFamily="34" charset="0"/>
                <a:ea typeface="Calibri" pitchFamily="34" charset="-122"/>
                <a:cs typeface="Calibri" pitchFamily="34" charset="-120"/>
              </a:rPr>
              <a:t>UC3 — Analyse Speaking Style</a:t>
            </a:r>
            <a:endParaRPr lang="en-US" sz="2800" dirty="0"/>
          </a:p>
        </p:txBody>
      </p:sp>
      <p:sp>
        <p:nvSpPr>
          <p:cNvPr id="6" name="Text 4"/>
          <p:cNvSpPr/>
          <p:nvPr/>
        </p:nvSpPr>
        <p:spPr>
          <a:xfrm>
            <a:off x="457200" y="1417320"/>
            <a:ext cx="11274552" cy="365760"/>
          </a:xfrm>
          <a:prstGeom prst="rect">
            <a:avLst/>
          </a:prstGeom>
          <a:noFill/>
          <a:ln/>
        </p:spPr>
        <p:txBody>
          <a:bodyPr wrap="square"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Message numbers below match the Main Success Scenario step numbers in the use case table (Section 2.2).</a:t>
            </a:r>
            <a:endParaRPr lang="en-US" sz="1100" dirty="0"/>
          </a:p>
        </p:txBody>
      </p:sp>
      <p:sp>
        <p:nvSpPr>
          <p:cNvPr id="7" name="Shape 5"/>
          <p:cNvSpPr/>
          <p:nvPr/>
        </p:nvSpPr>
        <p:spPr>
          <a:xfrm>
            <a:off x="457200" y="1828800"/>
            <a:ext cx="11274552" cy="4297680"/>
          </a:xfrm>
          <a:prstGeom prst="rect">
            <a:avLst/>
          </a:prstGeom>
          <a:solidFill>
            <a:srgbClr val="FAFAFA"/>
          </a:solidFill>
          <a:ln w="12700">
            <a:solidFill>
              <a:srgbClr val="D1D5DB"/>
            </a:solidFill>
            <a:prstDash val="dash"/>
          </a:ln>
        </p:spPr>
      </p:sp>
      <p:sp>
        <p:nvSpPr>
          <p:cNvPr id="8" name="Text 6"/>
          <p:cNvSpPr/>
          <p:nvPr/>
        </p:nvSpPr>
        <p:spPr>
          <a:xfrm>
            <a:off x="457200" y="1828800"/>
            <a:ext cx="11274552" cy="4297680"/>
          </a:xfrm>
          <a:prstGeom prst="rect">
            <a:avLst/>
          </a:prstGeom>
          <a:noFill/>
          <a:ln/>
        </p:spPr>
        <p:txBody>
          <a:bodyPr wrap="square" rtlCol="0" anchor="ctr"/>
          <a:lstStyle/>
          <a:p>
            <a:pPr algn="ctr" indent="0" marL="0">
              <a:buNone/>
            </a:pPr>
            <a:r>
              <a:rPr lang="en-US" sz="1300" i="1" dirty="0">
                <a:solidFill>
                  <a:srgbClr val="6B7280"/>
                </a:solidFill>
                <a:latin typeface="Calibri" pitchFamily="34" charset="0"/>
                <a:ea typeface="Calibri" pitchFamily="34" charset="-122"/>
                <a:cs typeface="Calibri" pitchFamily="34" charset="-120"/>
              </a:rPr>
              <a:t>[ Paste sequence diagram — diagrams/sequence-uc3-...mmd ]</a:t>
            </a:r>
            <a:endParaRPr lang="en-US" sz="1300" dirty="0"/>
          </a:p>
        </p:txBody>
      </p:sp>
      <p:sp>
        <p:nvSpPr>
          <p:cNvPr id="9" name="Text 7"/>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SpeakFlow — CS6005 Portfolio</a:t>
            </a:r>
            <a:endParaRPr lang="en-US" sz="900" dirty="0"/>
          </a:p>
        </p:txBody>
      </p:sp>
      <p:sp>
        <p:nvSpPr>
          <p:cNvPr id="10" name="Text 8"/>
          <p:cNvSpPr/>
          <p:nvPr/>
        </p:nvSpPr>
        <p:spPr>
          <a:xfrm>
            <a:off x="10972800" y="6492240"/>
            <a:ext cx="758952"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468880"/>
            <a:ext cx="11274552" cy="457200"/>
          </a:xfrm>
          <a:prstGeom prst="rect">
            <a:avLst/>
          </a:prstGeom>
          <a:noFill/>
          <a:ln/>
        </p:spPr>
        <p:txBody>
          <a:bodyPr wrap="square" rtlCol="0" anchor="ctr"/>
          <a:lstStyle/>
          <a:p>
            <a:pPr indent="0" marL="0">
              <a:buNone/>
            </a:pPr>
            <a:r>
              <a:rPr lang="en-US" sz="1800" dirty="0">
                <a:solidFill>
                  <a:srgbClr val="6B7280"/>
                </a:solidFill>
                <a:latin typeface="Calibri" pitchFamily="34" charset="0"/>
                <a:ea typeface="Calibri" pitchFamily="34" charset="-122"/>
                <a:cs typeface="Calibri" pitchFamily="34" charset="-120"/>
              </a:rPr>
              <a:t>Section 4</a:t>
            </a:r>
            <a:endParaRPr lang="en-US" sz="1800" dirty="0"/>
          </a:p>
        </p:txBody>
      </p:sp>
      <p:sp>
        <p:nvSpPr>
          <p:cNvPr id="3" name="Text 1"/>
          <p:cNvSpPr/>
          <p:nvPr/>
        </p:nvSpPr>
        <p:spPr>
          <a:xfrm>
            <a:off x="457200" y="2926080"/>
            <a:ext cx="11274552" cy="914400"/>
          </a:xfrm>
          <a:prstGeom prst="rect">
            <a:avLst/>
          </a:prstGeom>
          <a:noFill/>
          <a:ln/>
        </p:spPr>
        <p:txBody>
          <a:bodyPr wrap="square" rtlCol="0" anchor="ctr"/>
          <a:lstStyle/>
          <a:p>
            <a:pPr indent="0" marL="0">
              <a:buNone/>
            </a:pPr>
            <a:r>
              <a:rPr lang="en-US" sz="4800" b="1" dirty="0">
                <a:solidFill>
                  <a:srgbClr val="1F2937"/>
                </a:solidFill>
                <a:latin typeface="Calibri" pitchFamily="34" charset="0"/>
                <a:ea typeface="Calibri" pitchFamily="34" charset="-122"/>
                <a:cs typeface="Calibri" pitchFamily="34" charset="-120"/>
              </a:rPr>
              <a:t>Quality of Implementation</a:t>
            </a:r>
            <a:endParaRPr lang="en-US" sz="4800" dirty="0"/>
          </a:p>
        </p:txBody>
      </p:sp>
      <p:sp>
        <p:nvSpPr>
          <p:cNvPr id="4" name="Shape 2"/>
          <p:cNvSpPr/>
          <p:nvPr/>
        </p:nvSpPr>
        <p:spPr>
          <a:xfrm>
            <a:off x="457200" y="3931920"/>
            <a:ext cx="3200400" cy="0"/>
          </a:xfrm>
          <a:prstGeom prst="line">
            <a:avLst/>
          </a:prstGeom>
          <a:noFill/>
          <a:ln w="19050">
            <a:solidFill>
              <a:srgbClr val="1F2937"/>
            </a:solidFill>
            <a:prstDash val="solid"/>
          </a:ln>
        </p:spPr>
      </p:sp>
      <p:sp>
        <p:nvSpPr>
          <p:cNvPr id="5" name="Text 3"/>
          <p:cNvSpPr/>
          <p:nvPr/>
        </p:nvSpPr>
        <p:spPr>
          <a:xfrm>
            <a:off x="457200" y="4023360"/>
            <a:ext cx="11274552" cy="365760"/>
          </a:xfrm>
          <a:prstGeom prst="rect">
            <a:avLst/>
          </a:prstGeom>
          <a:noFill/>
          <a:ln/>
        </p:spPr>
        <p:txBody>
          <a:bodyPr wrap="square" rtlCol="0" anchor="ctr"/>
          <a:lstStyle/>
          <a:p>
            <a:pPr indent="0" marL="0">
              <a:buNone/>
            </a:pPr>
            <a:r>
              <a:rPr lang="en-US" sz="1600" dirty="0">
                <a:solidFill>
                  <a:srgbClr val="6B7280"/>
                </a:solidFill>
                <a:latin typeface="Calibri" pitchFamily="34" charset="0"/>
                <a:ea typeface="Calibri" pitchFamily="34" charset="-122"/>
                <a:cs typeface="Calibri" pitchFamily="34" charset="-120"/>
              </a:rPr>
              <a:t>25%</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274320"/>
            <a:ext cx="9144000" cy="274320"/>
          </a:xfrm>
          <a:prstGeom prst="rect">
            <a:avLst/>
          </a:prstGeom>
          <a:noFill/>
          <a:ln/>
        </p:spPr>
        <p:txBody>
          <a:bodyPr wrap="square" rtlCol="0" anchor="ctr"/>
          <a:lstStyle/>
          <a:p>
            <a:pPr algn="l" indent="0" marL="0">
              <a:buNone/>
            </a:pPr>
            <a:r>
              <a:rPr lang="en-US" sz="1100" dirty="0">
                <a:solidFill>
                  <a:srgbClr val="6B7280"/>
                </a:solidFill>
                <a:latin typeface="Calibri" pitchFamily="34" charset="0"/>
                <a:ea typeface="Calibri" pitchFamily="34" charset="-122"/>
                <a:cs typeface="Calibri" pitchFamily="34" charset="-120"/>
              </a:rPr>
              <a:t>4.1  Trainer screen — ready state (UC1, UC2)</a:t>
            </a:r>
            <a:endParaRPr lang="en-US" sz="1100" dirty="0"/>
          </a:p>
        </p:txBody>
      </p:sp>
      <p:sp>
        <p:nvSpPr>
          <p:cNvPr id="3" name="Text 1"/>
          <p:cNvSpPr/>
          <p:nvPr/>
        </p:nvSpPr>
        <p:spPr>
          <a:xfrm>
            <a:off x="9902952" y="274320"/>
            <a:ext cx="18288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Section 4 — 25%</a:t>
            </a:r>
            <a:endParaRPr lang="en-US" sz="1100" dirty="0"/>
          </a:p>
        </p:txBody>
      </p:sp>
      <p:sp>
        <p:nvSpPr>
          <p:cNvPr id="4" name="Shape 2"/>
          <p:cNvSpPr/>
          <p:nvPr/>
        </p:nvSpPr>
        <p:spPr>
          <a:xfrm>
            <a:off x="457200" y="594360"/>
            <a:ext cx="11274552" cy="0"/>
          </a:xfrm>
          <a:prstGeom prst="line">
            <a:avLst/>
          </a:prstGeom>
          <a:noFill/>
          <a:ln w="9525">
            <a:solidFill>
              <a:srgbClr val="D1D5DB"/>
            </a:solidFill>
            <a:prstDash val="solid"/>
          </a:ln>
        </p:spPr>
      </p:sp>
      <p:sp>
        <p:nvSpPr>
          <p:cNvPr id="5" name="Text 3"/>
          <p:cNvSpPr/>
          <p:nvPr/>
        </p:nvSpPr>
        <p:spPr>
          <a:xfrm>
            <a:off x="457200" y="777240"/>
            <a:ext cx="11274552" cy="640080"/>
          </a:xfrm>
          <a:prstGeom prst="rect">
            <a:avLst/>
          </a:prstGeom>
          <a:noFill/>
          <a:ln/>
        </p:spPr>
        <p:txBody>
          <a:bodyPr wrap="square" rtlCol="0" anchor="ctr"/>
          <a:lstStyle/>
          <a:p>
            <a:pPr indent="0" marL="0">
              <a:buNone/>
            </a:pPr>
            <a:r>
              <a:rPr lang="en-US" sz="2800" b="1" dirty="0">
                <a:solidFill>
                  <a:srgbClr val="1F2937"/>
                </a:solidFill>
                <a:latin typeface="Calibri" pitchFamily="34" charset="0"/>
                <a:ea typeface="Calibri" pitchFamily="34" charset="-122"/>
                <a:cs typeface="Calibri" pitchFamily="34" charset="-120"/>
              </a:rPr>
              <a:t>Trainer screen — ready state (UC1, UC2)</a:t>
            </a:r>
            <a:endParaRPr lang="en-US" sz="2800" dirty="0"/>
          </a:p>
        </p:txBody>
      </p:sp>
      <p:sp>
        <p:nvSpPr>
          <p:cNvPr id="6" name="Shape 4"/>
          <p:cNvSpPr/>
          <p:nvPr/>
        </p:nvSpPr>
        <p:spPr>
          <a:xfrm>
            <a:off x="457200" y="1463040"/>
            <a:ext cx="7315200" cy="4206240"/>
          </a:xfrm>
          <a:prstGeom prst="rect">
            <a:avLst/>
          </a:prstGeom>
          <a:solidFill>
            <a:srgbClr val="FAFAFA"/>
          </a:solidFill>
          <a:ln w="12700">
            <a:solidFill>
              <a:srgbClr val="D1D5DB"/>
            </a:solidFill>
            <a:prstDash val="dash"/>
          </a:ln>
        </p:spPr>
      </p:sp>
      <p:sp>
        <p:nvSpPr>
          <p:cNvPr id="7" name="Text 5"/>
          <p:cNvSpPr/>
          <p:nvPr/>
        </p:nvSpPr>
        <p:spPr>
          <a:xfrm>
            <a:off x="457200" y="1463040"/>
            <a:ext cx="7315200" cy="4206240"/>
          </a:xfrm>
          <a:prstGeom prst="rect">
            <a:avLst/>
          </a:prstGeom>
          <a:noFill/>
          <a:ln/>
        </p:spPr>
        <p:txBody>
          <a:bodyPr wrap="square" rtlCol="0" anchor="ctr"/>
          <a:lstStyle/>
          <a:p>
            <a:pPr algn="ctr" indent="0" marL="0">
              <a:buNone/>
            </a:pPr>
            <a:r>
              <a:rPr lang="en-US" sz="1200" i="1" dirty="0">
                <a:solidFill>
                  <a:srgbClr val="6B7280"/>
                </a:solidFill>
                <a:latin typeface="Calibri" pitchFamily="34" charset="0"/>
                <a:ea typeface="Calibri" pitchFamily="34" charset="-122"/>
                <a:cs typeface="Calibri" pitchFamily="34" charset="-120"/>
              </a:rPr>
              <a:t>[ Screenshot ]</a:t>
            </a:r>
            <a:endParaRPr lang="en-US" sz="1200" dirty="0"/>
          </a:p>
          <a:p>
            <a:pPr algn="ctr" indent="0" marL="0">
              <a:buNone/>
            </a:pPr>
            <a:r>
              <a:rPr lang="en-US" sz="1200" i="1" dirty="0">
                <a:solidFill>
                  <a:srgbClr val="6B7280"/>
                </a:solidFill>
                <a:latin typeface="Calibri" pitchFamily="34" charset="0"/>
                <a:ea typeface="Calibri" pitchFamily="34" charset="-122"/>
                <a:cs typeface="Calibri" pitchFamily="34" charset="-120"/>
              </a:rPr>
              <a:t>TrainerView with prompt visible, Start Recording button highlighted</a:t>
            </a:r>
            <a:endParaRPr lang="en-US" sz="1200" dirty="0"/>
          </a:p>
        </p:txBody>
      </p:sp>
      <p:sp>
        <p:nvSpPr>
          <p:cNvPr id="8" name="Text 6"/>
          <p:cNvSpPr/>
          <p:nvPr/>
        </p:nvSpPr>
        <p:spPr>
          <a:xfrm>
            <a:off x="7955280" y="1463040"/>
            <a:ext cx="3776472" cy="274320"/>
          </a:xfrm>
          <a:prstGeom prst="rect">
            <a:avLst/>
          </a:prstGeom>
          <a:noFill/>
          <a:ln/>
        </p:spPr>
        <p:txBody>
          <a:bodyPr wrap="square"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Caption</a:t>
            </a:r>
            <a:endParaRPr lang="en-US" sz="1200" dirty="0"/>
          </a:p>
        </p:txBody>
      </p:sp>
      <p:sp>
        <p:nvSpPr>
          <p:cNvPr id="9" name="Text 7"/>
          <p:cNvSpPr/>
          <p:nvPr/>
        </p:nvSpPr>
        <p:spPr>
          <a:xfrm>
            <a:off x="7955280" y="1783080"/>
            <a:ext cx="3776472" cy="3886200"/>
          </a:xfrm>
          <a:prstGeom prst="rect">
            <a:avLst/>
          </a:prstGeom>
          <a:noFill/>
          <a:ln/>
        </p:spPr>
        <p:txBody>
          <a:bodyPr wrap="square" rtlCol="0" anchor="t"/>
          <a:lstStyle/>
          <a:p>
            <a:pPr indent="0" marL="0">
              <a:spcAft>
                <a:spcPts val="400"/>
              </a:spcAft>
              <a:buNone/>
            </a:pPr>
            <a:r>
              <a:rPr lang="en-US" sz="1100" dirty="0">
                <a:solidFill>
                  <a:srgbClr val="1F2937"/>
                </a:solidFill>
                <a:latin typeface="Calibri" pitchFamily="34" charset="0"/>
                <a:ea typeface="Calibri" pitchFamily="34" charset="-122"/>
                <a:cs typeface="Calibri" pitchFamily="34" charset="-120"/>
              </a:rPr>
              <a:t>TrainerView after UC1 "Generate Speaking Prompt". Topic shown is the Prompt.topic returned by PromptController.generatePrompt() in step 6 of the UC1 success scenario. The "Go" button triggers UC2 step 1.</a:t>
            </a:r>
            <a:endParaRPr lang="en-US" sz="1100" dirty="0"/>
          </a:p>
        </p:txBody>
      </p:sp>
      <p:sp>
        <p:nvSpPr>
          <p:cNvPr id="10" name="Text 8"/>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SpeakFlow — CS6005 Portfolio</a:t>
            </a:r>
            <a:endParaRPr lang="en-US" sz="900" dirty="0"/>
          </a:p>
        </p:txBody>
      </p:sp>
      <p:sp>
        <p:nvSpPr>
          <p:cNvPr id="11" name="Text 9"/>
          <p:cNvSpPr/>
          <p:nvPr/>
        </p:nvSpPr>
        <p:spPr>
          <a:xfrm>
            <a:off x="10972800" y="6492240"/>
            <a:ext cx="758952"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274320"/>
            <a:ext cx="9144000" cy="274320"/>
          </a:xfrm>
          <a:prstGeom prst="rect">
            <a:avLst/>
          </a:prstGeom>
          <a:noFill/>
          <a:ln/>
        </p:spPr>
        <p:txBody>
          <a:bodyPr wrap="square" rtlCol="0" anchor="ctr"/>
          <a:lstStyle/>
          <a:p>
            <a:pPr algn="l" indent="0" marL="0">
              <a:buNone/>
            </a:pPr>
            <a:r>
              <a:rPr lang="en-US" sz="1100" dirty="0">
                <a:solidFill>
                  <a:srgbClr val="6B7280"/>
                </a:solidFill>
                <a:latin typeface="Calibri" pitchFamily="34" charset="0"/>
                <a:ea typeface="Calibri" pitchFamily="34" charset="-122"/>
                <a:cs typeface="Calibri" pitchFamily="34" charset="-120"/>
              </a:rPr>
              <a:t>4.2  Trainer screen — recording in progress (UC2)</a:t>
            </a:r>
            <a:endParaRPr lang="en-US" sz="1100" dirty="0"/>
          </a:p>
        </p:txBody>
      </p:sp>
      <p:sp>
        <p:nvSpPr>
          <p:cNvPr id="3" name="Text 1"/>
          <p:cNvSpPr/>
          <p:nvPr/>
        </p:nvSpPr>
        <p:spPr>
          <a:xfrm>
            <a:off x="9902952" y="274320"/>
            <a:ext cx="18288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Section 4 — 25%</a:t>
            </a:r>
            <a:endParaRPr lang="en-US" sz="1100" dirty="0"/>
          </a:p>
        </p:txBody>
      </p:sp>
      <p:sp>
        <p:nvSpPr>
          <p:cNvPr id="4" name="Shape 2"/>
          <p:cNvSpPr/>
          <p:nvPr/>
        </p:nvSpPr>
        <p:spPr>
          <a:xfrm>
            <a:off x="457200" y="594360"/>
            <a:ext cx="11274552" cy="0"/>
          </a:xfrm>
          <a:prstGeom prst="line">
            <a:avLst/>
          </a:prstGeom>
          <a:noFill/>
          <a:ln w="9525">
            <a:solidFill>
              <a:srgbClr val="D1D5DB"/>
            </a:solidFill>
            <a:prstDash val="solid"/>
          </a:ln>
        </p:spPr>
      </p:sp>
      <p:sp>
        <p:nvSpPr>
          <p:cNvPr id="5" name="Text 3"/>
          <p:cNvSpPr/>
          <p:nvPr/>
        </p:nvSpPr>
        <p:spPr>
          <a:xfrm>
            <a:off x="457200" y="777240"/>
            <a:ext cx="11274552" cy="640080"/>
          </a:xfrm>
          <a:prstGeom prst="rect">
            <a:avLst/>
          </a:prstGeom>
          <a:noFill/>
          <a:ln/>
        </p:spPr>
        <p:txBody>
          <a:bodyPr wrap="square" rtlCol="0" anchor="ctr"/>
          <a:lstStyle/>
          <a:p>
            <a:pPr indent="0" marL="0">
              <a:buNone/>
            </a:pPr>
            <a:r>
              <a:rPr lang="en-US" sz="2800" b="1" dirty="0">
                <a:solidFill>
                  <a:srgbClr val="1F2937"/>
                </a:solidFill>
                <a:latin typeface="Calibri" pitchFamily="34" charset="0"/>
                <a:ea typeface="Calibri" pitchFamily="34" charset="-122"/>
                <a:cs typeface="Calibri" pitchFamily="34" charset="-120"/>
              </a:rPr>
              <a:t>Trainer screen — recording in progress (UC2)</a:t>
            </a:r>
            <a:endParaRPr lang="en-US" sz="2800" dirty="0"/>
          </a:p>
        </p:txBody>
      </p:sp>
      <p:sp>
        <p:nvSpPr>
          <p:cNvPr id="6" name="Shape 4"/>
          <p:cNvSpPr/>
          <p:nvPr/>
        </p:nvSpPr>
        <p:spPr>
          <a:xfrm>
            <a:off x="457200" y="1463040"/>
            <a:ext cx="7315200" cy="4206240"/>
          </a:xfrm>
          <a:prstGeom prst="rect">
            <a:avLst/>
          </a:prstGeom>
          <a:solidFill>
            <a:srgbClr val="FAFAFA"/>
          </a:solidFill>
          <a:ln w="12700">
            <a:solidFill>
              <a:srgbClr val="D1D5DB"/>
            </a:solidFill>
            <a:prstDash val="dash"/>
          </a:ln>
        </p:spPr>
      </p:sp>
      <p:sp>
        <p:nvSpPr>
          <p:cNvPr id="7" name="Text 5"/>
          <p:cNvSpPr/>
          <p:nvPr/>
        </p:nvSpPr>
        <p:spPr>
          <a:xfrm>
            <a:off x="457200" y="1463040"/>
            <a:ext cx="7315200" cy="4206240"/>
          </a:xfrm>
          <a:prstGeom prst="rect">
            <a:avLst/>
          </a:prstGeom>
          <a:noFill/>
          <a:ln/>
        </p:spPr>
        <p:txBody>
          <a:bodyPr wrap="square" rtlCol="0" anchor="ctr"/>
          <a:lstStyle/>
          <a:p>
            <a:pPr algn="ctr" indent="0" marL="0">
              <a:buNone/>
            </a:pPr>
            <a:r>
              <a:rPr lang="en-US" sz="1200" i="1" dirty="0">
                <a:solidFill>
                  <a:srgbClr val="6B7280"/>
                </a:solidFill>
                <a:latin typeface="Calibri" pitchFamily="34" charset="0"/>
                <a:ea typeface="Calibri" pitchFamily="34" charset="-122"/>
                <a:cs typeface="Calibri" pitchFamily="34" charset="-120"/>
              </a:rPr>
              <a:t>[ Screenshot ]</a:t>
            </a:r>
            <a:endParaRPr lang="en-US" sz="1200" dirty="0"/>
          </a:p>
          <a:p>
            <a:pPr algn="ctr" indent="0" marL="0">
              <a:buNone/>
            </a:pPr>
            <a:r>
              <a:rPr lang="en-US" sz="1200" i="1" dirty="0">
                <a:solidFill>
                  <a:srgbClr val="6B7280"/>
                </a:solidFill>
                <a:latin typeface="Calibri" pitchFamily="34" charset="0"/>
                <a:ea typeface="Calibri" pitchFamily="34" charset="-122"/>
                <a:cs typeface="Calibri" pitchFamily="34" charset="-120"/>
              </a:rPr>
              <a:t>Mid-drill: countdown ticking, transcript filling in, filler word highlighted</a:t>
            </a:r>
            <a:endParaRPr lang="en-US" sz="1200" dirty="0"/>
          </a:p>
        </p:txBody>
      </p:sp>
      <p:sp>
        <p:nvSpPr>
          <p:cNvPr id="8" name="Text 6"/>
          <p:cNvSpPr/>
          <p:nvPr/>
        </p:nvSpPr>
        <p:spPr>
          <a:xfrm>
            <a:off x="7955280" y="1463040"/>
            <a:ext cx="3776472" cy="274320"/>
          </a:xfrm>
          <a:prstGeom prst="rect">
            <a:avLst/>
          </a:prstGeom>
          <a:noFill/>
          <a:ln/>
        </p:spPr>
        <p:txBody>
          <a:bodyPr wrap="square"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Caption</a:t>
            </a:r>
            <a:endParaRPr lang="en-US" sz="1200" dirty="0"/>
          </a:p>
        </p:txBody>
      </p:sp>
      <p:sp>
        <p:nvSpPr>
          <p:cNvPr id="9" name="Text 7"/>
          <p:cNvSpPr/>
          <p:nvPr/>
        </p:nvSpPr>
        <p:spPr>
          <a:xfrm>
            <a:off x="7955280" y="1783080"/>
            <a:ext cx="3776472" cy="3886200"/>
          </a:xfrm>
          <a:prstGeom prst="rect">
            <a:avLst/>
          </a:prstGeom>
          <a:noFill/>
          <a:ln/>
        </p:spPr>
        <p:txBody>
          <a:bodyPr wrap="square" rtlCol="0" anchor="t"/>
          <a:lstStyle/>
          <a:p>
            <a:pPr indent="0" marL="0">
              <a:spcAft>
                <a:spcPts val="400"/>
              </a:spcAft>
              <a:buNone/>
            </a:pPr>
            <a:r>
              <a:rPr lang="en-US" sz="1100" dirty="0">
                <a:solidFill>
                  <a:srgbClr val="1F2937"/>
                </a:solidFill>
                <a:latin typeface="Calibri" pitchFamily="34" charset="0"/>
                <a:ea typeface="Calibri" pitchFamily="34" charset="-122"/>
                <a:cs typeface="Calibri" pitchFamily="34" charset="-120"/>
              </a:rPr>
              <a:t>Live transcript updating in real time. Each line is a TranscriptSegment emitted by SpeechRecognitionService (UC2 step 6) and forwarded by RecordingController (step 7). Filler words are colour-coded — the incremental-processing benefit of the pipe-and-filter architecture.</a:t>
            </a:r>
            <a:endParaRPr lang="en-US" sz="1100" dirty="0"/>
          </a:p>
        </p:txBody>
      </p:sp>
      <p:sp>
        <p:nvSpPr>
          <p:cNvPr id="10" name="Text 8"/>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SpeakFlow — CS6005 Portfolio</a:t>
            </a:r>
            <a:endParaRPr lang="en-US" sz="900" dirty="0"/>
          </a:p>
        </p:txBody>
      </p:sp>
      <p:sp>
        <p:nvSpPr>
          <p:cNvPr id="11" name="Text 9"/>
          <p:cNvSpPr/>
          <p:nvPr/>
        </p:nvSpPr>
        <p:spPr>
          <a:xfrm>
            <a:off x="10972800" y="6492240"/>
            <a:ext cx="758952"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274320"/>
            <a:ext cx="9144000" cy="274320"/>
          </a:xfrm>
          <a:prstGeom prst="rect">
            <a:avLst/>
          </a:prstGeom>
          <a:noFill/>
          <a:ln/>
        </p:spPr>
        <p:txBody>
          <a:bodyPr wrap="square" rtlCol="0" anchor="ctr"/>
          <a:lstStyle/>
          <a:p>
            <a:pPr algn="l" indent="0" marL="0">
              <a:buNone/>
            </a:pPr>
            <a:r>
              <a:rPr lang="en-US" sz="1100" dirty="0">
                <a:solidFill>
                  <a:srgbClr val="6B7280"/>
                </a:solidFill>
                <a:latin typeface="Calibri" pitchFamily="34" charset="0"/>
                <a:ea typeface="Calibri" pitchFamily="34" charset="-122"/>
                <a:cs typeface="Calibri" pitchFamily="34" charset="-120"/>
              </a:rPr>
              <a:t>4.3  Trainer screen — post-recording (UC2 complete)</a:t>
            </a:r>
            <a:endParaRPr lang="en-US" sz="1100" dirty="0"/>
          </a:p>
        </p:txBody>
      </p:sp>
      <p:sp>
        <p:nvSpPr>
          <p:cNvPr id="3" name="Text 1"/>
          <p:cNvSpPr/>
          <p:nvPr/>
        </p:nvSpPr>
        <p:spPr>
          <a:xfrm>
            <a:off x="9902952" y="274320"/>
            <a:ext cx="18288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Section 4 — 25%</a:t>
            </a:r>
            <a:endParaRPr lang="en-US" sz="1100" dirty="0"/>
          </a:p>
        </p:txBody>
      </p:sp>
      <p:sp>
        <p:nvSpPr>
          <p:cNvPr id="4" name="Shape 2"/>
          <p:cNvSpPr/>
          <p:nvPr/>
        </p:nvSpPr>
        <p:spPr>
          <a:xfrm>
            <a:off x="457200" y="594360"/>
            <a:ext cx="11274552" cy="0"/>
          </a:xfrm>
          <a:prstGeom prst="line">
            <a:avLst/>
          </a:prstGeom>
          <a:noFill/>
          <a:ln w="9525">
            <a:solidFill>
              <a:srgbClr val="D1D5DB"/>
            </a:solidFill>
            <a:prstDash val="solid"/>
          </a:ln>
        </p:spPr>
      </p:sp>
      <p:sp>
        <p:nvSpPr>
          <p:cNvPr id="5" name="Text 3"/>
          <p:cNvSpPr/>
          <p:nvPr/>
        </p:nvSpPr>
        <p:spPr>
          <a:xfrm>
            <a:off x="457200" y="777240"/>
            <a:ext cx="11274552" cy="640080"/>
          </a:xfrm>
          <a:prstGeom prst="rect">
            <a:avLst/>
          </a:prstGeom>
          <a:noFill/>
          <a:ln/>
        </p:spPr>
        <p:txBody>
          <a:bodyPr wrap="square" rtlCol="0" anchor="ctr"/>
          <a:lstStyle/>
          <a:p>
            <a:pPr indent="0" marL="0">
              <a:buNone/>
            </a:pPr>
            <a:r>
              <a:rPr lang="en-US" sz="2800" b="1" dirty="0">
                <a:solidFill>
                  <a:srgbClr val="1F2937"/>
                </a:solidFill>
                <a:latin typeface="Calibri" pitchFamily="34" charset="0"/>
                <a:ea typeface="Calibri" pitchFamily="34" charset="-122"/>
                <a:cs typeface="Calibri" pitchFamily="34" charset="-120"/>
              </a:rPr>
              <a:t>Trainer screen — post-recording (UC2 complete)</a:t>
            </a:r>
            <a:endParaRPr lang="en-US" sz="2800" dirty="0"/>
          </a:p>
        </p:txBody>
      </p:sp>
      <p:sp>
        <p:nvSpPr>
          <p:cNvPr id="6" name="Shape 4"/>
          <p:cNvSpPr/>
          <p:nvPr/>
        </p:nvSpPr>
        <p:spPr>
          <a:xfrm>
            <a:off x="457200" y="1463040"/>
            <a:ext cx="7315200" cy="4206240"/>
          </a:xfrm>
          <a:prstGeom prst="rect">
            <a:avLst/>
          </a:prstGeom>
          <a:solidFill>
            <a:srgbClr val="FAFAFA"/>
          </a:solidFill>
          <a:ln w="12700">
            <a:solidFill>
              <a:srgbClr val="D1D5DB"/>
            </a:solidFill>
            <a:prstDash val="dash"/>
          </a:ln>
        </p:spPr>
      </p:sp>
      <p:sp>
        <p:nvSpPr>
          <p:cNvPr id="7" name="Text 5"/>
          <p:cNvSpPr/>
          <p:nvPr/>
        </p:nvSpPr>
        <p:spPr>
          <a:xfrm>
            <a:off x="457200" y="1463040"/>
            <a:ext cx="7315200" cy="4206240"/>
          </a:xfrm>
          <a:prstGeom prst="rect">
            <a:avLst/>
          </a:prstGeom>
          <a:noFill/>
          <a:ln/>
        </p:spPr>
        <p:txBody>
          <a:bodyPr wrap="square" rtlCol="0" anchor="ctr"/>
          <a:lstStyle/>
          <a:p>
            <a:pPr algn="ctr" indent="0" marL="0">
              <a:buNone/>
            </a:pPr>
            <a:r>
              <a:rPr lang="en-US" sz="1200" i="1" dirty="0">
                <a:solidFill>
                  <a:srgbClr val="6B7280"/>
                </a:solidFill>
                <a:latin typeface="Calibri" pitchFamily="34" charset="0"/>
                <a:ea typeface="Calibri" pitchFamily="34" charset="-122"/>
                <a:cs typeface="Calibri" pitchFamily="34" charset="-120"/>
              </a:rPr>
              <a:t>[ Screenshot ]</a:t>
            </a:r>
            <a:endParaRPr lang="en-US" sz="1200" dirty="0"/>
          </a:p>
          <a:p>
            <a:pPr algn="ctr" indent="0" marL="0">
              <a:buNone/>
            </a:pPr>
            <a:r>
              <a:rPr lang="en-US" sz="1200" i="1" dirty="0">
                <a:solidFill>
                  <a:srgbClr val="6B7280"/>
                </a:solidFill>
                <a:latin typeface="Calibri" pitchFamily="34" charset="0"/>
                <a:ea typeface="Calibri" pitchFamily="34" charset="-122"/>
                <a:cs typeface="Calibri" pitchFamily="34" charset="-120"/>
              </a:rPr>
              <a:t>Just after Stop: final transcript + "Session saved" indicator + Analyse button</a:t>
            </a:r>
            <a:endParaRPr lang="en-US" sz="1200" dirty="0"/>
          </a:p>
        </p:txBody>
      </p:sp>
      <p:sp>
        <p:nvSpPr>
          <p:cNvPr id="8" name="Text 6"/>
          <p:cNvSpPr/>
          <p:nvPr/>
        </p:nvSpPr>
        <p:spPr>
          <a:xfrm>
            <a:off x="7955280" y="1463040"/>
            <a:ext cx="3776472" cy="274320"/>
          </a:xfrm>
          <a:prstGeom prst="rect">
            <a:avLst/>
          </a:prstGeom>
          <a:noFill/>
          <a:ln/>
        </p:spPr>
        <p:txBody>
          <a:bodyPr wrap="square"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Caption</a:t>
            </a:r>
            <a:endParaRPr lang="en-US" sz="1200" dirty="0"/>
          </a:p>
        </p:txBody>
      </p:sp>
      <p:sp>
        <p:nvSpPr>
          <p:cNvPr id="9" name="Text 7"/>
          <p:cNvSpPr/>
          <p:nvPr/>
        </p:nvSpPr>
        <p:spPr>
          <a:xfrm>
            <a:off x="7955280" y="1783080"/>
            <a:ext cx="3776472" cy="3886200"/>
          </a:xfrm>
          <a:prstGeom prst="rect">
            <a:avLst/>
          </a:prstGeom>
          <a:noFill/>
          <a:ln/>
        </p:spPr>
        <p:txBody>
          <a:bodyPr wrap="square" rtlCol="0" anchor="t"/>
          <a:lstStyle/>
          <a:p>
            <a:pPr indent="0" marL="0">
              <a:spcAft>
                <a:spcPts val="400"/>
              </a:spcAft>
              <a:buNone/>
            </a:pPr>
            <a:r>
              <a:rPr lang="en-US" sz="1100" dirty="0">
                <a:solidFill>
                  <a:srgbClr val="1F2937"/>
                </a:solidFill>
                <a:latin typeface="Calibri" pitchFamily="34" charset="0"/>
                <a:ea typeface="Calibri" pitchFamily="34" charset="-122"/>
                <a:cs typeface="Calibri" pitchFamily="34" charset="-120"/>
              </a:rPr>
              <a:t>After UC2 step 13: AudioRecording persisted via DataRepository.saveRecording(); the recordingId has returned to the view. The Analyse button is the entry point to UC3.</a:t>
            </a:r>
            <a:endParaRPr lang="en-US" sz="1100" dirty="0"/>
          </a:p>
        </p:txBody>
      </p:sp>
      <p:sp>
        <p:nvSpPr>
          <p:cNvPr id="10" name="Text 8"/>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SpeakFlow — CS6005 Portfolio</a:t>
            </a:r>
            <a:endParaRPr lang="en-US" sz="900" dirty="0"/>
          </a:p>
        </p:txBody>
      </p:sp>
      <p:sp>
        <p:nvSpPr>
          <p:cNvPr id="11" name="Text 9"/>
          <p:cNvSpPr/>
          <p:nvPr/>
        </p:nvSpPr>
        <p:spPr>
          <a:xfrm>
            <a:off x="10972800" y="6492240"/>
            <a:ext cx="758952"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274320"/>
            <a:ext cx="9144000" cy="274320"/>
          </a:xfrm>
          <a:prstGeom prst="rect">
            <a:avLst/>
          </a:prstGeom>
          <a:noFill/>
          <a:ln/>
        </p:spPr>
        <p:txBody>
          <a:bodyPr wrap="square" rtlCol="0" anchor="ctr"/>
          <a:lstStyle/>
          <a:p>
            <a:pPr algn="l" indent="0" marL="0">
              <a:buNone/>
            </a:pPr>
            <a:r>
              <a:rPr lang="en-US" sz="1100" dirty="0">
                <a:solidFill>
                  <a:srgbClr val="6B7280"/>
                </a:solidFill>
                <a:latin typeface="Calibri" pitchFamily="34" charset="0"/>
                <a:ea typeface="Calibri" pitchFamily="34" charset="-122"/>
                <a:cs typeface="Calibri" pitchFamily="34" charset="-120"/>
              </a:rPr>
              <a:t>4.4  Dashboard — history list (UC3 entry point)</a:t>
            </a:r>
            <a:endParaRPr lang="en-US" sz="1100" dirty="0"/>
          </a:p>
        </p:txBody>
      </p:sp>
      <p:sp>
        <p:nvSpPr>
          <p:cNvPr id="3" name="Text 1"/>
          <p:cNvSpPr/>
          <p:nvPr/>
        </p:nvSpPr>
        <p:spPr>
          <a:xfrm>
            <a:off x="9902952" y="274320"/>
            <a:ext cx="18288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Section 4 — 25%</a:t>
            </a:r>
            <a:endParaRPr lang="en-US" sz="1100" dirty="0"/>
          </a:p>
        </p:txBody>
      </p:sp>
      <p:sp>
        <p:nvSpPr>
          <p:cNvPr id="4" name="Shape 2"/>
          <p:cNvSpPr/>
          <p:nvPr/>
        </p:nvSpPr>
        <p:spPr>
          <a:xfrm>
            <a:off x="457200" y="594360"/>
            <a:ext cx="11274552" cy="0"/>
          </a:xfrm>
          <a:prstGeom prst="line">
            <a:avLst/>
          </a:prstGeom>
          <a:noFill/>
          <a:ln w="9525">
            <a:solidFill>
              <a:srgbClr val="D1D5DB"/>
            </a:solidFill>
            <a:prstDash val="solid"/>
          </a:ln>
        </p:spPr>
      </p:sp>
      <p:sp>
        <p:nvSpPr>
          <p:cNvPr id="5" name="Text 3"/>
          <p:cNvSpPr/>
          <p:nvPr/>
        </p:nvSpPr>
        <p:spPr>
          <a:xfrm>
            <a:off x="457200" y="777240"/>
            <a:ext cx="11274552" cy="640080"/>
          </a:xfrm>
          <a:prstGeom prst="rect">
            <a:avLst/>
          </a:prstGeom>
          <a:noFill/>
          <a:ln/>
        </p:spPr>
        <p:txBody>
          <a:bodyPr wrap="square" rtlCol="0" anchor="ctr"/>
          <a:lstStyle/>
          <a:p>
            <a:pPr indent="0" marL="0">
              <a:buNone/>
            </a:pPr>
            <a:r>
              <a:rPr lang="en-US" sz="2800" b="1" dirty="0">
                <a:solidFill>
                  <a:srgbClr val="1F2937"/>
                </a:solidFill>
                <a:latin typeface="Calibri" pitchFamily="34" charset="0"/>
                <a:ea typeface="Calibri" pitchFamily="34" charset="-122"/>
                <a:cs typeface="Calibri" pitchFamily="34" charset="-120"/>
              </a:rPr>
              <a:t>Dashboard — history list (UC3 entry point)</a:t>
            </a:r>
            <a:endParaRPr lang="en-US" sz="2800" dirty="0"/>
          </a:p>
        </p:txBody>
      </p:sp>
      <p:sp>
        <p:nvSpPr>
          <p:cNvPr id="6" name="Shape 4"/>
          <p:cNvSpPr/>
          <p:nvPr/>
        </p:nvSpPr>
        <p:spPr>
          <a:xfrm>
            <a:off x="457200" y="1463040"/>
            <a:ext cx="7315200" cy="4206240"/>
          </a:xfrm>
          <a:prstGeom prst="rect">
            <a:avLst/>
          </a:prstGeom>
          <a:solidFill>
            <a:srgbClr val="FAFAFA"/>
          </a:solidFill>
          <a:ln w="12700">
            <a:solidFill>
              <a:srgbClr val="D1D5DB"/>
            </a:solidFill>
            <a:prstDash val="dash"/>
          </a:ln>
        </p:spPr>
      </p:sp>
      <p:sp>
        <p:nvSpPr>
          <p:cNvPr id="7" name="Text 5"/>
          <p:cNvSpPr/>
          <p:nvPr/>
        </p:nvSpPr>
        <p:spPr>
          <a:xfrm>
            <a:off x="457200" y="1463040"/>
            <a:ext cx="7315200" cy="4206240"/>
          </a:xfrm>
          <a:prstGeom prst="rect">
            <a:avLst/>
          </a:prstGeom>
          <a:noFill/>
          <a:ln/>
        </p:spPr>
        <p:txBody>
          <a:bodyPr wrap="square" rtlCol="0" anchor="ctr"/>
          <a:lstStyle/>
          <a:p>
            <a:pPr algn="ctr" indent="0" marL="0">
              <a:buNone/>
            </a:pPr>
            <a:r>
              <a:rPr lang="en-US" sz="1200" i="1" dirty="0">
                <a:solidFill>
                  <a:srgbClr val="6B7280"/>
                </a:solidFill>
                <a:latin typeface="Calibri" pitchFamily="34" charset="0"/>
                <a:ea typeface="Calibri" pitchFamily="34" charset="-122"/>
                <a:cs typeface="Calibri" pitchFamily="34" charset="-120"/>
              </a:rPr>
              <a:t>[ Screenshot ]</a:t>
            </a:r>
            <a:endParaRPr lang="en-US" sz="1200" dirty="0"/>
          </a:p>
          <a:p>
            <a:pPr algn="ctr" indent="0" marL="0">
              <a:buNone/>
            </a:pPr>
            <a:r>
              <a:rPr lang="en-US" sz="1200" i="1" dirty="0">
                <a:solidFill>
                  <a:srgbClr val="6B7280"/>
                </a:solidFill>
                <a:latin typeface="Calibri" pitchFamily="34" charset="0"/>
                <a:ea typeface="Calibri" pitchFamily="34" charset="-122"/>
                <a:cs typeface="Calibri" pitchFamily="34" charset="-120"/>
              </a:rPr>
              <a:t>DashboardView with 3–4 past drills listed by date with summaries</a:t>
            </a:r>
            <a:endParaRPr lang="en-US" sz="1200" dirty="0"/>
          </a:p>
        </p:txBody>
      </p:sp>
      <p:sp>
        <p:nvSpPr>
          <p:cNvPr id="8" name="Text 6"/>
          <p:cNvSpPr/>
          <p:nvPr/>
        </p:nvSpPr>
        <p:spPr>
          <a:xfrm>
            <a:off x="7955280" y="1463040"/>
            <a:ext cx="3776472" cy="274320"/>
          </a:xfrm>
          <a:prstGeom prst="rect">
            <a:avLst/>
          </a:prstGeom>
          <a:noFill/>
          <a:ln/>
        </p:spPr>
        <p:txBody>
          <a:bodyPr wrap="square"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Caption</a:t>
            </a:r>
            <a:endParaRPr lang="en-US" sz="1200" dirty="0"/>
          </a:p>
        </p:txBody>
      </p:sp>
      <p:sp>
        <p:nvSpPr>
          <p:cNvPr id="9" name="Text 7"/>
          <p:cNvSpPr/>
          <p:nvPr/>
        </p:nvSpPr>
        <p:spPr>
          <a:xfrm>
            <a:off x="7955280" y="1783080"/>
            <a:ext cx="3776472" cy="3886200"/>
          </a:xfrm>
          <a:prstGeom prst="rect">
            <a:avLst/>
          </a:prstGeom>
          <a:noFill/>
          <a:ln/>
        </p:spPr>
        <p:txBody>
          <a:bodyPr wrap="square" rtlCol="0" anchor="t"/>
          <a:lstStyle/>
          <a:p>
            <a:pPr indent="0" marL="0">
              <a:spcAft>
                <a:spcPts val="400"/>
              </a:spcAft>
              <a:buNone/>
            </a:pPr>
            <a:r>
              <a:rPr lang="en-US" sz="1100" dirty="0">
                <a:solidFill>
                  <a:srgbClr val="1F2937"/>
                </a:solidFill>
                <a:latin typeface="Calibri" pitchFamily="34" charset="0"/>
                <a:ea typeface="Calibri" pitchFamily="34" charset="-122"/>
                <a:cs typeface="Calibri" pitchFamily="34" charset="-120"/>
              </a:rPr>
              <a:t>DashboardView showing past DrillSessions loaded from DataRepository. Clicking Analyse on any row triggers UC3 step 1.</a:t>
            </a:r>
            <a:endParaRPr lang="en-US" sz="1100" dirty="0"/>
          </a:p>
        </p:txBody>
      </p:sp>
      <p:sp>
        <p:nvSpPr>
          <p:cNvPr id="10" name="Text 8"/>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SpeakFlow — CS6005 Portfolio</a:t>
            </a:r>
            <a:endParaRPr lang="en-US" sz="900" dirty="0"/>
          </a:p>
        </p:txBody>
      </p:sp>
      <p:sp>
        <p:nvSpPr>
          <p:cNvPr id="11" name="Text 9"/>
          <p:cNvSpPr/>
          <p:nvPr/>
        </p:nvSpPr>
        <p:spPr>
          <a:xfrm>
            <a:off x="10972800" y="6492240"/>
            <a:ext cx="758952"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274320"/>
            <a:ext cx="9144000" cy="274320"/>
          </a:xfrm>
          <a:prstGeom prst="rect">
            <a:avLst/>
          </a:prstGeom>
          <a:noFill/>
          <a:ln/>
        </p:spPr>
        <p:txBody>
          <a:bodyPr wrap="square" rtlCol="0" anchor="ctr"/>
          <a:lstStyle/>
          <a:p>
            <a:pPr algn="l" indent="0" marL="0">
              <a:buNone/>
            </a:pPr>
            <a:r>
              <a:rPr lang="en-US" sz="1100" dirty="0">
                <a:solidFill>
                  <a:srgbClr val="6B7280"/>
                </a:solidFill>
                <a:latin typeface="Calibri" pitchFamily="34" charset="0"/>
                <a:ea typeface="Calibri" pitchFamily="34" charset="-122"/>
                <a:cs typeface="Calibri" pitchFamily="34" charset="-120"/>
              </a:rPr>
              <a:t>4.5  Dashboard — AI feedback (UC3)</a:t>
            </a:r>
            <a:endParaRPr lang="en-US" sz="1100" dirty="0"/>
          </a:p>
        </p:txBody>
      </p:sp>
      <p:sp>
        <p:nvSpPr>
          <p:cNvPr id="3" name="Text 1"/>
          <p:cNvSpPr/>
          <p:nvPr/>
        </p:nvSpPr>
        <p:spPr>
          <a:xfrm>
            <a:off x="9902952" y="274320"/>
            <a:ext cx="18288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Section 4 — 25%</a:t>
            </a:r>
            <a:endParaRPr lang="en-US" sz="1100" dirty="0"/>
          </a:p>
        </p:txBody>
      </p:sp>
      <p:sp>
        <p:nvSpPr>
          <p:cNvPr id="4" name="Shape 2"/>
          <p:cNvSpPr/>
          <p:nvPr/>
        </p:nvSpPr>
        <p:spPr>
          <a:xfrm>
            <a:off x="457200" y="594360"/>
            <a:ext cx="11274552" cy="0"/>
          </a:xfrm>
          <a:prstGeom prst="line">
            <a:avLst/>
          </a:prstGeom>
          <a:noFill/>
          <a:ln w="9525">
            <a:solidFill>
              <a:srgbClr val="D1D5DB"/>
            </a:solidFill>
            <a:prstDash val="solid"/>
          </a:ln>
        </p:spPr>
      </p:sp>
      <p:sp>
        <p:nvSpPr>
          <p:cNvPr id="5" name="Text 3"/>
          <p:cNvSpPr/>
          <p:nvPr/>
        </p:nvSpPr>
        <p:spPr>
          <a:xfrm>
            <a:off x="457200" y="777240"/>
            <a:ext cx="11274552" cy="640080"/>
          </a:xfrm>
          <a:prstGeom prst="rect">
            <a:avLst/>
          </a:prstGeom>
          <a:noFill/>
          <a:ln/>
        </p:spPr>
        <p:txBody>
          <a:bodyPr wrap="square" rtlCol="0" anchor="ctr"/>
          <a:lstStyle/>
          <a:p>
            <a:pPr indent="0" marL="0">
              <a:buNone/>
            </a:pPr>
            <a:r>
              <a:rPr lang="en-US" sz="2800" b="1" dirty="0">
                <a:solidFill>
                  <a:srgbClr val="1F2937"/>
                </a:solidFill>
                <a:latin typeface="Calibri" pitchFamily="34" charset="0"/>
                <a:ea typeface="Calibri" pitchFamily="34" charset="-122"/>
                <a:cs typeface="Calibri" pitchFamily="34" charset="-120"/>
              </a:rPr>
              <a:t>Dashboard — AI feedback (UC3)</a:t>
            </a:r>
            <a:endParaRPr lang="en-US" sz="2800" dirty="0"/>
          </a:p>
        </p:txBody>
      </p:sp>
      <p:sp>
        <p:nvSpPr>
          <p:cNvPr id="6" name="Shape 4"/>
          <p:cNvSpPr/>
          <p:nvPr/>
        </p:nvSpPr>
        <p:spPr>
          <a:xfrm>
            <a:off x="457200" y="1463040"/>
            <a:ext cx="7315200" cy="4206240"/>
          </a:xfrm>
          <a:prstGeom prst="rect">
            <a:avLst/>
          </a:prstGeom>
          <a:solidFill>
            <a:srgbClr val="FAFAFA"/>
          </a:solidFill>
          <a:ln w="12700">
            <a:solidFill>
              <a:srgbClr val="D1D5DB"/>
            </a:solidFill>
            <a:prstDash val="dash"/>
          </a:ln>
        </p:spPr>
      </p:sp>
      <p:sp>
        <p:nvSpPr>
          <p:cNvPr id="7" name="Text 5"/>
          <p:cNvSpPr/>
          <p:nvPr/>
        </p:nvSpPr>
        <p:spPr>
          <a:xfrm>
            <a:off x="457200" y="1463040"/>
            <a:ext cx="7315200" cy="4206240"/>
          </a:xfrm>
          <a:prstGeom prst="rect">
            <a:avLst/>
          </a:prstGeom>
          <a:noFill/>
          <a:ln/>
        </p:spPr>
        <p:txBody>
          <a:bodyPr wrap="square" rtlCol="0" anchor="ctr"/>
          <a:lstStyle/>
          <a:p>
            <a:pPr algn="ctr" indent="0" marL="0">
              <a:buNone/>
            </a:pPr>
            <a:r>
              <a:rPr lang="en-US" sz="1200" i="1" dirty="0">
                <a:solidFill>
                  <a:srgbClr val="6B7280"/>
                </a:solidFill>
                <a:latin typeface="Calibri" pitchFamily="34" charset="0"/>
                <a:ea typeface="Calibri" pitchFamily="34" charset="-122"/>
                <a:cs typeface="Calibri" pitchFamily="34" charset="-120"/>
              </a:rPr>
              <a:t>[ Screenshot ]</a:t>
            </a:r>
            <a:endParaRPr lang="en-US" sz="1200" dirty="0"/>
          </a:p>
          <a:p>
            <a:pPr algn="ctr" indent="0" marL="0">
              <a:buNone/>
            </a:pPr>
            <a:r>
              <a:rPr lang="en-US" sz="1200" i="1" dirty="0">
                <a:solidFill>
                  <a:srgbClr val="6B7280"/>
                </a:solidFill>
                <a:latin typeface="Calibri" pitchFamily="34" charset="0"/>
                <a:ea typeface="Calibri" pitchFamily="34" charset="-122"/>
                <a:cs typeface="Calibri" pitchFamily="34" charset="-120"/>
              </a:rPr>
              <a:t>Rendered SpeechAnalysis: filler count, WPM, clarity %, relevance %, AI feedback paragraph</a:t>
            </a:r>
            <a:endParaRPr lang="en-US" sz="1200" dirty="0"/>
          </a:p>
        </p:txBody>
      </p:sp>
      <p:sp>
        <p:nvSpPr>
          <p:cNvPr id="8" name="Text 6"/>
          <p:cNvSpPr/>
          <p:nvPr/>
        </p:nvSpPr>
        <p:spPr>
          <a:xfrm>
            <a:off x="7955280" y="1463040"/>
            <a:ext cx="3776472" cy="274320"/>
          </a:xfrm>
          <a:prstGeom prst="rect">
            <a:avLst/>
          </a:prstGeom>
          <a:noFill/>
          <a:ln/>
        </p:spPr>
        <p:txBody>
          <a:bodyPr wrap="square"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Caption</a:t>
            </a:r>
            <a:endParaRPr lang="en-US" sz="1200" dirty="0"/>
          </a:p>
        </p:txBody>
      </p:sp>
      <p:sp>
        <p:nvSpPr>
          <p:cNvPr id="9" name="Text 7"/>
          <p:cNvSpPr/>
          <p:nvPr/>
        </p:nvSpPr>
        <p:spPr>
          <a:xfrm>
            <a:off x="7955280" y="1783080"/>
            <a:ext cx="3776472" cy="3886200"/>
          </a:xfrm>
          <a:prstGeom prst="rect">
            <a:avLst/>
          </a:prstGeom>
          <a:noFill/>
          <a:ln/>
        </p:spPr>
        <p:txBody>
          <a:bodyPr wrap="square" rtlCol="0" anchor="t"/>
          <a:lstStyle/>
          <a:p>
            <a:pPr indent="0" marL="0">
              <a:spcAft>
                <a:spcPts val="400"/>
              </a:spcAft>
              <a:buNone/>
            </a:pPr>
            <a:r>
              <a:rPr lang="en-US" sz="1100" dirty="0">
                <a:solidFill>
                  <a:srgbClr val="1F2937"/>
                </a:solidFill>
                <a:latin typeface="Calibri" pitchFamily="34" charset="0"/>
                <a:ea typeface="Calibri" pitchFamily="34" charset="-122"/>
                <a:cs typeface="Calibri" pitchFamily="34" charset="-120"/>
              </a:rPr>
              <a:t>UC3 step 11 — DashboardView.renderAnalysis(SpeechAnalysis). Every field maps to a SpeechAnalysis attribute: fillerCount, wpm, clarityScore, relevanceScore, feedbackText. AI service: Gemini Flash.</a:t>
            </a:r>
            <a:endParaRPr lang="en-US" sz="1100" dirty="0"/>
          </a:p>
        </p:txBody>
      </p:sp>
      <p:sp>
        <p:nvSpPr>
          <p:cNvPr id="10" name="Text 8"/>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SpeakFlow — CS6005 Portfolio</a:t>
            </a:r>
            <a:endParaRPr lang="en-US" sz="900" dirty="0"/>
          </a:p>
        </p:txBody>
      </p:sp>
      <p:sp>
        <p:nvSpPr>
          <p:cNvPr id="11" name="Text 9"/>
          <p:cNvSpPr/>
          <p:nvPr/>
        </p:nvSpPr>
        <p:spPr>
          <a:xfrm>
            <a:off x="10972800" y="6492240"/>
            <a:ext cx="758952"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274320"/>
            <a:ext cx="9144000" cy="274320"/>
          </a:xfrm>
          <a:prstGeom prst="rect">
            <a:avLst/>
          </a:prstGeom>
          <a:noFill/>
          <a:ln/>
        </p:spPr>
        <p:txBody>
          <a:bodyPr wrap="square" rtlCol="0" anchor="ctr"/>
          <a:lstStyle/>
          <a:p>
            <a:pPr algn="l" indent="0" marL="0">
              <a:buNone/>
            </a:pPr>
            <a:r>
              <a:rPr lang="en-US" sz="1100" dirty="0">
                <a:solidFill>
                  <a:srgbClr val="6B7280"/>
                </a:solidFill>
                <a:latin typeface="Calibri" pitchFamily="34" charset="0"/>
                <a:ea typeface="Calibri" pitchFamily="34" charset="-122"/>
                <a:cs typeface="Calibri" pitchFamily="34" charset="-120"/>
              </a:rPr>
              <a:t>4.6  Dashboard — progress charts</a:t>
            </a:r>
            <a:endParaRPr lang="en-US" sz="1100" dirty="0"/>
          </a:p>
        </p:txBody>
      </p:sp>
      <p:sp>
        <p:nvSpPr>
          <p:cNvPr id="3" name="Text 1"/>
          <p:cNvSpPr/>
          <p:nvPr/>
        </p:nvSpPr>
        <p:spPr>
          <a:xfrm>
            <a:off x="9902952" y="274320"/>
            <a:ext cx="18288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Section 4 — 25%</a:t>
            </a:r>
            <a:endParaRPr lang="en-US" sz="1100" dirty="0"/>
          </a:p>
        </p:txBody>
      </p:sp>
      <p:sp>
        <p:nvSpPr>
          <p:cNvPr id="4" name="Shape 2"/>
          <p:cNvSpPr/>
          <p:nvPr/>
        </p:nvSpPr>
        <p:spPr>
          <a:xfrm>
            <a:off x="457200" y="594360"/>
            <a:ext cx="11274552" cy="0"/>
          </a:xfrm>
          <a:prstGeom prst="line">
            <a:avLst/>
          </a:prstGeom>
          <a:noFill/>
          <a:ln w="9525">
            <a:solidFill>
              <a:srgbClr val="D1D5DB"/>
            </a:solidFill>
            <a:prstDash val="solid"/>
          </a:ln>
        </p:spPr>
      </p:sp>
      <p:sp>
        <p:nvSpPr>
          <p:cNvPr id="5" name="Text 3"/>
          <p:cNvSpPr/>
          <p:nvPr/>
        </p:nvSpPr>
        <p:spPr>
          <a:xfrm>
            <a:off x="457200" y="777240"/>
            <a:ext cx="11274552" cy="640080"/>
          </a:xfrm>
          <a:prstGeom prst="rect">
            <a:avLst/>
          </a:prstGeom>
          <a:noFill/>
          <a:ln/>
        </p:spPr>
        <p:txBody>
          <a:bodyPr wrap="square" rtlCol="0" anchor="ctr"/>
          <a:lstStyle/>
          <a:p>
            <a:pPr indent="0" marL="0">
              <a:buNone/>
            </a:pPr>
            <a:r>
              <a:rPr lang="en-US" sz="2800" b="1" dirty="0">
                <a:solidFill>
                  <a:srgbClr val="1F2937"/>
                </a:solidFill>
                <a:latin typeface="Calibri" pitchFamily="34" charset="0"/>
                <a:ea typeface="Calibri" pitchFamily="34" charset="-122"/>
                <a:cs typeface="Calibri" pitchFamily="34" charset="-120"/>
              </a:rPr>
              <a:t>Dashboard — progress charts</a:t>
            </a:r>
            <a:endParaRPr lang="en-US" sz="2800" dirty="0"/>
          </a:p>
        </p:txBody>
      </p:sp>
      <p:sp>
        <p:nvSpPr>
          <p:cNvPr id="6" name="Shape 4"/>
          <p:cNvSpPr/>
          <p:nvPr/>
        </p:nvSpPr>
        <p:spPr>
          <a:xfrm>
            <a:off x="457200" y="1463040"/>
            <a:ext cx="7315200" cy="4206240"/>
          </a:xfrm>
          <a:prstGeom prst="rect">
            <a:avLst/>
          </a:prstGeom>
          <a:solidFill>
            <a:srgbClr val="FAFAFA"/>
          </a:solidFill>
          <a:ln w="12700">
            <a:solidFill>
              <a:srgbClr val="D1D5DB"/>
            </a:solidFill>
            <a:prstDash val="dash"/>
          </a:ln>
        </p:spPr>
      </p:sp>
      <p:sp>
        <p:nvSpPr>
          <p:cNvPr id="7" name="Text 5"/>
          <p:cNvSpPr/>
          <p:nvPr/>
        </p:nvSpPr>
        <p:spPr>
          <a:xfrm>
            <a:off x="457200" y="1463040"/>
            <a:ext cx="7315200" cy="4206240"/>
          </a:xfrm>
          <a:prstGeom prst="rect">
            <a:avLst/>
          </a:prstGeom>
          <a:noFill/>
          <a:ln/>
        </p:spPr>
        <p:txBody>
          <a:bodyPr wrap="square" rtlCol="0" anchor="ctr"/>
          <a:lstStyle/>
          <a:p>
            <a:pPr algn="ctr" indent="0" marL="0">
              <a:buNone/>
            </a:pPr>
            <a:r>
              <a:rPr lang="en-US" sz="1200" i="1" dirty="0">
                <a:solidFill>
                  <a:srgbClr val="6B7280"/>
                </a:solidFill>
                <a:latin typeface="Calibri" pitchFamily="34" charset="0"/>
                <a:ea typeface="Calibri" pitchFamily="34" charset="-122"/>
                <a:cs typeface="Calibri" pitchFamily="34" charset="-120"/>
              </a:rPr>
              <a:t>[ Screenshot ]</a:t>
            </a:r>
            <a:endParaRPr lang="en-US" sz="1200" dirty="0"/>
          </a:p>
          <a:p>
            <a:pPr algn="ctr" indent="0" marL="0">
              <a:buNone/>
            </a:pPr>
            <a:r>
              <a:rPr lang="en-US" sz="1200" i="1" dirty="0">
                <a:solidFill>
                  <a:srgbClr val="6B7280"/>
                </a:solidFill>
                <a:latin typeface="Calibri" pitchFamily="34" charset="0"/>
                <a:ea typeface="Calibri" pitchFamily="34" charset="-122"/>
                <a:cs typeface="Calibri" pitchFamily="34" charset="-120"/>
              </a:rPr>
              <a:t>Charts of filler count and WPM trends across sessions</a:t>
            </a:r>
            <a:endParaRPr lang="en-US" sz="1200" dirty="0"/>
          </a:p>
        </p:txBody>
      </p:sp>
      <p:sp>
        <p:nvSpPr>
          <p:cNvPr id="8" name="Text 6"/>
          <p:cNvSpPr/>
          <p:nvPr/>
        </p:nvSpPr>
        <p:spPr>
          <a:xfrm>
            <a:off x="7955280" y="1463040"/>
            <a:ext cx="3776472" cy="274320"/>
          </a:xfrm>
          <a:prstGeom prst="rect">
            <a:avLst/>
          </a:prstGeom>
          <a:noFill/>
          <a:ln/>
        </p:spPr>
        <p:txBody>
          <a:bodyPr wrap="square"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Caption</a:t>
            </a:r>
            <a:endParaRPr lang="en-US" sz="1200" dirty="0"/>
          </a:p>
        </p:txBody>
      </p:sp>
      <p:sp>
        <p:nvSpPr>
          <p:cNvPr id="9" name="Text 7"/>
          <p:cNvSpPr/>
          <p:nvPr/>
        </p:nvSpPr>
        <p:spPr>
          <a:xfrm>
            <a:off x="7955280" y="1783080"/>
            <a:ext cx="3776472" cy="3886200"/>
          </a:xfrm>
          <a:prstGeom prst="rect">
            <a:avLst/>
          </a:prstGeom>
          <a:noFill/>
          <a:ln/>
        </p:spPr>
        <p:txBody>
          <a:bodyPr wrap="square" rtlCol="0" anchor="t"/>
          <a:lstStyle/>
          <a:p>
            <a:pPr indent="0" marL="0">
              <a:spcAft>
                <a:spcPts val="400"/>
              </a:spcAft>
              <a:buNone/>
            </a:pPr>
            <a:r>
              <a:rPr lang="en-US" sz="1100" dirty="0">
                <a:solidFill>
                  <a:srgbClr val="1F2937"/>
                </a:solidFill>
                <a:latin typeface="Calibri" pitchFamily="34" charset="0"/>
                <a:ea typeface="Calibri" pitchFamily="34" charset="-122"/>
                <a:cs typeface="Calibri" pitchFamily="34" charset="-120"/>
              </a:rPr>
              <a:t>FR5 realised — the dashboard plots each DrillSession's SpeechAnalysis over time so the user can see week-on-week improvement. The progress-tracker differentiator from Section 1.3.</a:t>
            </a:r>
            <a:endParaRPr lang="en-US" sz="1100" dirty="0"/>
          </a:p>
        </p:txBody>
      </p:sp>
      <p:sp>
        <p:nvSpPr>
          <p:cNvPr id="10" name="Text 8"/>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SpeakFlow — CS6005 Portfolio</a:t>
            </a:r>
            <a:endParaRPr lang="en-US" sz="900" dirty="0"/>
          </a:p>
        </p:txBody>
      </p:sp>
      <p:sp>
        <p:nvSpPr>
          <p:cNvPr id="11" name="Text 9"/>
          <p:cNvSpPr/>
          <p:nvPr/>
        </p:nvSpPr>
        <p:spPr>
          <a:xfrm>
            <a:off x="10972800" y="6492240"/>
            <a:ext cx="758952"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274320"/>
            <a:ext cx="9144000" cy="274320"/>
          </a:xfrm>
          <a:prstGeom prst="rect">
            <a:avLst/>
          </a:prstGeom>
          <a:noFill/>
          <a:ln/>
        </p:spPr>
        <p:txBody>
          <a:bodyPr wrap="square" rtlCol="0" anchor="ctr"/>
          <a:lstStyle/>
          <a:p>
            <a:pPr algn="l" indent="0" marL="0">
              <a:buNone/>
            </a:pPr>
            <a:r>
              <a:rPr lang="en-US" sz="1100" dirty="0">
                <a:solidFill>
                  <a:srgbClr val="6B7280"/>
                </a:solidFill>
                <a:latin typeface="Calibri" pitchFamily="34" charset="0"/>
                <a:ea typeface="Calibri" pitchFamily="34" charset="-122"/>
                <a:cs typeface="Calibri" pitchFamily="34" charset="-120"/>
              </a:rPr>
              <a:t>4.7  Graceful degradation (NFR4)</a:t>
            </a:r>
            <a:endParaRPr lang="en-US" sz="1100" dirty="0"/>
          </a:p>
        </p:txBody>
      </p:sp>
      <p:sp>
        <p:nvSpPr>
          <p:cNvPr id="3" name="Text 1"/>
          <p:cNvSpPr/>
          <p:nvPr/>
        </p:nvSpPr>
        <p:spPr>
          <a:xfrm>
            <a:off x="9902952" y="274320"/>
            <a:ext cx="18288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Section 4 — 25%</a:t>
            </a:r>
            <a:endParaRPr lang="en-US" sz="1100" dirty="0"/>
          </a:p>
        </p:txBody>
      </p:sp>
      <p:sp>
        <p:nvSpPr>
          <p:cNvPr id="4" name="Shape 2"/>
          <p:cNvSpPr/>
          <p:nvPr/>
        </p:nvSpPr>
        <p:spPr>
          <a:xfrm>
            <a:off x="457200" y="594360"/>
            <a:ext cx="11274552" cy="0"/>
          </a:xfrm>
          <a:prstGeom prst="line">
            <a:avLst/>
          </a:prstGeom>
          <a:noFill/>
          <a:ln w="9525">
            <a:solidFill>
              <a:srgbClr val="D1D5DB"/>
            </a:solidFill>
            <a:prstDash val="solid"/>
          </a:ln>
        </p:spPr>
      </p:sp>
      <p:sp>
        <p:nvSpPr>
          <p:cNvPr id="5" name="Text 3"/>
          <p:cNvSpPr/>
          <p:nvPr/>
        </p:nvSpPr>
        <p:spPr>
          <a:xfrm>
            <a:off x="457200" y="777240"/>
            <a:ext cx="11274552" cy="640080"/>
          </a:xfrm>
          <a:prstGeom prst="rect">
            <a:avLst/>
          </a:prstGeom>
          <a:noFill/>
          <a:ln/>
        </p:spPr>
        <p:txBody>
          <a:bodyPr wrap="square" rtlCol="0" anchor="ctr"/>
          <a:lstStyle/>
          <a:p>
            <a:pPr indent="0" marL="0">
              <a:buNone/>
            </a:pPr>
            <a:r>
              <a:rPr lang="en-US" sz="2800" b="1" dirty="0">
                <a:solidFill>
                  <a:srgbClr val="1F2937"/>
                </a:solidFill>
                <a:latin typeface="Calibri" pitchFamily="34" charset="0"/>
                <a:ea typeface="Calibri" pitchFamily="34" charset="-122"/>
                <a:cs typeface="Calibri" pitchFamily="34" charset="-120"/>
              </a:rPr>
              <a:t>Graceful degradation (NFR4)</a:t>
            </a:r>
            <a:endParaRPr lang="en-US" sz="2800" dirty="0"/>
          </a:p>
        </p:txBody>
      </p:sp>
      <p:sp>
        <p:nvSpPr>
          <p:cNvPr id="6" name="Shape 4"/>
          <p:cNvSpPr/>
          <p:nvPr/>
        </p:nvSpPr>
        <p:spPr>
          <a:xfrm>
            <a:off x="457200" y="1463040"/>
            <a:ext cx="7315200" cy="4206240"/>
          </a:xfrm>
          <a:prstGeom prst="rect">
            <a:avLst/>
          </a:prstGeom>
          <a:solidFill>
            <a:srgbClr val="FAFAFA"/>
          </a:solidFill>
          <a:ln w="12700">
            <a:solidFill>
              <a:srgbClr val="D1D5DB"/>
            </a:solidFill>
            <a:prstDash val="dash"/>
          </a:ln>
        </p:spPr>
      </p:sp>
      <p:sp>
        <p:nvSpPr>
          <p:cNvPr id="7" name="Text 5"/>
          <p:cNvSpPr/>
          <p:nvPr/>
        </p:nvSpPr>
        <p:spPr>
          <a:xfrm>
            <a:off x="457200" y="1463040"/>
            <a:ext cx="7315200" cy="4206240"/>
          </a:xfrm>
          <a:prstGeom prst="rect">
            <a:avLst/>
          </a:prstGeom>
          <a:noFill/>
          <a:ln/>
        </p:spPr>
        <p:txBody>
          <a:bodyPr wrap="square" rtlCol="0" anchor="ctr"/>
          <a:lstStyle/>
          <a:p>
            <a:pPr algn="ctr" indent="0" marL="0">
              <a:buNone/>
            </a:pPr>
            <a:r>
              <a:rPr lang="en-US" sz="1200" i="1" dirty="0">
                <a:solidFill>
                  <a:srgbClr val="6B7280"/>
                </a:solidFill>
                <a:latin typeface="Calibri" pitchFamily="34" charset="0"/>
                <a:ea typeface="Calibri" pitchFamily="34" charset="-122"/>
                <a:cs typeface="Calibri" pitchFamily="34" charset="-120"/>
              </a:rPr>
              <a:t>[ Screenshot ]</a:t>
            </a:r>
            <a:endParaRPr lang="en-US" sz="1200" dirty="0"/>
          </a:p>
          <a:p>
            <a:pPr algn="ctr" indent="0" marL="0">
              <a:buNone/>
            </a:pPr>
            <a:r>
              <a:rPr lang="en-US" sz="1200" i="1" dirty="0">
                <a:solidFill>
                  <a:srgbClr val="6B7280"/>
                </a:solidFill>
                <a:latin typeface="Calibri" pitchFamily="34" charset="0"/>
                <a:ea typeface="Calibri" pitchFamily="34" charset="-122"/>
                <a:cs typeface="Calibri" pitchFamily="34" charset="-120"/>
              </a:rPr>
              <a:t>Dashboard with "full AI analysis unavailable" banner; fillerCount + wpm still populated</a:t>
            </a:r>
            <a:endParaRPr lang="en-US" sz="1200" dirty="0"/>
          </a:p>
        </p:txBody>
      </p:sp>
      <p:sp>
        <p:nvSpPr>
          <p:cNvPr id="8" name="Text 6"/>
          <p:cNvSpPr/>
          <p:nvPr/>
        </p:nvSpPr>
        <p:spPr>
          <a:xfrm>
            <a:off x="7955280" y="1463040"/>
            <a:ext cx="3776472" cy="274320"/>
          </a:xfrm>
          <a:prstGeom prst="rect">
            <a:avLst/>
          </a:prstGeom>
          <a:noFill/>
          <a:ln/>
        </p:spPr>
        <p:txBody>
          <a:bodyPr wrap="square"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Caption</a:t>
            </a:r>
            <a:endParaRPr lang="en-US" sz="1200" dirty="0"/>
          </a:p>
        </p:txBody>
      </p:sp>
      <p:sp>
        <p:nvSpPr>
          <p:cNvPr id="9" name="Text 7"/>
          <p:cNvSpPr/>
          <p:nvPr/>
        </p:nvSpPr>
        <p:spPr>
          <a:xfrm>
            <a:off x="7955280" y="1783080"/>
            <a:ext cx="3776472" cy="3886200"/>
          </a:xfrm>
          <a:prstGeom prst="rect">
            <a:avLst/>
          </a:prstGeom>
          <a:noFill/>
          <a:ln/>
        </p:spPr>
        <p:txBody>
          <a:bodyPr wrap="square" rtlCol="0" anchor="t"/>
          <a:lstStyle/>
          <a:p>
            <a:pPr indent="0" marL="0">
              <a:spcAft>
                <a:spcPts val="400"/>
              </a:spcAft>
              <a:buNone/>
            </a:pPr>
            <a:r>
              <a:rPr lang="en-US" sz="1100" dirty="0">
                <a:solidFill>
                  <a:srgbClr val="1F2937"/>
                </a:solidFill>
                <a:latin typeface="Calibri" pitchFamily="34" charset="0"/>
                <a:ea typeface="Calibri" pitchFamily="34" charset="-122"/>
                <a:cs typeface="Calibri" pitchFamily="34" charset="-120"/>
              </a:rPr>
              <a:t>Exception path 5e of UC3 — AIAnalysisService unreachable. AnalysisController falls back to computing fillerCount and wpm locally from TranscriptSegments. NFR4 in action.</a:t>
            </a:r>
            <a:endParaRPr lang="en-US" sz="1100" dirty="0"/>
          </a:p>
        </p:txBody>
      </p:sp>
      <p:sp>
        <p:nvSpPr>
          <p:cNvPr id="10" name="Text 8"/>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SpeakFlow — CS6005 Portfolio</a:t>
            </a:r>
            <a:endParaRPr lang="en-US" sz="900" dirty="0"/>
          </a:p>
        </p:txBody>
      </p:sp>
      <p:sp>
        <p:nvSpPr>
          <p:cNvPr id="11" name="Text 9"/>
          <p:cNvSpPr/>
          <p:nvPr/>
        </p:nvSpPr>
        <p:spPr>
          <a:xfrm>
            <a:off x="10972800" y="6492240"/>
            <a:ext cx="758952"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274320"/>
            <a:ext cx="9144000" cy="274320"/>
          </a:xfrm>
          <a:prstGeom prst="rect">
            <a:avLst/>
          </a:prstGeom>
          <a:noFill/>
          <a:ln/>
        </p:spPr>
        <p:txBody>
          <a:bodyPr wrap="square" rtlCol="0" anchor="ctr"/>
          <a:lstStyle/>
          <a:p>
            <a:pPr algn="l" indent="0" marL="0">
              <a:buNone/>
            </a:pPr>
            <a:r>
              <a:rPr lang="en-US" sz="1100" dirty="0">
                <a:solidFill>
                  <a:srgbClr val="6B7280"/>
                </a:solidFill>
                <a:latin typeface="Calibri" pitchFamily="34" charset="0"/>
                <a:ea typeface="Calibri" pitchFamily="34" charset="-122"/>
                <a:cs typeface="Calibri" pitchFamily="34" charset="-120"/>
              </a:rPr>
              <a:t>4.8  Teleprompter mode (FR6)</a:t>
            </a:r>
            <a:endParaRPr lang="en-US" sz="1100" dirty="0"/>
          </a:p>
        </p:txBody>
      </p:sp>
      <p:sp>
        <p:nvSpPr>
          <p:cNvPr id="3" name="Text 1"/>
          <p:cNvSpPr/>
          <p:nvPr/>
        </p:nvSpPr>
        <p:spPr>
          <a:xfrm>
            <a:off x="9902952" y="274320"/>
            <a:ext cx="18288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Section 4 — 25%</a:t>
            </a:r>
            <a:endParaRPr lang="en-US" sz="1100" dirty="0"/>
          </a:p>
        </p:txBody>
      </p:sp>
      <p:sp>
        <p:nvSpPr>
          <p:cNvPr id="4" name="Shape 2"/>
          <p:cNvSpPr/>
          <p:nvPr/>
        </p:nvSpPr>
        <p:spPr>
          <a:xfrm>
            <a:off x="457200" y="594360"/>
            <a:ext cx="11274552" cy="0"/>
          </a:xfrm>
          <a:prstGeom prst="line">
            <a:avLst/>
          </a:prstGeom>
          <a:noFill/>
          <a:ln w="9525">
            <a:solidFill>
              <a:srgbClr val="D1D5DB"/>
            </a:solidFill>
            <a:prstDash val="solid"/>
          </a:ln>
        </p:spPr>
      </p:sp>
      <p:sp>
        <p:nvSpPr>
          <p:cNvPr id="5" name="Text 3"/>
          <p:cNvSpPr/>
          <p:nvPr/>
        </p:nvSpPr>
        <p:spPr>
          <a:xfrm>
            <a:off x="457200" y="777240"/>
            <a:ext cx="11274552" cy="640080"/>
          </a:xfrm>
          <a:prstGeom prst="rect">
            <a:avLst/>
          </a:prstGeom>
          <a:noFill/>
          <a:ln/>
        </p:spPr>
        <p:txBody>
          <a:bodyPr wrap="square" rtlCol="0" anchor="ctr"/>
          <a:lstStyle/>
          <a:p>
            <a:pPr indent="0" marL="0">
              <a:buNone/>
            </a:pPr>
            <a:r>
              <a:rPr lang="en-US" sz="2800" b="1" dirty="0">
                <a:solidFill>
                  <a:srgbClr val="1F2937"/>
                </a:solidFill>
                <a:latin typeface="Calibri" pitchFamily="34" charset="0"/>
                <a:ea typeface="Calibri" pitchFamily="34" charset="-122"/>
                <a:cs typeface="Calibri" pitchFamily="34" charset="-120"/>
              </a:rPr>
              <a:t>Teleprompter mode (FR6)</a:t>
            </a:r>
            <a:endParaRPr lang="en-US" sz="2800" dirty="0"/>
          </a:p>
        </p:txBody>
      </p:sp>
      <p:sp>
        <p:nvSpPr>
          <p:cNvPr id="6" name="Shape 4"/>
          <p:cNvSpPr/>
          <p:nvPr/>
        </p:nvSpPr>
        <p:spPr>
          <a:xfrm>
            <a:off x="457200" y="1463040"/>
            <a:ext cx="7315200" cy="4206240"/>
          </a:xfrm>
          <a:prstGeom prst="rect">
            <a:avLst/>
          </a:prstGeom>
          <a:solidFill>
            <a:srgbClr val="FAFAFA"/>
          </a:solidFill>
          <a:ln w="12700">
            <a:solidFill>
              <a:srgbClr val="D1D5DB"/>
            </a:solidFill>
            <a:prstDash val="dash"/>
          </a:ln>
        </p:spPr>
      </p:sp>
      <p:sp>
        <p:nvSpPr>
          <p:cNvPr id="7" name="Text 5"/>
          <p:cNvSpPr/>
          <p:nvPr/>
        </p:nvSpPr>
        <p:spPr>
          <a:xfrm>
            <a:off x="457200" y="1463040"/>
            <a:ext cx="7315200" cy="4206240"/>
          </a:xfrm>
          <a:prstGeom prst="rect">
            <a:avLst/>
          </a:prstGeom>
          <a:noFill/>
          <a:ln/>
        </p:spPr>
        <p:txBody>
          <a:bodyPr wrap="square" rtlCol="0" anchor="ctr"/>
          <a:lstStyle/>
          <a:p>
            <a:pPr algn="ctr" indent="0" marL="0">
              <a:buNone/>
            </a:pPr>
            <a:r>
              <a:rPr lang="en-US" sz="1200" i="1" dirty="0">
                <a:solidFill>
                  <a:srgbClr val="6B7280"/>
                </a:solidFill>
                <a:latin typeface="Calibri" pitchFamily="34" charset="0"/>
                <a:ea typeface="Calibri" pitchFamily="34" charset="-122"/>
                <a:cs typeface="Calibri" pitchFamily="34" charset="-120"/>
              </a:rPr>
              <a:t>[ Screenshot ]</a:t>
            </a:r>
            <a:endParaRPr lang="en-US" sz="1200" dirty="0"/>
          </a:p>
          <a:p>
            <a:pPr algn="ctr" indent="0" marL="0">
              <a:buNone/>
            </a:pPr>
            <a:r>
              <a:rPr lang="en-US" sz="1200" i="1" dirty="0">
                <a:solidFill>
                  <a:srgbClr val="6B7280"/>
                </a:solidFill>
                <a:latin typeface="Calibri" pitchFamily="34" charset="0"/>
                <a:ea typeface="Calibri" pitchFamily="34" charset="-122"/>
                <a:cs typeface="Calibri" pitchFamily="34" charset="-120"/>
              </a:rPr>
              <a:t>TeleprompterView with a script scrolling at the user-selected WPM</a:t>
            </a:r>
            <a:endParaRPr lang="en-US" sz="1200" dirty="0"/>
          </a:p>
        </p:txBody>
      </p:sp>
      <p:sp>
        <p:nvSpPr>
          <p:cNvPr id="8" name="Text 6"/>
          <p:cNvSpPr/>
          <p:nvPr/>
        </p:nvSpPr>
        <p:spPr>
          <a:xfrm>
            <a:off x="7955280" y="1463040"/>
            <a:ext cx="3776472" cy="274320"/>
          </a:xfrm>
          <a:prstGeom prst="rect">
            <a:avLst/>
          </a:prstGeom>
          <a:noFill/>
          <a:ln/>
        </p:spPr>
        <p:txBody>
          <a:bodyPr wrap="square"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Caption</a:t>
            </a:r>
            <a:endParaRPr lang="en-US" sz="1200" dirty="0"/>
          </a:p>
        </p:txBody>
      </p:sp>
      <p:sp>
        <p:nvSpPr>
          <p:cNvPr id="9" name="Text 7"/>
          <p:cNvSpPr/>
          <p:nvPr/>
        </p:nvSpPr>
        <p:spPr>
          <a:xfrm>
            <a:off x="7955280" y="1783080"/>
            <a:ext cx="3776472" cy="3886200"/>
          </a:xfrm>
          <a:prstGeom prst="rect">
            <a:avLst/>
          </a:prstGeom>
          <a:noFill/>
          <a:ln/>
        </p:spPr>
        <p:txBody>
          <a:bodyPr wrap="square" rtlCol="0" anchor="t"/>
          <a:lstStyle/>
          <a:p>
            <a:pPr indent="0" marL="0">
              <a:spcAft>
                <a:spcPts val="400"/>
              </a:spcAft>
              <a:buNone/>
            </a:pPr>
            <a:r>
              <a:rPr lang="en-US" sz="1100" dirty="0">
                <a:solidFill>
                  <a:srgbClr val="1F2937"/>
                </a:solidFill>
                <a:latin typeface="Calibri" pitchFamily="34" charset="0"/>
                <a:ea typeface="Calibri" pitchFamily="34" charset="-122"/>
                <a:cs typeface="Calibri" pitchFamily="34" charset="-120"/>
              </a:rPr>
              <a:t>Sprint 3 deliverable (FR6). Re-uses SpeechRecognitionService from the class diagram so pacing accuracy can be displayed without writing a second speech-recognition implementation.</a:t>
            </a:r>
            <a:endParaRPr lang="en-US" sz="1100" dirty="0"/>
          </a:p>
        </p:txBody>
      </p:sp>
      <p:sp>
        <p:nvSpPr>
          <p:cNvPr id="10" name="Text 8"/>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SpeakFlow — CS6005 Portfolio</a:t>
            </a:r>
            <a:endParaRPr lang="en-US" sz="900" dirty="0"/>
          </a:p>
        </p:txBody>
      </p:sp>
      <p:sp>
        <p:nvSpPr>
          <p:cNvPr id="11" name="Text 9"/>
          <p:cNvSpPr/>
          <p:nvPr/>
        </p:nvSpPr>
        <p:spPr>
          <a:xfrm>
            <a:off x="10972800" y="6492240"/>
            <a:ext cx="758952"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274320"/>
            <a:ext cx="9144000" cy="274320"/>
          </a:xfrm>
          <a:prstGeom prst="rect">
            <a:avLst/>
          </a:prstGeom>
          <a:noFill/>
          <a:ln/>
        </p:spPr>
        <p:txBody>
          <a:bodyPr wrap="square" rtlCol="0" anchor="ctr"/>
          <a:lstStyle/>
          <a:p>
            <a:pPr algn="l" indent="0" marL="0">
              <a:buNone/>
            </a:pPr>
            <a:r>
              <a:rPr lang="en-US" sz="1100" dirty="0">
                <a:solidFill>
                  <a:srgbClr val="6B7280"/>
                </a:solidFill>
                <a:latin typeface="Calibri" pitchFamily="34" charset="0"/>
                <a:ea typeface="Calibri" pitchFamily="34" charset="-122"/>
                <a:cs typeface="Calibri" pitchFamily="34" charset="-120"/>
              </a:rPr>
              <a:t>4.9  Notes on Code Quality</a:t>
            </a:r>
            <a:endParaRPr lang="en-US" sz="1100" dirty="0"/>
          </a:p>
        </p:txBody>
      </p:sp>
      <p:sp>
        <p:nvSpPr>
          <p:cNvPr id="3" name="Text 1"/>
          <p:cNvSpPr/>
          <p:nvPr/>
        </p:nvSpPr>
        <p:spPr>
          <a:xfrm>
            <a:off x="9902952" y="274320"/>
            <a:ext cx="18288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Section 4 — 25%</a:t>
            </a:r>
            <a:endParaRPr lang="en-US" sz="1100" dirty="0"/>
          </a:p>
        </p:txBody>
      </p:sp>
      <p:sp>
        <p:nvSpPr>
          <p:cNvPr id="4" name="Shape 2"/>
          <p:cNvSpPr/>
          <p:nvPr/>
        </p:nvSpPr>
        <p:spPr>
          <a:xfrm>
            <a:off x="457200" y="594360"/>
            <a:ext cx="11274552" cy="0"/>
          </a:xfrm>
          <a:prstGeom prst="line">
            <a:avLst/>
          </a:prstGeom>
          <a:noFill/>
          <a:ln w="9525">
            <a:solidFill>
              <a:srgbClr val="D1D5DB"/>
            </a:solidFill>
            <a:prstDash val="solid"/>
          </a:ln>
        </p:spPr>
      </p:sp>
      <p:sp>
        <p:nvSpPr>
          <p:cNvPr id="5" name="Text 3"/>
          <p:cNvSpPr/>
          <p:nvPr/>
        </p:nvSpPr>
        <p:spPr>
          <a:xfrm>
            <a:off x="457200" y="777240"/>
            <a:ext cx="11274552" cy="640080"/>
          </a:xfrm>
          <a:prstGeom prst="rect">
            <a:avLst/>
          </a:prstGeom>
          <a:noFill/>
          <a:ln/>
        </p:spPr>
        <p:txBody>
          <a:bodyPr wrap="square" rtlCol="0" anchor="ctr"/>
          <a:lstStyle/>
          <a:p>
            <a:pPr indent="0" marL="0">
              <a:buNone/>
            </a:pPr>
            <a:r>
              <a:rPr lang="en-US" sz="2800" b="1" dirty="0">
                <a:solidFill>
                  <a:srgbClr val="1F2937"/>
                </a:solidFill>
                <a:latin typeface="Calibri" pitchFamily="34" charset="0"/>
                <a:ea typeface="Calibri" pitchFamily="34" charset="-122"/>
                <a:cs typeface="Calibri" pitchFamily="34" charset="-120"/>
              </a:rPr>
              <a:t>Talk-track points alongside the screenshots</a:t>
            </a:r>
            <a:endParaRPr lang="en-US" sz="2800" dirty="0"/>
          </a:p>
        </p:txBody>
      </p:sp>
      <p:sp>
        <p:nvSpPr>
          <p:cNvPr id="6" name="Text 4"/>
          <p:cNvSpPr/>
          <p:nvPr/>
        </p:nvSpPr>
        <p:spPr>
          <a:xfrm>
            <a:off x="457200" y="1554480"/>
            <a:ext cx="11274552" cy="4754880"/>
          </a:xfrm>
          <a:prstGeom prst="rect">
            <a:avLst/>
          </a:prstGeom>
          <a:noFill/>
          <a:ln/>
        </p:spPr>
        <p:txBody>
          <a:bodyPr wrap="square" rtlCol="0" anchor="t"/>
          <a:lstStyle/>
          <a:p>
            <a:pPr marL="342900" indent="-342900">
              <a:spcAft>
                <a:spcPts val="1400"/>
              </a:spcAft>
              <a:buSzPct val="100000"/>
              <a:buChar char="•"/>
            </a:pPr>
            <a:r>
              <a:rPr lang="en-US" sz="1400" dirty="0">
                <a:solidFill>
                  <a:srgbClr val="1F2937"/>
                </a:solidFill>
                <a:latin typeface="Calibri" pitchFamily="34" charset="0"/>
                <a:ea typeface="Calibri" pitchFamily="34" charset="-122"/>
                <a:cs typeface="Calibri" pitchFamily="34" charset="-120"/>
              </a:rPr>
              <a:t>MVC invariants enforced by static typing — TrainerView has no import path to DataRepository; all data flows through the three Controller classes.</a:t>
            </a:r>
            <a:endParaRPr lang="en-US" sz="1400" dirty="0"/>
          </a:p>
          <a:p>
            <a:pPr marL="342900" indent="-342900">
              <a:spcAft>
                <a:spcPts val="1400"/>
              </a:spcAft>
              <a:buSzPct val="100000"/>
              <a:buChar char="•"/>
            </a:pPr>
            <a:r>
              <a:rPr lang="en-US" sz="1400" dirty="0">
                <a:solidFill>
                  <a:srgbClr val="1F2937"/>
                </a:solidFill>
                <a:latin typeface="Calibri" pitchFamily="34" charset="0"/>
                <a:ea typeface="Calibri" pitchFamily="34" charset="-122"/>
                <a:cs typeface="Calibri" pitchFamily="34" charset="-120"/>
              </a:rPr>
              <a:t>Separation of concerns is testable — AnalysisController.analyse() is unit-testable with a fake AIAnalysisService injected via the constructor (basic DI).</a:t>
            </a:r>
            <a:endParaRPr lang="en-US" sz="1400" dirty="0"/>
          </a:p>
          <a:p>
            <a:pPr marL="342900" indent="-342900">
              <a:spcAft>
                <a:spcPts val="1400"/>
              </a:spcAft>
              <a:buSzPct val="100000"/>
              <a:buChar char="•"/>
            </a:pPr>
            <a:r>
              <a:rPr lang="en-US" sz="1400" dirty="0">
                <a:solidFill>
                  <a:srgbClr val="1F2937"/>
                </a:solidFill>
                <a:latin typeface="Calibri" pitchFamily="34" charset="0"/>
                <a:ea typeface="Calibri" pitchFamily="34" charset="-122"/>
                <a:cs typeface="Calibri" pitchFamily="34" charset="-120"/>
              </a:rPr>
              <a:t>Graceful degradation tested — fallback branch in AnalysisController (UC3 step 5a/5e) is exercised by injecting a throwing fake AIAnalysisService.</a:t>
            </a:r>
            <a:endParaRPr lang="en-US" sz="1400" dirty="0"/>
          </a:p>
        </p:txBody>
      </p:sp>
      <p:sp>
        <p:nvSpPr>
          <p:cNvPr id="7" name="Text 5"/>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SpeakFlow — CS6005 Portfolio</a:t>
            </a:r>
            <a:endParaRPr lang="en-US" sz="900" dirty="0"/>
          </a:p>
        </p:txBody>
      </p:sp>
      <p:sp>
        <p:nvSpPr>
          <p:cNvPr id="8" name="Text 6"/>
          <p:cNvSpPr/>
          <p:nvPr/>
        </p:nvSpPr>
        <p:spPr>
          <a:xfrm>
            <a:off x="10972800" y="6492240"/>
            <a:ext cx="758952"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468880"/>
            <a:ext cx="11274552" cy="457200"/>
          </a:xfrm>
          <a:prstGeom prst="rect">
            <a:avLst/>
          </a:prstGeom>
          <a:noFill/>
          <a:ln/>
        </p:spPr>
        <p:txBody>
          <a:bodyPr wrap="square" rtlCol="0" anchor="ctr"/>
          <a:lstStyle/>
          <a:p>
            <a:pPr indent="0" marL="0">
              <a:buNone/>
            </a:pPr>
            <a:r>
              <a:rPr lang="en-US" sz="1800" dirty="0">
                <a:solidFill>
                  <a:srgbClr val="6B7280"/>
                </a:solidFill>
                <a:latin typeface="Calibri" pitchFamily="34" charset="0"/>
                <a:ea typeface="Calibri" pitchFamily="34" charset="-122"/>
                <a:cs typeface="Calibri" pitchFamily="34" charset="-120"/>
              </a:rPr>
              <a:t>Section 5</a:t>
            </a:r>
            <a:endParaRPr lang="en-US" sz="1800" dirty="0"/>
          </a:p>
        </p:txBody>
      </p:sp>
      <p:sp>
        <p:nvSpPr>
          <p:cNvPr id="3" name="Text 1"/>
          <p:cNvSpPr/>
          <p:nvPr/>
        </p:nvSpPr>
        <p:spPr>
          <a:xfrm>
            <a:off x="457200" y="2926080"/>
            <a:ext cx="11274552" cy="914400"/>
          </a:xfrm>
          <a:prstGeom prst="rect">
            <a:avLst/>
          </a:prstGeom>
          <a:noFill/>
          <a:ln/>
        </p:spPr>
        <p:txBody>
          <a:bodyPr wrap="square" rtlCol="0" anchor="ctr"/>
          <a:lstStyle/>
          <a:p>
            <a:pPr indent="0" marL="0">
              <a:buNone/>
            </a:pPr>
            <a:r>
              <a:rPr lang="en-US" sz="4800" b="1" dirty="0">
                <a:solidFill>
                  <a:srgbClr val="1F2937"/>
                </a:solidFill>
                <a:latin typeface="Calibri" pitchFamily="34" charset="0"/>
                <a:ea typeface="Calibri" pitchFamily="34" charset="-122"/>
                <a:cs typeface="Calibri" pitchFamily="34" charset="-120"/>
              </a:rPr>
              <a:t>Reflection</a:t>
            </a:r>
            <a:endParaRPr lang="en-US" sz="4800" dirty="0"/>
          </a:p>
        </p:txBody>
      </p:sp>
      <p:sp>
        <p:nvSpPr>
          <p:cNvPr id="4" name="Shape 2"/>
          <p:cNvSpPr/>
          <p:nvPr/>
        </p:nvSpPr>
        <p:spPr>
          <a:xfrm>
            <a:off x="457200" y="3931920"/>
            <a:ext cx="3200400" cy="0"/>
          </a:xfrm>
          <a:prstGeom prst="line">
            <a:avLst/>
          </a:prstGeom>
          <a:noFill/>
          <a:ln w="19050">
            <a:solidFill>
              <a:srgbClr val="1F2937"/>
            </a:solidFill>
            <a:prstDash val="solid"/>
          </a:ln>
        </p:spPr>
      </p:sp>
      <p:sp>
        <p:nvSpPr>
          <p:cNvPr id="5" name="Text 3"/>
          <p:cNvSpPr/>
          <p:nvPr/>
        </p:nvSpPr>
        <p:spPr>
          <a:xfrm>
            <a:off x="457200" y="4023360"/>
            <a:ext cx="11274552" cy="365760"/>
          </a:xfrm>
          <a:prstGeom prst="rect">
            <a:avLst/>
          </a:prstGeom>
          <a:noFill/>
          <a:ln/>
        </p:spPr>
        <p:txBody>
          <a:bodyPr wrap="square" rtlCol="0" anchor="ctr"/>
          <a:lstStyle/>
          <a:p>
            <a:pPr indent="0" marL="0">
              <a:buNone/>
            </a:pPr>
            <a:r>
              <a:rPr lang="en-US" sz="1600" dirty="0">
                <a:solidFill>
                  <a:srgbClr val="6B7280"/>
                </a:solidFill>
                <a:latin typeface="Calibri" pitchFamily="34" charset="0"/>
                <a:ea typeface="Calibri" pitchFamily="34" charset="-122"/>
                <a:cs typeface="Calibri" pitchFamily="34" charset="-120"/>
              </a:rPr>
              <a:t>5%</a:t>
            </a:r>
            <a:endParaRPr lang="en-US" sz="16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274320"/>
            <a:ext cx="9144000" cy="274320"/>
          </a:xfrm>
          <a:prstGeom prst="rect">
            <a:avLst/>
          </a:prstGeom>
          <a:noFill/>
          <a:ln/>
        </p:spPr>
        <p:txBody>
          <a:bodyPr wrap="square" rtlCol="0" anchor="ctr"/>
          <a:lstStyle/>
          <a:p>
            <a:pPr algn="l" indent="0" marL="0">
              <a:buNone/>
            </a:pPr>
            <a:r>
              <a:rPr lang="en-US" sz="1100" dirty="0">
                <a:solidFill>
                  <a:srgbClr val="6B7280"/>
                </a:solidFill>
                <a:latin typeface="Calibri" pitchFamily="34" charset="0"/>
                <a:ea typeface="Calibri" pitchFamily="34" charset="-122"/>
                <a:cs typeface="Calibri" pitchFamily="34" charset="-120"/>
              </a:rPr>
              <a:t>5.1  Why Solo, Not in a Team</a:t>
            </a:r>
            <a:endParaRPr lang="en-US" sz="1100" dirty="0"/>
          </a:p>
        </p:txBody>
      </p:sp>
      <p:sp>
        <p:nvSpPr>
          <p:cNvPr id="3" name="Text 1"/>
          <p:cNvSpPr/>
          <p:nvPr/>
        </p:nvSpPr>
        <p:spPr>
          <a:xfrm>
            <a:off x="9902952" y="274320"/>
            <a:ext cx="18288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Section 5 — 5%</a:t>
            </a:r>
            <a:endParaRPr lang="en-US" sz="1100" dirty="0"/>
          </a:p>
        </p:txBody>
      </p:sp>
      <p:sp>
        <p:nvSpPr>
          <p:cNvPr id="4" name="Shape 2"/>
          <p:cNvSpPr/>
          <p:nvPr/>
        </p:nvSpPr>
        <p:spPr>
          <a:xfrm>
            <a:off x="457200" y="594360"/>
            <a:ext cx="11274552" cy="0"/>
          </a:xfrm>
          <a:prstGeom prst="line">
            <a:avLst/>
          </a:prstGeom>
          <a:noFill/>
          <a:ln w="9525">
            <a:solidFill>
              <a:srgbClr val="D1D5DB"/>
            </a:solidFill>
            <a:prstDash val="solid"/>
          </a:ln>
        </p:spPr>
      </p:sp>
      <p:sp>
        <p:nvSpPr>
          <p:cNvPr id="5" name="Text 3"/>
          <p:cNvSpPr/>
          <p:nvPr/>
        </p:nvSpPr>
        <p:spPr>
          <a:xfrm>
            <a:off x="457200" y="777240"/>
            <a:ext cx="11274552" cy="640080"/>
          </a:xfrm>
          <a:prstGeom prst="rect">
            <a:avLst/>
          </a:prstGeom>
          <a:noFill/>
          <a:ln/>
        </p:spPr>
        <p:txBody>
          <a:bodyPr wrap="square" rtlCol="0" anchor="ctr"/>
          <a:lstStyle/>
          <a:p>
            <a:pPr indent="0" marL="0">
              <a:buNone/>
            </a:pPr>
            <a:r>
              <a:rPr lang="en-US" sz="2800" b="1" dirty="0">
                <a:solidFill>
                  <a:srgbClr val="1F2937"/>
                </a:solidFill>
                <a:latin typeface="Calibri" pitchFamily="34" charset="0"/>
                <a:ea typeface="Calibri" pitchFamily="34" charset="-122"/>
                <a:cs typeface="Calibri" pitchFamily="34" charset="-120"/>
              </a:rPr>
              <a:t>The most important reflection point</a:t>
            </a:r>
            <a:endParaRPr lang="en-US" sz="2800" dirty="0"/>
          </a:p>
        </p:txBody>
      </p:sp>
      <p:sp>
        <p:nvSpPr>
          <p:cNvPr id="6" name="Text 4"/>
          <p:cNvSpPr/>
          <p:nvPr/>
        </p:nvSpPr>
        <p:spPr>
          <a:xfrm>
            <a:off x="457200" y="1554480"/>
            <a:ext cx="11274552" cy="4754880"/>
          </a:xfrm>
          <a:prstGeom prst="rect">
            <a:avLst/>
          </a:prstGeom>
          <a:noFill/>
          <a:ln/>
        </p:spPr>
        <p:txBody>
          <a:bodyPr wrap="square" rtlCol="0" anchor="t"/>
          <a:lstStyle/>
          <a:p>
            <a:pPr indent="0" marL="0">
              <a:spcAft>
                <a:spcPts val="600"/>
              </a:spcAft>
              <a:buNone/>
            </a:pPr>
            <a:r>
              <a:rPr lang="en-US" sz="1250" dirty="0">
                <a:solidFill>
                  <a:srgbClr val="1F2937"/>
                </a:solidFill>
                <a:latin typeface="Calibri" pitchFamily="34" charset="0"/>
                <a:ea typeface="Calibri" pitchFamily="34" charset="-122"/>
                <a:cs typeface="Calibri" pitchFamily="34" charset="-120"/>
              </a:rPr>
              <a:t>SpeakFlow was built solo, deliberately. Two reasons: (1) the project idea is personal — I genuinely want a tool for practising everyday speaking, and I wasn't sure I could sell that vision well enough to get teammates bought in for the rotation. (2) I wanted to force myself to handle every part of the stack — requirements, architecture, class modelling, UI, and AI integration — because my weak spots are in design artefacts (diagrams, traceability) rather than code, and I couldn't hide from those by assigning them to a partner.</a:t>
            </a:r>
            <a:endParaRPr lang="en-US" sz="1250" dirty="0"/>
          </a:p>
          <a:p>
            <a:pPr indent="0" marL="0">
              <a:spcAft>
                <a:spcPts val="600"/>
              </a:spcAft>
              <a:buNone/>
            </a:pPr>
            <a:endParaRPr lang="en-US" sz="1250" dirty="0"/>
          </a:p>
          <a:p>
            <a:pPr indent="0" marL="0">
              <a:spcAft>
                <a:spcPts val="600"/>
              </a:spcAft>
              <a:buNone/>
            </a:pPr>
            <a:r>
              <a:rPr lang="en-US" sz="1250" dirty="0">
                <a:solidFill>
                  <a:srgbClr val="1F2937"/>
                </a:solidFill>
                <a:latin typeface="Calibri" pitchFamily="34" charset="0"/>
                <a:ea typeface="Calibri" pitchFamily="34" charset="-122"/>
                <a:cs typeface="Calibri" pitchFamily="34" charset="-120"/>
              </a:rPr>
              <a:t>Mixed retrospectively. Upside: I understand the whole system and wrote every line, so the implementation section is unambiguously mine. Downside: working alone made it easier to let inconsistencies slip between artefacts — the use case table said one thing, the class diagram another, with no second pair of eyes. In a team, someone building the sequence diagram from my use case table would have pushed back that names didn't match.</a:t>
            </a:r>
            <a:endParaRPr lang="en-US" sz="1250" dirty="0"/>
          </a:p>
          <a:p>
            <a:pPr indent="0" marL="0">
              <a:spcAft>
                <a:spcPts val="600"/>
              </a:spcAft>
              <a:buNone/>
            </a:pPr>
            <a:endParaRPr lang="en-US" sz="1250" dirty="0"/>
          </a:p>
          <a:p>
            <a:pPr indent="0" marL="0">
              <a:spcAft>
                <a:spcPts val="600"/>
              </a:spcAft>
              <a:buNone/>
            </a:pPr>
            <a:r>
              <a:rPr lang="en-US" sz="1250" dirty="0">
                <a:solidFill>
                  <a:srgbClr val="1F2937"/>
                </a:solidFill>
                <a:latin typeface="Calibri" pitchFamily="34" charset="0"/>
                <a:ea typeface="Calibri" pitchFamily="34" charset="-122"/>
                <a:cs typeface="Calibri" pitchFamily="34" charset="-120"/>
              </a:rPr>
              <a:t>If I did this again I'd build the canonical-model document first — before any diagram — so every later artefact pulls from a fixed vocabulary.</a:t>
            </a:r>
            <a:endParaRPr lang="en-US" sz="1250" dirty="0"/>
          </a:p>
        </p:txBody>
      </p:sp>
      <p:sp>
        <p:nvSpPr>
          <p:cNvPr id="7" name="Text 5"/>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SpeakFlow — CS6005 Portfolio</a:t>
            </a:r>
            <a:endParaRPr lang="en-US" sz="900" dirty="0"/>
          </a:p>
        </p:txBody>
      </p:sp>
      <p:sp>
        <p:nvSpPr>
          <p:cNvPr id="8" name="Text 6"/>
          <p:cNvSpPr/>
          <p:nvPr/>
        </p:nvSpPr>
        <p:spPr>
          <a:xfrm>
            <a:off x="10972800" y="6492240"/>
            <a:ext cx="758952"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274320"/>
            <a:ext cx="9144000" cy="274320"/>
          </a:xfrm>
          <a:prstGeom prst="rect">
            <a:avLst/>
          </a:prstGeom>
          <a:noFill/>
          <a:ln/>
        </p:spPr>
        <p:txBody>
          <a:bodyPr wrap="square" rtlCol="0" anchor="ctr"/>
          <a:lstStyle/>
          <a:p>
            <a:pPr algn="l" indent="0" marL="0">
              <a:buNone/>
            </a:pPr>
            <a:r>
              <a:rPr lang="en-US" sz="1100" dirty="0">
                <a:solidFill>
                  <a:srgbClr val="6B7280"/>
                </a:solidFill>
                <a:latin typeface="Calibri" pitchFamily="34" charset="0"/>
                <a:ea typeface="Calibri" pitchFamily="34" charset="-122"/>
                <a:cs typeface="Calibri" pitchFamily="34" charset="-120"/>
              </a:rPr>
              <a:t>5.2  How I Carried Out the Project</a:t>
            </a:r>
            <a:endParaRPr lang="en-US" sz="1100" dirty="0"/>
          </a:p>
        </p:txBody>
      </p:sp>
      <p:sp>
        <p:nvSpPr>
          <p:cNvPr id="3" name="Text 1"/>
          <p:cNvSpPr/>
          <p:nvPr/>
        </p:nvSpPr>
        <p:spPr>
          <a:xfrm>
            <a:off x="9902952" y="274320"/>
            <a:ext cx="18288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Section 5 — 5%</a:t>
            </a:r>
            <a:endParaRPr lang="en-US" sz="1100" dirty="0"/>
          </a:p>
        </p:txBody>
      </p:sp>
      <p:sp>
        <p:nvSpPr>
          <p:cNvPr id="4" name="Shape 2"/>
          <p:cNvSpPr/>
          <p:nvPr/>
        </p:nvSpPr>
        <p:spPr>
          <a:xfrm>
            <a:off x="457200" y="594360"/>
            <a:ext cx="11274552" cy="0"/>
          </a:xfrm>
          <a:prstGeom prst="line">
            <a:avLst/>
          </a:prstGeom>
          <a:noFill/>
          <a:ln w="9525">
            <a:solidFill>
              <a:srgbClr val="D1D5DB"/>
            </a:solidFill>
            <a:prstDash val="solid"/>
          </a:ln>
        </p:spPr>
      </p:sp>
      <p:sp>
        <p:nvSpPr>
          <p:cNvPr id="5" name="Text 3"/>
          <p:cNvSpPr/>
          <p:nvPr/>
        </p:nvSpPr>
        <p:spPr>
          <a:xfrm>
            <a:off x="457200" y="777240"/>
            <a:ext cx="11274552" cy="640080"/>
          </a:xfrm>
          <a:prstGeom prst="rect">
            <a:avLst/>
          </a:prstGeom>
          <a:noFill/>
          <a:ln/>
        </p:spPr>
        <p:txBody>
          <a:bodyPr wrap="square" rtlCol="0" anchor="ctr"/>
          <a:lstStyle/>
          <a:p>
            <a:pPr indent="0" marL="0">
              <a:buNone/>
            </a:pPr>
            <a:r>
              <a:rPr lang="en-US" sz="2800" b="1" dirty="0">
                <a:solidFill>
                  <a:srgbClr val="1F2937"/>
                </a:solidFill>
                <a:latin typeface="Calibri" pitchFamily="34" charset="0"/>
                <a:ea typeface="Calibri" pitchFamily="34" charset="-122"/>
                <a:cs typeface="Calibri" pitchFamily="34" charset="-120"/>
              </a:rPr>
              <a:t>Three sprints, loosely matching the three use cases</a:t>
            </a:r>
            <a:endParaRPr lang="en-US" sz="2800" dirty="0"/>
          </a:p>
        </p:txBody>
      </p:sp>
      <p:sp>
        <p:nvSpPr>
          <p:cNvPr id="6" name="Text 4"/>
          <p:cNvSpPr/>
          <p:nvPr/>
        </p:nvSpPr>
        <p:spPr>
          <a:xfrm>
            <a:off x="457200" y="1554480"/>
            <a:ext cx="11274552" cy="2103120"/>
          </a:xfrm>
          <a:prstGeom prst="rect">
            <a:avLst/>
          </a:prstGeom>
          <a:noFill/>
          <a:ln/>
        </p:spPr>
        <p:txBody>
          <a:bodyPr wrap="square" rtlCol="0" anchor="t"/>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Sprint 1 — UC1 + UC2 happy path. Get a prompt on screen, record audio, show the live transcript.</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Sprint 2 — UC3. Hook up AIAnalysisService, persist DrillSessions, render the dashboard.</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Sprint 3 — Teleprompter, account deletion, edge cases, graceful degradation (NFR4).</a:t>
            </a:r>
            <a:endParaRPr lang="en-US" sz="1400" dirty="0"/>
          </a:p>
        </p:txBody>
      </p:sp>
      <p:sp>
        <p:nvSpPr>
          <p:cNvPr id="7" name="Text 5"/>
          <p:cNvSpPr/>
          <p:nvPr/>
        </p:nvSpPr>
        <p:spPr>
          <a:xfrm>
            <a:off x="457200" y="3840480"/>
            <a:ext cx="11274552" cy="365760"/>
          </a:xfrm>
          <a:prstGeom prst="rect">
            <a:avLst/>
          </a:prstGeom>
          <a:noFill/>
          <a:ln/>
        </p:spPr>
        <p:txBody>
          <a:bodyPr wrap="square"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Order was right; estimates were wrong.</a:t>
            </a:r>
            <a:endParaRPr lang="en-US" sz="1400" dirty="0"/>
          </a:p>
        </p:txBody>
      </p:sp>
      <p:sp>
        <p:nvSpPr>
          <p:cNvPr id="8" name="Text 6"/>
          <p:cNvSpPr/>
          <p:nvPr/>
        </p:nvSpPr>
        <p:spPr>
          <a:xfrm>
            <a:off x="457200" y="4206240"/>
            <a:ext cx="11274552" cy="1371600"/>
          </a:xfrm>
          <a:prstGeom prst="rect">
            <a:avLst/>
          </a:prstGeom>
          <a:noFill/>
          <a:ln/>
        </p:spPr>
        <p:txBody>
          <a:bodyPr wrap="square" rtlCol="0" anchor="ctr"/>
          <a:lstStyle/>
          <a:p>
            <a:pPr indent="0" marL="0">
              <a:buNone/>
            </a:pPr>
            <a:r>
              <a:rPr lang="en-US" sz="1250" dirty="0">
                <a:solidFill>
                  <a:srgbClr val="1F2937"/>
                </a:solidFill>
                <a:latin typeface="Calibri" pitchFamily="34" charset="0"/>
                <a:ea typeface="Calibri" pitchFamily="34" charset="-122"/>
                <a:cs typeface="Calibri" pitchFamily="34" charset="-120"/>
              </a:rPr>
              <a:t>UC2's live transcript was harder than expected — the browser Speech Recognition API emits partial results that needed de-duplication before producing clean TranscriptSegments. About 1.5× planned time on Sprint 1, which squeezed Sprint 3.</a:t>
            </a:r>
            <a:endParaRPr lang="en-US" sz="1250" dirty="0"/>
          </a:p>
        </p:txBody>
      </p:sp>
      <p:sp>
        <p:nvSpPr>
          <p:cNvPr id="9" name="Text 7"/>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SpeakFlow — CS6005 Portfolio</a:t>
            </a:r>
            <a:endParaRPr lang="en-US" sz="900" dirty="0"/>
          </a:p>
        </p:txBody>
      </p:sp>
      <p:sp>
        <p:nvSpPr>
          <p:cNvPr id="10" name="Text 8"/>
          <p:cNvSpPr/>
          <p:nvPr/>
        </p:nvSpPr>
        <p:spPr>
          <a:xfrm>
            <a:off x="10972800" y="6492240"/>
            <a:ext cx="758952"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274320"/>
            <a:ext cx="9144000" cy="274320"/>
          </a:xfrm>
          <a:prstGeom prst="rect">
            <a:avLst/>
          </a:prstGeom>
          <a:noFill/>
          <a:ln/>
        </p:spPr>
        <p:txBody>
          <a:bodyPr wrap="square" rtlCol="0" anchor="ctr"/>
          <a:lstStyle/>
          <a:p>
            <a:pPr algn="l" indent="0" marL="0">
              <a:buNone/>
            </a:pPr>
            <a:r>
              <a:rPr lang="en-US" sz="1100" dirty="0">
                <a:solidFill>
                  <a:srgbClr val="6B7280"/>
                </a:solidFill>
                <a:latin typeface="Calibri" pitchFamily="34" charset="0"/>
                <a:ea typeface="Calibri" pitchFamily="34" charset="-122"/>
                <a:cs typeface="Calibri" pitchFamily="34" charset="-120"/>
              </a:rPr>
              <a:t>5.3  Lessons Learned</a:t>
            </a:r>
            <a:endParaRPr lang="en-US" sz="1100" dirty="0"/>
          </a:p>
        </p:txBody>
      </p:sp>
      <p:sp>
        <p:nvSpPr>
          <p:cNvPr id="3" name="Text 1"/>
          <p:cNvSpPr/>
          <p:nvPr/>
        </p:nvSpPr>
        <p:spPr>
          <a:xfrm>
            <a:off x="9902952" y="274320"/>
            <a:ext cx="18288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Section 5 — 5%</a:t>
            </a:r>
            <a:endParaRPr lang="en-US" sz="1100" dirty="0"/>
          </a:p>
        </p:txBody>
      </p:sp>
      <p:sp>
        <p:nvSpPr>
          <p:cNvPr id="4" name="Shape 2"/>
          <p:cNvSpPr/>
          <p:nvPr/>
        </p:nvSpPr>
        <p:spPr>
          <a:xfrm>
            <a:off x="457200" y="594360"/>
            <a:ext cx="11274552" cy="0"/>
          </a:xfrm>
          <a:prstGeom prst="line">
            <a:avLst/>
          </a:prstGeom>
          <a:noFill/>
          <a:ln w="9525">
            <a:solidFill>
              <a:srgbClr val="D1D5DB"/>
            </a:solidFill>
            <a:prstDash val="solid"/>
          </a:ln>
        </p:spPr>
      </p:sp>
      <p:sp>
        <p:nvSpPr>
          <p:cNvPr id="5" name="Text 3"/>
          <p:cNvSpPr/>
          <p:nvPr/>
        </p:nvSpPr>
        <p:spPr>
          <a:xfrm>
            <a:off x="457200" y="777240"/>
            <a:ext cx="11274552" cy="640080"/>
          </a:xfrm>
          <a:prstGeom prst="rect">
            <a:avLst/>
          </a:prstGeom>
          <a:noFill/>
          <a:ln/>
        </p:spPr>
        <p:txBody>
          <a:bodyPr wrap="square" rtlCol="0" anchor="ctr"/>
          <a:lstStyle/>
          <a:p>
            <a:pPr indent="0" marL="0">
              <a:buNone/>
            </a:pPr>
            <a:r>
              <a:rPr lang="en-US" sz="2800" b="1" dirty="0">
                <a:solidFill>
                  <a:srgbClr val="1F2937"/>
                </a:solidFill>
                <a:latin typeface="Calibri" pitchFamily="34" charset="0"/>
                <a:ea typeface="Calibri" pitchFamily="34" charset="-122"/>
                <a:cs typeface="Calibri" pitchFamily="34" charset="-120"/>
              </a:rPr>
              <a:t>What I would improve</a:t>
            </a:r>
            <a:endParaRPr lang="en-US" sz="2800" dirty="0"/>
          </a:p>
        </p:txBody>
      </p:sp>
      <p:sp>
        <p:nvSpPr>
          <p:cNvPr id="6" name="Text 4"/>
          <p:cNvSpPr/>
          <p:nvPr/>
        </p:nvSpPr>
        <p:spPr>
          <a:xfrm>
            <a:off x="457200" y="1554480"/>
            <a:ext cx="11274552" cy="4754880"/>
          </a:xfrm>
          <a:prstGeom prst="rect">
            <a:avLst/>
          </a:prstGeom>
          <a:noFill/>
          <a:ln/>
        </p:spPr>
        <p:txBody>
          <a:bodyPr wrap="square" rtlCol="0" anchor="t"/>
          <a:lstStyle/>
          <a:p>
            <a:pPr marL="342900" indent="-342900">
              <a:spcAft>
                <a:spcPts val="1000"/>
              </a:spcAft>
              <a:buSzPct val="100000"/>
              <a:buChar char="•"/>
            </a:pPr>
            <a:r>
              <a:rPr lang="en-US" sz="1300" dirty="0">
                <a:solidFill>
                  <a:srgbClr val="1F2937"/>
                </a:solidFill>
                <a:latin typeface="Calibri" pitchFamily="34" charset="0"/>
                <a:ea typeface="Calibri" pitchFamily="34" charset="-122"/>
                <a:cs typeface="Calibri" pitchFamily="34" charset="-120"/>
              </a:rPr>
              <a:t>Build the vocabulary before the diagrams. A canonical list of class and actor names produced first stops names from drifting between artefacts.</a:t>
            </a:r>
            <a:endParaRPr lang="en-US" sz="1300" dirty="0"/>
          </a:p>
          <a:p>
            <a:pPr marL="342900" indent="-342900">
              <a:spcAft>
                <a:spcPts val="1000"/>
              </a:spcAft>
              <a:buSzPct val="100000"/>
              <a:buChar char="•"/>
            </a:pPr>
            <a:r>
              <a:rPr lang="en-US" sz="1300" dirty="0">
                <a:solidFill>
                  <a:srgbClr val="1F2937"/>
                </a:solidFill>
                <a:latin typeface="Calibri" pitchFamily="34" charset="0"/>
                <a:ea typeface="Calibri" pitchFamily="34" charset="-122"/>
                <a:cs typeface="Calibri" pitchFamily="34" charset="-120"/>
              </a:rPr>
              <a:t>Label every association on a class diagram, even if it seems obvious. No association labels and multiplicities = not finished.</a:t>
            </a:r>
            <a:endParaRPr lang="en-US" sz="1300" dirty="0"/>
          </a:p>
          <a:p>
            <a:pPr marL="342900" indent="-342900">
              <a:spcAft>
                <a:spcPts val="1000"/>
              </a:spcAft>
              <a:buSzPct val="100000"/>
              <a:buChar char="•"/>
            </a:pPr>
            <a:r>
              <a:rPr lang="en-US" sz="1300" dirty="0">
                <a:solidFill>
                  <a:srgbClr val="1F2937"/>
                </a:solidFill>
                <a:latin typeface="Calibri" pitchFamily="34" charset="0"/>
                <a:ea typeface="Calibri" pitchFamily="34" charset="-122"/>
                <a:cs typeface="Calibri" pitchFamily="34" charset="-120"/>
              </a:rPr>
              <a:t>Make success-scenario steps and sequence-diagram messages share numbering — the consistency is visible at a glance.</a:t>
            </a:r>
            <a:endParaRPr lang="en-US" sz="1300" dirty="0"/>
          </a:p>
          <a:p>
            <a:pPr marL="342900" indent="-342900">
              <a:spcAft>
                <a:spcPts val="1000"/>
              </a:spcAft>
              <a:buSzPct val="100000"/>
              <a:buChar char="•"/>
            </a:pPr>
            <a:r>
              <a:rPr lang="en-US" sz="1300" dirty="0">
                <a:solidFill>
                  <a:srgbClr val="1F2937"/>
                </a:solidFill>
                <a:latin typeface="Calibri" pitchFamily="34" charset="0"/>
                <a:ea typeface="Calibri" pitchFamily="34" charset="-122"/>
                <a:cs typeface="Calibri" pitchFamily="34" charset="-120"/>
              </a:rPr>
              <a:t>Architecture diagrams should declare both the OO style and the data-flow style separately. Two diagrams at two abstraction levels.</a:t>
            </a:r>
            <a:endParaRPr lang="en-US" sz="1300" dirty="0"/>
          </a:p>
          <a:p>
            <a:pPr marL="342900" indent="-342900">
              <a:spcAft>
                <a:spcPts val="1000"/>
              </a:spcAft>
              <a:buSzPct val="100000"/>
              <a:buChar char="•"/>
            </a:pPr>
            <a:r>
              <a:rPr lang="en-US" sz="1300" dirty="0">
                <a:solidFill>
                  <a:srgbClr val="1F2937"/>
                </a:solidFill>
                <a:latin typeface="Calibri" pitchFamily="34" charset="0"/>
                <a:ea typeface="Calibri" pitchFamily="34" charset="-122"/>
                <a:cs typeface="Calibri" pitchFamily="34" charset="-120"/>
              </a:rPr>
              <a:t>Read my own work out loud — the "doesn't sound like you wrote it" feedback comes from prose smoothed to death.</a:t>
            </a:r>
            <a:endParaRPr lang="en-US" sz="1300" dirty="0"/>
          </a:p>
        </p:txBody>
      </p:sp>
      <p:sp>
        <p:nvSpPr>
          <p:cNvPr id="7" name="Text 5"/>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SpeakFlow — CS6005 Portfolio</a:t>
            </a:r>
            <a:endParaRPr lang="en-US" sz="900" dirty="0"/>
          </a:p>
        </p:txBody>
      </p:sp>
      <p:sp>
        <p:nvSpPr>
          <p:cNvPr id="8" name="Text 6"/>
          <p:cNvSpPr/>
          <p:nvPr/>
        </p:nvSpPr>
        <p:spPr>
          <a:xfrm>
            <a:off x="10972800" y="6492240"/>
            <a:ext cx="758952"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274320"/>
            <a:ext cx="9144000" cy="274320"/>
          </a:xfrm>
          <a:prstGeom prst="rect">
            <a:avLst/>
          </a:prstGeom>
          <a:noFill/>
          <a:ln/>
        </p:spPr>
        <p:txBody>
          <a:bodyPr wrap="square" rtlCol="0" anchor="ctr"/>
          <a:lstStyle/>
          <a:p>
            <a:pPr algn="l" indent="0" marL="0">
              <a:buNone/>
            </a:pPr>
            <a:r>
              <a:rPr lang="en-US" sz="1100" dirty="0">
                <a:solidFill>
                  <a:srgbClr val="6B7280"/>
                </a:solidFill>
                <a:latin typeface="Calibri" pitchFamily="34" charset="0"/>
                <a:ea typeface="Calibri" pitchFamily="34" charset="-122"/>
                <a:cs typeface="Calibri" pitchFamily="34" charset="-120"/>
              </a:rPr>
              <a:t>5.4  Use of AI Tools</a:t>
            </a:r>
            <a:endParaRPr lang="en-US" sz="1100" dirty="0"/>
          </a:p>
        </p:txBody>
      </p:sp>
      <p:sp>
        <p:nvSpPr>
          <p:cNvPr id="3" name="Text 1"/>
          <p:cNvSpPr/>
          <p:nvPr/>
        </p:nvSpPr>
        <p:spPr>
          <a:xfrm>
            <a:off x="9902952" y="274320"/>
            <a:ext cx="18288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Section 5 — 5%</a:t>
            </a:r>
            <a:endParaRPr lang="en-US" sz="1100" dirty="0"/>
          </a:p>
        </p:txBody>
      </p:sp>
      <p:sp>
        <p:nvSpPr>
          <p:cNvPr id="4" name="Shape 2"/>
          <p:cNvSpPr/>
          <p:nvPr/>
        </p:nvSpPr>
        <p:spPr>
          <a:xfrm>
            <a:off x="457200" y="594360"/>
            <a:ext cx="11274552" cy="0"/>
          </a:xfrm>
          <a:prstGeom prst="line">
            <a:avLst/>
          </a:prstGeom>
          <a:noFill/>
          <a:ln w="9525">
            <a:solidFill>
              <a:srgbClr val="D1D5DB"/>
            </a:solidFill>
            <a:prstDash val="solid"/>
          </a:ln>
        </p:spPr>
      </p:sp>
      <p:sp>
        <p:nvSpPr>
          <p:cNvPr id="5" name="Text 3"/>
          <p:cNvSpPr/>
          <p:nvPr/>
        </p:nvSpPr>
        <p:spPr>
          <a:xfrm>
            <a:off x="457200" y="777240"/>
            <a:ext cx="11274552" cy="640080"/>
          </a:xfrm>
          <a:prstGeom prst="rect">
            <a:avLst/>
          </a:prstGeom>
          <a:noFill/>
          <a:ln/>
        </p:spPr>
        <p:txBody>
          <a:bodyPr wrap="square" rtlCol="0" anchor="ctr"/>
          <a:lstStyle/>
          <a:p>
            <a:pPr indent="0" marL="0">
              <a:buNone/>
            </a:pPr>
            <a:r>
              <a:rPr lang="en-US" sz="2800" b="1" dirty="0">
                <a:solidFill>
                  <a:srgbClr val="1F2937"/>
                </a:solidFill>
                <a:latin typeface="Calibri" pitchFamily="34" charset="0"/>
                <a:ea typeface="Calibri" pitchFamily="34" charset="-122"/>
                <a:cs typeface="Calibri" pitchFamily="34" charset="-120"/>
              </a:rPr>
              <a:t>Two distinct uses of AI on this project</a:t>
            </a:r>
            <a:endParaRPr lang="en-US" sz="2800" dirty="0"/>
          </a:p>
        </p:txBody>
      </p:sp>
      <p:sp>
        <p:nvSpPr>
          <p:cNvPr id="6" name="Text 4"/>
          <p:cNvSpPr/>
          <p:nvPr/>
        </p:nvSpPr>
        <p:spPr>
          <a:xfrm>
            <a:off x="457200" y="1371600"/>
            <a:ext cx="11274552" cy="320040"/>
          </a:xfrm>
          <a:prstGeom prst="rect">
            <a:avLst/>
          </a:prstGeom>
          <a:noFill/>
          <a:ln/>
        </p:spPr>
        <p:txBody>
          <a:bodyPr wrap="square"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1. Gemini Flash as a runtime component</a:t>
            </a:r>
            <a:endParaRPr lang="en-US" sz="1400" dirty="0"/>
          </a:p>
        </p:txBody>
      </p:sp>
      <p:sp>
        <p:nvSpPr>
          <p:cNvPr id="7" name="Text 5"/>
          <p:cNvSpPr/>
          <p:nvPr/>
        </p:nvSpPr>
        <p:spPr>
          <a:xfrm>
            <a:off x="457200" y="1691640"/>
            <a:ext cx="11274552" cy="1463040"/>
          </a:xfrm>
          <a:prstGeom prst="rect">
            <a:avLst/>
          </a:prstGeom>
          <a:noFill/>
          <a:ln/>
        </p:spPr>
        <p:txBody>
          <a:bodyPr wrap="square" rtlCol="0" anchor="ctr"/>
          <a:lstStyle/>
          <a:p>
            <a:pPr indent="0" marL="0">
              <a:buNone/>
            </a:pPr>
            <a:r>
              <a:rPr lang="en-US" sz="1200" dirty="0">
                <a:solidFill>
                  <a:srgbClr val="1F2937"/>
                </a:solidFill>
                <a:latin typeface="Calibri" pitchFamily="34" charset="0"/>
                <a:ea typeface="Calibri" pitchFamily="34" charset="-122"/>
                <a:cs typeface="Calibri" pitchFamily="34" charset="-120"/>
              </a:rPr>
              <a:t>This is AIAnalysisService — a product feature, not a dev tool. Consumes the transcript, returns a SpeechAnalysis. Pros: high-quality NL feedback a hand-written rules engine couldn't match; easy to swap to a different model because it lives behind a single service class. Cons: adds a network dependency (drove NFR4); responses are non-deterministic so they're hard to unit-test directly.</a:t>
            </a:r>
            <a:endParaRPr lang="en-US" sz="1200" dirty="0"/>
          </a:p>
        </p:txBody>
      </p:sp>
      <p:sp>
        <p:nvSpPr>
          <p:cNvPr id="8" name="Text 6"/>
          <p:cNvSpPr/>
          <p:nvPr/>
        </p:nvSpPr>
        <p:spPr>
          <a:xfrm>
            <a:off x="457200" y="3291840"/>
            <a:ext cx="11274552" cy="320040"/>
          </a:xfrm>
          <a:prstGeom prst="rect">
            <a:avLst/>
          </a:prstGeom>
          <a:noFill/>
          <a:ln/>
        </p:spPr>
        <p:txBody>
          <a:bodyPr wrap="square"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2. Claude / ChatGPT as a development assistant</a:t>
            </a:r>
            <a:endParaRPr lang="en-US" sz="1400" dirty="0"/>
          </a:p>
        </p:txBody>
      </p:sp>
      <p:sp>
        <p:nvSpPr>
          <p:cNvPr id="9" name="Text 7"/>
          <p:cNvSpPr/>
          <p:nvPr/>
        </p:nvSpPr>
        <p:spPr>
          <a:xfrm>
            <a:off x="457200" y="3611880"/>
            <a:ext cx="11274552" cy="2103120"/>
          </a:xfrm>
          <a:prstGeom prst="rect">
            <a:avLst/>
          </a:prstGeom>
          <a:noFill/>
          <a:ln/>
        </p:spPr>
        <p:txBody>
          <a:bodyPr wrap="square" rtlCol="0" anchor="ctr"/>
          <a:lstStyle/>
          <a:p>
            <a:pPr indent="0" marL="0">
              <a:buNone/>
            </a:pPr>
            <a:r>
              <a:rPr lang="en-US" sz="1200" dirty="0">
                <a:solidFill>
                  <a:srgbClr val="1F2937"/>
                </a:solidFill>
                <a:latin typeface="Calibri" pitchFamily="34" charset="0"/>
                <a:ea typeface="Calibri" pitchFamily="34" charset="-122"/>
                <a:cs typeface="Calibri" pitchFamily="34" charset="-120"/>
              </a:rPr>
              <a:t>Used to brainstorm architecture, draft prose and tables, restructure the portfolio after feedback. Pros: fast iteration on wording; good at spotting inconsistencies across long documents; useful for first-draft UML tables. Cons: when used to produce polished-looking text without running it through my own voice, output read as artificial — the lecturer caught it. Lesson: AI output is a first draft, not a finished artefact.</a:t>
            </a:r>
            <a:endParaRPr lang="en-US" sz="1200" dirty="0"/>
          </a:p>
        </p:txBody>
      </p:sp>
      <p:sp>
        <p:nvSpPr>
          <p:cNvPr id="10" name="Text 8"/>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SpeakFlow — CS6005 Portfolio</a:t>
            </a:r>
            <a:endParaRPr lang="en-US" sz="900" dirty="0"/>
          </a:p>
        </p:txBody>
      </p:sp>
      <p:sp>
        <p:nvSpPr>
          <p:cNvPr id="11" name="Text 9"/>
          <p:cNvSpPr/>
          <p:nvPr/>
        </p:nvSpPr>
        <p:spPr>
          <a:xfrm>
            <a:off x="10972800" y="6492240"/>
            <a:ext cx="758952"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274320"/>
            <a:ext cx="9144000" cy="274320"/>
          </a:xfrm>
          <a:prstGeom prst="rect">
            <a:avLst/>
          </a:prstGeom>
          <a:noFill/>
          <a:ln/>
        </p:spPr>
        <p:txBody>
          <a:bodyPr wrap="square" rtlCol="0" anchor="ctr"/>
          <a:lstStyle/>
          <a:p>
            <a:pPr algn="l" indent="0" marL="0">
              <a:buNone/>
            </a:pPr>
            <a:r>
              <a:rPr lang="en-US" sz="1100" dirty="0">
                <a:solidFill>
                  <a:srgbClr val="6B7280"/>
                </a:solidFill>
                <a:latin typeface="Calibri" pitchFamily="34" charset="0"/>
                <a:ea typeface="Calibri" pitchFamily="34" charset="-122"/>
                <a:cs typeface="Calibri" pitchFamily="34" charset="-120"/>
              </a:rPr>
              <a:t>5.5  Team Formation Experience</a:t>
            </a:r>
            <a:endParaRPr lang="en-US" sz="1100" dirty="0"/>
          </a:p>
        </p:txBody>
      </p:sp>
      <p:sp>
        <p:nvSpPr>
          <p:cNvPr id="3" name="Text 1"/>
          <p:cNvSpPr/>
          <p:nvPr/>
        </p:nvSpPr>
        <p:spPr>
          <a:xfrm>
            <a:off x="9902952" y="274320"/>
            <a:ext cx="18288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Section 5 — 5%</a:t>
            </a:r>
            <a:endParaRPr lang="en-US" sz="1100" dirty="0"/>
          </a:p>
        </p:txBody>
      </p:sp>
      <p:sp>
        <p:nvSpPr>
          <p:cNvPr id="4" name="Shape 2"/>
          <p:cNvSpPr/>
          <p:nvPr/>
        </p:nvSpPr>
        <p:spPr>
          <a:xfrm>
            <a:off x="457200" y="594360"/>
            <a:ext cx="11274552" cy="0"/>
          </a:xfrm>
          <a:prstGeom prst="line">
            <a:avLst/>
          </a:prstGeom>
          <a:noFill/>
          <a:ln w="9525">
            <a:solidFill>
              <a:srgbClr val="D1D5DB"/>
            </a:solidFill>
            <a:prstDash val="solid"/>
          </a:ln>
        </p:spPr>
      </p:sp>
      <p:sp>
        <p:nvSpPr>
          <p:cNvPr id="5" name="Text 3"/>
          <p:cNvSpPr/>
          <p:nvPr/>
        </p:nvSpPr>
        <p:spPr>
          <a:xfrm>
            <a:off x="457200" y="777240"/>
            <a:ext cx="11274552" cy="640080"/>
          </a:xfrm>
          <a:prstGeom prst="rect">
            <a:avLst/>
          </a:prstGeom>
          <a:noFill/>
          <a:ln/>
        </p:spPr>
        <p:txBody>
          <a:bodyPr wrap="square" rtlCol="0" anchor="ctr"/>
          <a:lstStyle/>
          <a:p>
            <a:pPr indent="0" marL="0">
              <a:buNone/>
            </a:pPr>
            <a:r>
              <a:rPr lang="en-US" sz="2800" b="1" dirty="0">
                <a:solidFill>
                  <a:srgbClr val="1F2937"/>
                </a:solidFill>
                <a:latin typeface="Calibri" pitchFamily="34" charset="0"/>
                <a:ea typeface="Calibri" pitchFamily="34" charset="-122"/>
                <a:cs typeface="Calibri" pitchFamily="34" charset="-120"/>
              </a:rPr>
              <a:t>What there was to learn from working alone</a:t>
            </a:r>
            <a:endParaRPr lang="en-US" sz="2800" dirty="0"/>
          </a:p>
        </p:txBody>
      </p:sp>
      <p:sp>
        <p:nvSpPr>
          <p:cNvPr id="6" name="Text 4"/>
          <p:cNvSpPr/>
          <p:nvPr/>
        </p:nvSpPr>
        <p:spPr>
          <a:xfrm>
            <a:off x="457200" y="1554480"/>
            <a:ext cx="11274552" cy="4754880"/>
          </a:xfrm>
          <a:prstGeom prst="rect">
            <a:avLst/>
          </a:prstGeom>
          <a:noFill/>
          <a:ln/>
        </p:spPr>
        <p:txBody>
          <a:bodyPr wrap="square" rtlCol="0" anchor="t"/>
          <a:lstStyle/>
          <a:p>
            <a:pPr indent="0" marL="0">
              <a:spcAft>
                <a:spcPts val="600"/>
              </a:spcAft>
              <a:buNone/>
            </a:pPr>
            <a:r>
              <a:rPr lang="en-US" sz="1400" dirty="0">
                <a:solidFill>
                  <a:srgbClr val="1F2937"/>
                </a:solidFill>
                <a:latin typeface="Calibri" pitchFamily="34" charset="0"/>
                <a:ea typeface="Calibri" pitchFamily="34" charset="-122"/>
                <a:cs typeface="Calibri" pitchFamily="34" charset="-120"/>
              </a:rPr>
              <a:t>There wasn't a team — I chose to work solo (motivation in 5.1).</a:t>
            </a:r>
            <a:endParaRPr lang="en-US" sz="1400" dirty="0"/>
          </a:p>
          <a:p>
            <a:pPr indent="0" marL="0">
              <a:spcAft>
                <a:spcPts val="600"/>
              </a:spcAft>
              <a:buNone/>
            </a:pPr>
            <a:endParaRPr lang="en-US" sz="1400" dirty="0"/>
          </a:p>
          <a:p>
            <a:pPr indent="0" marL="0">
              <a:spcAft>
                <a:spcPts val="600"/>
              </a:spcAft>
              <a:buNone/>
            </a:pPr>
            <a:r>
              <a:rPr lang="en-US" sz="1400" dirty="0">
                <a:solidFill>
                  <a:srgbClr val="1F2937"/>
                </a:solidFill>
                <a:latin typeface="Calibri" pitchFamily="34" charset="0"/>
                <a:ea typeface="Calibri" pitchFamily="34" charset="-122"/>
                <a:cs typeface="Calibri" pitchFamily="34" charset="-120"/>
              </a:rPr>
              <a:t>What went well individually: ownership of the full stack; clear decision-making; nothing got stuck waiting on a teammate.</a:t>
            </a:r>
            <a:endParaRPr lang="en-US" sz="1400" dirty="0"/>
          </a:p>
          <a:p>
            <a:pPr indent="0" marL="0">
              <a:spcAft>
                <a:spcPts val="600"/>
              </a:spcAft>
              <a:buNone/>
            </a:pPr>
            <a:endParaRPr lang="en-US" sz="1400" dirty="0"/>
          </a:p>
          <a:p>
            <a:pPr indent="0" marL="0">
              <a:spcAft>
                <a:spcPts val="600"/>
              </a:spcAft>
              <a:buNone/>
            </a:pPr>
            <a:r>
              <a:rPr lang="en-US" sz="1400" dirty="0">
                <a:solidFill>
                  <a:srgbClr val="1F2937"/>
                </a:solidFill>
                <a:latin typeface="Calibri" pitchFamily="34" charset="0"/>
                <a:ea typeface="Calibri" pitchFamily="34" charset="-122"/>
                <a:cs typeface="Calibri" pitchFamily="34" charset="-120"/>
              </a:rPr>
              <a:t>What could be improved individually: no cross-check on my own artefacts, which directly caused the consistency problems the lecturer flagged. If I work solo again, I'll schedule a "pretend peer review" mid-project — block out an hour, read all the artefacts cold, red-pen them. Having no reviewer is the biggest risk of solo work.</a:t>
            </a:r>
            <a:endParaRPr lang="en-US" sz="1400" dirty="0"/>
          </a:p>
        </p:txBody>
      </p:sp>
      <p:sp>
        <p:nvSpPr>
          <p:cNvPr id="7" name="Text 5"/>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SpeakFlow — CS6005 Portfolio</a:t>
            </a:r>
            <a:endParaRPr lang="en-US" sz="900" dirty="0"/>
          </a:p>
        </p:txBody>
      </p:sp>
      <p:sp>
        <p:nvSpPr>
          <p:cNvPr id="8" name="Text 6"/>
          <p:cNvSpPr/>
          <p:nvPr/>
        </p:nvSpPr>
        <p:spPr>
          <a:xfrm>
            <a:off x="10972800" y="6492240"/>
            <a:ext cx="758952"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274320"/>
            <a:ext cx="9144000" cy="274320"/>
          </a:xfrm>
          <a:prstGeom prst="rect">
            <a:avLst/>
          </a:prstGeom>
          <a:noFill/>
          <a:ln/>
        </p:spPr>
        <p:txBody>
          <a:bodyPr wrap="square" rtlCol="0" anchor="ctr"/>
          <a:lstStyle/>
          <a:p>
            <a:pPr algn="l" indent="0" marL="0">
              <a:buNone/>
            </a:pPr>
            <a:r>
              <a:rPr lang="en-US" sz="1100" dirty="0">
                <a:solidFill>
                  <a:srgbClr val="6B7280"/>
                </a:solidFill>
                <a:latin typeface="Calibri" pitchFamily="34" charset="0"/>
                <a:ea typeface="Calibri" pitchFamily="34" charset="-122"/>
                <a:cs typeface="Calibri" pitchFamily="34" charset="-120"/>
              </a:rPr>
              <a:t>5.6  References</a:t>
            </a:r>
            <a:endParaRPr lang="en-US" sz="1100" dirty="0"/>
          </a:p>
        </p:txBody>
      </p:sp>
      <p:sp>
        <p:nvSpPr>
          <p:cNvPr id="3" name="Text 1"/>
          <p:cNvSpPr/>
          <p:nvPr/>
        </p:nvSpPr>
        <p:spPr>
          <a:xfrm>
            <a:off x="9902952" y="274320"/>
            <a:ext cx="18288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Section 5 — 5%</a:t>
            </a:r>
            <a:endParaRPr lang="en-US" sz="1100" dirty="0"/>
          </a:p>
        </p:txBody>
      </p:sp>
      <p:sp>
        <p:nvSpPr>
          <p:cNvPr id="4" name="Shape 2"/>
          <p:cNvSpPr/>
          <p:nvPr/>
        </p:nvSpPr>
        <p:spPr>
          <a:xfrm>
            <a:off x="457200" y="594360"/>
            <a:ext cx="11274552" cy="0"/>
          </a:xfrm>
          <a:prstGeom prst="line">
            <a:avLst/>
          </a:prstGeom>
          <a:noFill/>
          <a:ln w="9525">
            <a:solidFill>
              <a:srgbClr val="D1D5DB"/>
            </a:solidFill>
            <a:prstDash val="solid"/>
          </a:ln>
        </p:spPr>
      </p:sp>
      <p:sp>
        <p:nvSpPr>
          <p:cNvPr id="5" name="Text 3"/>
          <p:cNvSpPr/>
          <p:nvPr/>
        </p:nvSpPr>
        <p:spPr>
          <a:xfrm>
            <a:off x="457200" y="777240"/>
            <a:ext cx="11274552" cy="640080"/>
          </a:xfrm>
          <a:prstGeom prst="rect">
            <a:avLst/>
          </a:prstGeom>
          <a:noFill/>
          <a:ln/>
        </p:spPr>
        <p:txBody>
          <a:bodyPr wrap="square" rtlCol="0" anchor="ctr"/>
          <a:lstStyle/>
          <a:p>
            <a:pPr indent="0" marL="0">
              <a:buNone/>
            </a:pPr>
            <a:r>
              <a:rPr lang="en-US" sz="2800" b="1" dirty="0">
                <a:solidFill>
                  <a:srgbClr val="1F2937"/>
                </a:solidFill>
                <a:latin typeface="Calibri" pitchFamily="34" charset="0"/>
                <a:ea typeface="Calibri" pitchFamily="34" charset="-122"/>
                <a:cs typeface="Calibri" pitchFamily="34" charset="-120"/>
              </a:rPr>
              <a:t>References</a:t>
            </a:r>
            <a:endParaRPr lang="en-US" sz="2800" dirty="0"/>
          </a:p>
        </p:txBody>
      </p:sp>
      <p:sp>
        <p:nvSpPr>
          <p:cNvPr id="6" name="Text 4"/>
          <p:cNvSpPr/>
          <p:nvPr/>
        </p:nvSpPr>
        <p:spPr>
          <a:xfrm>
            <a:off x="457200" y="1554480"/>
            <a:ext cx="11274552" cy="4754880"/>
          </a:xfrm>
          <a:prstGeom prst="rect">
            <a:avLst/>
          </a:prstGeom>
          <a:noFill/>
          <a:ln/>
        </p:spPr>
        <p:txBody>
          <a:bodyPr wrap="square" rtlCol="0" anchor="t"/>
          <a:lstStyle/>
          <a:p>
            <a:pPr indent="0" marL="0">
              <a:spcAft>
                <a:spcPts val="1000"/>
              </a:spcAft>
              <a:buNone/>
            </a:pPr>
            <a:r>
              <a:rPr lang="en-US" sz="1200" dirty="0">
                <a:solidFill>
                  <a:srgbClr val="1F2937"/>
                </a:solidFill>
                <a:latin typeface="Calibri" pitchFamily="34" charset="0"/>
                <a:ea typeface="Calibri" pitchFamily="34" charset="-122"/>
                <a:cs typeface="Calibri" pitchFamily="34" charset="-120"/>
              </a:rPr>
              <a:t>1. User-Centered Design in AI Speech Coaching Platforms — Orai/Yoodli feedback-cycle structures. Influenced the choice to highlight filler words live (theaisurf.com).</a:t>
            </a:r>
            <a:endParaRPr lang="en-US" sz="1200" dirty="0"/>
          </a:p>
          <a:p>
            <a:pPr indent="0" marL="0">
              <a:spcAft>
                <a:spcPts val="1000"/>
              </a:spcAft>
              <a:buNone/>
            </a:pPr>
            <a:r>
              <a:rPr lang="en-US" sz="1200" dirty="0">
                <a:solidFill>
                  <a:srgbClr val="1F2937"/>
                </a:solidFill>
                <a:latin typeface="Calibri" pitchFamily="34" charset="0"/>
                <a:ea typeface="Calibri" pitchFamily="34" charset="-122"/>
                <a:cs typeface="Calibri" pitchFamily="34" charset="-120"/>
              </a:rPr>
              <a:t>2. Web Speech API documentation — directly shaped SpeechRecognitionService's interface (start, stop, onTranscript callback) (developer.mozilla.org).</a:t>
            </a:r>
            <a:endParaRPr lang="en-US" sz="1200" dirty="0"/>
          </a:p>
          <a:p>
            <a:pPr indent="0" marL="0">
              <a:spcAft>
                <a:spcPts val="1000"/>
              </a:spcAft>
              <a:buNone/>
            </a:pPr>
            <a:r>
              <a:rPr lang="en-US" sz="1200" dirty="0">
                <a:solidFill>
                  <a:srgbClr val="1F2937"/>
                </a:solidFill>
                <a:latin typeface="Calibri" pitchFamily="34" charset="0"/>
                <a:ea typeface="Calibri" pitchFamily="34" charset="-122"/>
                <a:cs typeface="Calibri" pitchFamily="34" charset="-120"/>
              </a:rPr>
              <a:t>3. Shaw, M. &amp; Garlan, D. (1996). Software Architecture: Perspectives on an Emerging Discipline. Canonical text on Pipe-and-Filter; framed the Section 3.1 architecture choice.</a:t>
            </a:r>
            <a:endParaRPr lang="en-US" sz="1200" dirty="0"/>
          </a:p>
          <a:p>
            <a:pPr indent="0" marL="0">
              <a:spcAft>
                <a:spcPts val="1000"/>
              </a:spcAft>
              <a:buNone/>
            </a:pPr>
            <a:r>
              <a:rPr lang="en-US" sz="1200" dirty="0">
                <a:solidFill>
                  <a:srgbClr val="1F2937"/>
                </a:solidFill>
                <a:latin typeface="Calibri" pitchFamily="34" charset="0"/>
                <a:ea typeface="Calibri" pitchFamily="34" charset="-122"/>
                <a:cs typeface="Calibri" pitchFamily="34" charset="-120"/>
              </a:rPr>
              <a:t>4. Gemini API — structured outputs documentation. Shaped the AIAnalysisService → AnalysisController contract so SpeechAnalysis has the right shape every time (ai.google.dev).</a:t>
            </a:r>
            <a:endParaRPr lang="en-US" sz="1200" dirty="0"/>
          </a:p>
          <a:p>
            <a:pPr indent="0" marL="0">
              <a:spcAft>
                <a:spcPts val="1000"/>
              </a:spcAft>
              <a:buNone/>
            </a:pPr>
            <a:r>
              <a:rPr lang="en-US" sz="1200" dirty="0">
                <a:solidFill>
                  <a:srgbClr val="1F2937"/>
                </a:solidFill>
                <a:latin typeface="Calibri" pitchFamily="34" charset="0"/>
                <a:ea typeface="Calibri" pitchFamily="34" charset="-122"/>
                <a:cs typeface="Calibri" pitchFamily="34" charset="-120"/>
              </a:rPr>
              <a:t>5. Comparative overviews of Poised, Yoodli and Orai (declom.com, talkpal.ai) — used for the feature matrix in Section 1.3.</a:t>
            </a:r>
            <a:endParaRPr lang="en-US" sz="1200" dirty="0"/>
          </a:p>
        </p:txBody>
      </p:sp>
      <p:sp>
        <p:nvSpPr>
          <p:cNvPr id="7" name="Text 5"/>
          <p:cNvSpPr/>
          <p:nvPr/>
        </p:nvSpPr>
        <p:spPr>
          <a:xfrm>
            <a:off x="457200" y="5852160"/>
            <a:ext cx="11274552" cy="457200"/>
          </a:xfrm>
          <a:prstGeom prst="rect">
            <a:avLst/>
          </a:prstGeom>
          <a:noFill/>
          <a:ln/>
        </p:spPr>
        <p:txBody>
          <a:bodyPr wrap="square"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Replace bracketed citations with the exact URLs you used at submission. Keep the authors, titles, and the "how it influenced the project" sentences.</a:t>
            </a:r>
            <a:endParaRPr lang="en-US" sz="1000" dirty="0"/>
          </a:p>
        </p:txBody>
      </p:sp>
      <p:sp>
        <p:nvSpPr>
          <p:cNvPr id="8" name="Text 6"/>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SpeakFlow — CS6005 Portfolio</a:t>
            </a:r>
            <a:endParaRPr lang="en-US" sz="900" dirty="0"/>
          </a:p>
        </p:txBody>
      </p:sp>
      <p:sp>
        <p:nvSpPr>
          <p:cNvPr id="9" name="Text 7"/>
          <p:cNvSpPr/>
          <p:nvPr/>
        </p:nvSpPr>
        <p:spPr>
          <a:xfrm>
            <a:off x="10972800" y="6492240"/>
            <a:ext cx="758952"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40</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0"/>
            <a:ext cx="11274552" cy="914400"/>
          </a:xfrm>
          <a:prstGeom prst="rect">
            <a:avLst/>
          </a:prstGeom>
          <a:noFill/>
          <a:ln/>
        </p:spPr>
        <p:txBody>
          <a:bodyPr wrap="square" rtlCol="0" anchor="ctr"/>
          <a:lstStyle/>
          <a:p>
            <a:pPr indent="0" marL="0">
              <a:buNone/>
            </a:pPr>
            <a:r>
              <a:rPr lang="en-US" sz="6000" b="1" dirty="0">
                <a:solidFill>
                  <a:srgbClr val="1F2937"/>
                </a:solidFill>
                <a:latin typeface="Calibri" pitchFamily="34" charset="0"/>
                <a:ea typeface="Calibri" pitchFamily="34" charset="-122"/>
                <a:cs typeface="Calibri" pitchFamily="34" charset="-120"/>
              </a:rPr>
              <a:t>Thank you</a:t>
            </a:r>
            <a:endParaRPr lang="en-US" sz="6000" dirty="0"/>
          </a:p>
        </p:txBody>
      </p:sp>
      <p:sp>
        <p:nvSpPr>
          <p:cNvPr id="3" name="Shape 1"/>
          <p:cNvSpPr/>
          <p:nvPr/>
        </p:nvSpPr>
        <p:spPr>
          <a:xfrm>
            <a:off x="457200" y="3749040"/>
            <a:ext cx="3200400" cy="0"/>
          </a:xfrm>
          <a:prstGeom prst="line">
            <a:avLst/>
          </a:prstGeom>
          <a:noFill/>
          <a:ln w="19050">
            <a:solidFill>
              <a:srgbClr val="1F2937"/>
            </a:solidFill>
            <a:prstDash val="solid"/>
          </a:ln>
        </p:spPr>
      </p:sp>
      <p:sp>
        <p:nvSpPr>
          <p:cNvPr id="4" name="Text 2"/>
          <p:cNvSpPr/>
          <p:nvPr/>
        </p:nvSpPr>
        <p:spPr>
          <a:xfrm>
            <a:off x="457200" y="3931920"/>
            <a:ext cx="11274552" cy="457200"/>
          </a:xfrm>
          <a:prstGeom prst="rect">
            <a:avLst/>
          </a:prstGeom>
          <a:noFill/>
          <a:ln/>
        </p:spPr>
        <p:txBody>
          <a:bodyPr wrap="square" rtlCol="0" anchor="ctr"/>
          <a:lstStyle/>
          <a:p>
            <a:pPr indent="0" marL="0">
              <a:buNone/>
            </a:pPr>
            <a:r>
              <a:rPr lang="en-US" sz="1800" dirty="0">
                <a:solidFill>
                  <a:srgbClr val="6B7280"/>
                </a:solidFill>
                <a:latin typeface="Calibri" pitchFamily="34" charset="0"/>
                <a:ea typeface="Calibri" pitchFamily="34" charset="-122"/>
                <a:cs typeface="Calibri" pitchFamily="34" charset="-120"/>
              </a:rPr>
              <a:t>Questions welcome.</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SpeakFlow — CS6005 Portfolio</dc:title>
  <dc:subject>PptxGenJS Presentation</dc:subject>
  <dc:creator>Kaylan</dc:creator>
  <cp:lastModifiedBy>Kaylan</cp:lastModifiedBy>
  <cp:revision>1</cp:revision>
  <dcterms:created xsi:type="dcterms:W3CDTF">2026-04-30T14:20:16Z</dcterms:created>
  <dcterms:modified xsi:type="dcterms:W3CDTF">2026-04-30T14:20:16Z</dcterms:modified>
</cp:coreProperties>
</file>