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7315200" cy="365760"/>
          </a:xfrm>
          <a:prstGeom prst="rect">
            <a:avLst/>
          </a:prstGeom>
          <a:noFill/>
        </p:spPr>
        <p:txBody>
          <a:bodyPr wrap="square" lIns="45720" rIns="45720" tIns="18288" bIns="18288" anchor="t">
            <a:spAutoFit/>
          </a:bodyPr>
          <a:lstStyle/>
          <a:p>
            <a:pPr algn="l"/>
            <a:r>
              <a:rPr sz="1800" b="1" i="0">
                <a:solidFill>
                  <a:srgbClr val="CADCFC"/>
                </a:solidFill>
                <a:latin typeface="Calibri"/>
              </a:rPr>
              <a:t>CS6005</a:t>
            </a:r>
          </a:p>
        </p:txBody>
      </p:sp>
      <p:sp>
        <p:nvSpPr>
          <p:cNvPr id="3" name="TextBox 2"/>
          <p:cNvSpPr txBox="1"/>
          <p:nvPr/>
        </p:nvSpPr>
        <p:spPr>
          <a:xfrm>
            <a:off x="457200" y="2103120"/>
            <a:ext cx="11247120" cy="1280160"/>
          </a:xfrm>
          <a:prstGeom prst="rect">
            <a:avLst/>
          </a:prstGeom>
          <a:noFill/>
        </p:spPr>
        <p:txBody>
          <a:bodyPr wrap="square" lIns="45720" rIns="45720" tIns="18288" bIns="18288" anchor="t">
            <a:spAutoFit/>
          </a:bodyPr>
          <a:lstStyle/>
          <a:p>
            <a:pPr algn="l"/>
            <a:r>
              <a:rPr sz="8000" b="1" i="0">
                <a:solidFill>
                  <a:srgbClr val="FFFFFF"/>
                </a:solidFill>
                <a:latin typeface="Calibri"/>
              </a:rPr>
              <a:t>SpeakFlow</a:t>
            </a:r>
          </a:p>
        </p:txBody>
      </p:sp>
      <p:sp>
        <p:nvSpPr>
          <p:cNvPr id="4" name="TextBox 3"/>
          <p:cNvSpPr txBox="1"/>
          <p:nvPr/>
        </p:nvSpPr>
        <p:spPr>
          <a:xfrm>
            <a:off x="457200" y="3474720"/>
            <a:ext cx="11247120" cy="731520"/>
          </a:xfrm>
          <a:prstGeom prst="rect">
            <a:avLst/>
          </a:prstGeom>
          <a:noFill/>
        </p:spPr>
        <p:txBody>
          <a:bodyPr wrap="square" lIns="45720" rIns="45720" tIns="18288" bIns="18288" anchor="t">
            <a:spAutoFit/>
          </a:bodyPr>
          <a:lstStyle/>
          <a:p>
            <a:pPr algn="l"/>
            <a:r>
              <a:rPr sz="2400" b="0" i="1">
                <a:solidFill>
                  <a:srgbClr val="CADCFC"/>
                </a:solidFill>
                <a:latin typeface="Calibri"/>
              </a:rPr>
              <a:t>A personal speaking coach — portfolio</a:t>
            </a:r>
          </a:p>
        </p:txBody>
      </p:sp>
      <p:sp>
        <p:nvSpPr>
          <p:cNvPr id="5" name="Rectangle 4"/>
          <p:cNvSpPr/>
          <p:nvPr/>
        </p:nvSpPr>
        <p:spPr>
          <a:xfrm>
            <a:off x="457200" y="4526280"/>
            <a:ext cx="1371600" cy="73152"/>
          </a:xfrm>
          <a:prstGeom prst="rect">
            <a:avLst/>
          </a:prstGeom>
          <a:solidFill>
            <a:srgbClr val="F59E0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 name="TextBox 5"/>
          <p:cNvSpPr txBox="1"/>
          <p:nvPr/>
        </p:nvSpPr>
        <p:spPr>
          <a:xfrm>
            <a:off x="457200" y="5029200"/>
            <a:ext cx="11247120" cy="365760"/>
          </a:xfrm>
          <a:prstGeom prst="rect">
            <a:avLst/>
          </a:prstGeom>
          <a:noFill/>
        </p:spPr>
        <p:txBody>
          <a:bodyPr wrap="square" lIns="45720" rIns="45720" tIns="18288" bIns="18288" anchor="t">
            <a:spAutoFit/>
          </a:bodyPr>
          <a:lstStyle/>
          <a:p>
            <a:pPr algn="l"/>
            <a:r>
              <a:rPr sz="2200" b="1" i="0">
                <a:solidFill>
                  <a:srgbClr val="FFFFFF"/>
                </a:solidFill>
                <a:latin typeface="Calibri"/>
              </a:rPr>
              <a:t>Kaylan Orange</a:t>
            </a:r>
          </a:p>
        </p:txBody>
      </p:sp>
      <p:sp>
        <p:nvSpPr>
          <p:cNvPr id="7" name="TextBox 6"/>
          <p:cNvSpPr txBox="1"/>
          <p:nvPr/>
        </p:nvSpPr>
        <p:spPr>
          <a:xfrm>
            <a:off x="457200" y="5440680"/>
            <a:ext cx="11247120" cy="320040"/>
          </a:xfrm>
          <a:prstGeom prst="rect">
            <a:avLst/>
          </a:prstGeom>
          <a:noFill/>
        </p:spPr>
        <p:txBody>
          <a:bodyPr wrap="square" lIns="45720" rIns="45720" tIns="18288" bIns="18288" anchor="t">
            <a:spAutoFit/>
          </a:bodyPr>
          <a:lstStyle/>
          <a:p>
            <a:pPr algn="l"/>
            <a:r>
              <a:rPr sz="1400" b="0" i="0">
                <a:solidFill>
                  <a:srgbClr val="CADCFC"/>
                </a:solidFill>
                <a:latin typeface="Calibri"/>
              </a:rPr>
              <a:t>Dyson Institute of Engineering and Technology</a:t>
            </a:r>
          </a:p>
        </p:txBody>
      </p:sp>
      <p:sp>
        <p:nvSpPr>
          <p:cNvPr id="8" name="TextBox 7"/>
          <p:cNvSpPr txBox="1"/>
          <p:nvPr/>
        </p:nvSpPr>
        <p:spPr>
          <a:xfrm>
            <a:off x="457200" y="6492240"/>
            <a:ext cx="11247120" cy="274320"/>
          </a:xfrm>
          <a:prstGeom prst="rect">
            <a:avLst/>
          </a:prstGeom>
          <a:noFill/>
        </p:spPr>
        <p:txBody>
          <a:bodyPr wrap="square" lIns="45720" rIns="45720" tIns="18288" bIns="18288" anchor="t">
            <a:spAutoFit/>
          </a:bodyPr>
          <a:lstStyle/>
          <a:p>
            <a:pPr algn="l"/>
            <a:r>
              <a:rPr sz="1000" b="0" i="1">
                <a:solidFill>
                  <a:srgbClr val="CADCFC"/>
                </a:solidFill>
                <a:latin typeface="Calibri"/>
              </a:rPr>
              <a:t>Rebuilt portfolio — post-feedback revision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377440"/>
            <a:ext cx="11247120" cy="1097280"/>
          </a:xfrm>
          <a:prstGeom prst="rect">
            <a:avLst/>
          </a:prstGeom>
          <a:noFill/>
        </p:spPr>
        <p:txBody>
          <a:bodyPr wrap="square" lIns="45720" rIns="45720" tIns="18288" bIns="18288" anchor="t">
            <a:spAutoFit/>
          </a:bodyPr>
          <a:lstStyle/>
          <a:p>
            <a:pPr algn="l"/>
            <a:r>
              <a:rPr sz="2200" b="0" i="1">
                <a:solidFill>
                  <a:srgbClr val="CADCFC"/>
                </a:solidFill>
                <a:latin typeface="Calibri"/>
              </a:rPr>
              <a:t>Section 1</a:t>
            </a:r>
          </a:p>
        </p:txBody>
      </p:sp>
      <p:sp>
        <p:nvSpPr>
          <p:cNvPr id="3" name="TextBox 2"/>
          <p:cNvSpPr txBox="1"/>
          <p:nvPr/>
        </p:nvSpPr>
        <p:spPr>
          <a:xfrm>
            <a:off x="457200" y="2834640"/>
            <a:ext cx="11247120" cy="1371600"/>
          </a:xfrm>
          <a:prstGeom prst="rect">
            <a:avLst/>
          </a:prstGeom>
          <a:noFill/>
        </p:spPr>
        <p:txBody>
          <a:bodyPr wrap="square" lIns="45720" rIns="45720" tIns="18288" bIns="18288" anchor="t">
            <a:spAutoFit/>
          </a:bodyPr>
          <a:lstStyle/>
          <a:p>
            <a:pPr algn="l"/>
            <a:r>
              <a:rPr sz="5400" b="1" i="0">
                <a:solidFill>
                  <a:srgbClr val="FFFFFF"/>
                </a:solidFill>
                <a:latin typeface="Calibri"/>
              </a:rPr>
              <a:t>Project Ideation</a:t>
            </a:r>
          </a:p>
        </p:txBody>
      </p:sp>
      <p:sp>
        <p:nvSpPr>
          <p:cNvPr id="4" name="Rectangle 3"/>
          <p:cNvSpPr/>
          <p:nvPr/>
        </p:nvSpPr>
        <p:spPr>
          <a:xfrm>
            <a:off x="457200" y="4389120"/>
            <a:ext cx="1371600" cy="73152"/>
          </a:xfrm>
          <a:prstGeom prst="rect">
            <a:avLst/>
          </a:prstGeom>
          <a:solidFill>
            <a:srgbClr val="F59E0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 name="TextBox 4"/>
          <p:cNvSpPr txBox="1"/>
          <p:nvPr/>
        </p:nvSpPr>
        <p:spPr>
          <a:xfrm>
            <a:off x="457200" y="4572000"/>
            <a:ext cx="11247120" cy="457200"/>
          </a:xfrm>
          <a:prstGeom prst="rect">
            <a:avLst/>
          </a:prstGeom>
          <a:noFill/>
        </p:spPr>
        <p:txBody>
          <a:bodyPr wrap="square" lIns="45720" rIns="45720" tIns="18288" bIns="18288" anchor="t">
            <a:spAutoFit/>
          </a:bodyPr>
          <a:lstStyle/>
          <a:p>
            <a:pPr algn="l"/>
            <a:r>
              <a:rPr sz="2000" b="1" i="0">
                <a:solidFill>
                  <a:srgbClr val="F59E0B"/>
                </a:solidFill>
                <a:latin typeface="Calibri"/>
              </a:rPr>
              <a:t>20% of the mark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1.1  Main Objective &amp; Overview</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1 — Project Ideation</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57200" y="1463040"/>
            <a:ext cx="5029200" cy="4754880"/>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 name="TextBox 5"/>
          <p:cNvSpPr txBox="1"/>
          <p:nvPr/>
        </p:nvSpPr>
        <p:spPr>
          <a:xfrm>
            <a:off x="731520" y="1737360"/>
            <a:ext cx="4480560" cy="457200"/>
          </a:xfrm>
          <a:prstGeom prst="rect">
            <a:avLst/>
          </a:prstGeom>
          <a:noFill/>
        </p:spPr>
        <p:txBody>
          <a:bodyPr wrap="square" lIns="45720" rIns="45720" tIns="18288" bIns="18288" anchor="t">
            <a:spAutoFit/>
          </a:bodyPr>
          <a:lstStyle/>
          <a:p>
            <a:pPr algn="l"/>
            <a:r>
              <a:rPr sz="1100" b="1" i="0">
                <a:solidFill>
                  <a:srgbClr val="F59E0B"/>
                </a:solidFill>
                <a:latin typeface="Calibri"/>
              </a:rPr>
              <a:t>THE PROBLEM</a:t>
            </a:r>
          </a:p>
        </p:txBody>
      </p:sp>
      <p:sp>
        <p:nvSpPr>
          <p:cNvPr id="7" name="TextBox 6"/>
          <p:cNvSpPr txBox="1"/>
          <p:nvPr/>
        </p:nvSpPr>
        <p:spPr>
          <a:xfrm>
            <a:off x="731520" y="2148840"/>
            <a:ext cx="4480560" cy="2011680"/>
          </a:xfrm>
          <a:prstGeom prst="rect">
            <a:avLst/>
          </a:prstGeom>
          <a:noFill/>
        </p:spPr>
        <p:txBody>
          <a:bodyPr wrap="square" lIns="45720" rIns="45720" tIns="18288" bIns="18288" anchor="t">
            <a:spAutoFit/>
          </a:bodyPr>
          <a:lstStyle/>
          <a:p>
            <a:pPr algn="l"/>
            <a:r>
              <a:rPr sz="2600" b="1" i="0">
                <a:solidFill>
                  <a:srgbClr val="FFFFFF"/>
                </a:solidFill>
                <a:latin typeface="Calibri"/>
              </a:rPr>
              <a:t>People know how to write.</a:t>
            </a:r>
          </a:p>
          <a:p>
            <a:pPr algn="l"/>
            <a:r>
              <a:rPr sz="2600" b="1" i="0">
                <a:solidFill>
                  <a:srgbClr val="FFFFFF"/>
                </a:solidFill>
                <a:latin typeface="Calibri"/>
              </a:rPr>
              <a:t>People know how to read.</a:t>
            </a:r>
          </a:p>
          <a:p>
            <a:pPr algn="l"/>
            <a:r>
              <a:rPr sz="2600" b="1" i="0">
                <a:solidFill>
                  <a:srgbClr val="FFFFFF"/>
                </a:solidFill>
                <a:latin typeface="Calibri"/>
              </a:rPr>
              <a:t>But practising everyday</a:t>
            </a:r>
          </a:p>
          <a:p>
            <a:pPr algn="l"/>
            <a:r>
              <a:rPr sz="2600" b="1" i="0">
                <a:solidFill>
                  <a:srgbClr val="FFFFFF"/>
                </a:solidFill>
                <a:latin typeface="Calibri"/>
              </a:rPr>
              <a:t>speaking has no tool.</a:t>
            </a:r>
          </a:p>
        </p:txBody>
      </p:sp>
      <p:sp>
        <p:nvSpPr>
          <p:cNvPr id="8" name="TextBox 7"/>
          <p:cNvSpPr txBox="1"/>
          <p:nvPr/>
        </p:nvSpPr>
        <p:spPr>
          <a:xfrm>
            <a:off x="731520" y="4663440"/>
            <a:ext cx="4480560" cy="1463040"/>
          </a:xfrm>
          <a:prstGeom prst="rect">
            <a:avLst/>
          </a:prstGeom>
          <a:noFill/>
        </p:spPr>
        <p:txBody>
          <a:bodyPr wrap="square" lIns="45720" rIns="45720" tIns="18288" bIns="18288" anchor="t">
            <a:spAutoFit/>
          </a:bodyPr>
          <a:lstStyle/>
          <a:p>
            <a:pPr algn="l"/>
            <a:r>
              <a:rPr sz="1300" b="0" i="1">
                <a:solidFill>
                  <a:srgbClr val="CADCFC"/>
                </a:solidFill>
                <a:latin typeface="Calibri"/>
              </a:rPr>
              <a:t>SpeakFlow is built for the middle ground Orai, Yoodli and Poised all miss — the gap between "silent rehearsal" and "live presentation".</a:t>
            </a:r>
          </a:p>
        </p:txBody>
      </p:sp>
      <p:sp>
        <p:nvSpPr>
          <p:cNvPr id="9" name="TextBox 8"/>
          <p:cNvSpPr txBox="1"/>
          <p:nvPr/>
        </p:nvSpPr>
        <p:spPr>
          <a:xfrm>
            <a:off x="5852160" y="1463040"/>
            <a:ext cx="5852160" cy="457200"/>
          </a:xfrm>
          <a:prstGeom prst="rect">
            <a:avLst/>
          </a:prstGeom>
          <a:noFill/>
        </p:spPr>
        <p:txBody>
          <a:bodyPr wrap="square" lIns="45720" rIns="45720" tIns="18288" bIns="18288" anchor="t">
            <a:spAutoFit/>
          </a:bodyPr>
          <a:lstStyle/>
          <a:p>
            <a:pPr algn="l"/>
            <a:r>
              <a:rPr sz="1600" b="1" i="0">
                <a:solidFill>
                  <a:srgbClr val="1E2761"/>
                </a:solidFill>
                <a:latin typeface="Calibri"/>
              </a:rPr>
              <a:t>SpeakFlow, in one paragraph</a:t>
            </a:r>
          </a:p>
        </p:txBody>
      </p:sp>
      <p:sp>
        <p:nvSpPr>
          <p:cNvPr id="10" name="TextBox 9"/>
          <p:cNvSpPr txBox="1"/>
          <p:nvPr/>
        </p:nvSpPr>
        <p:spPr>
          <a:xfrm>
            <a:off x="5852160" y="1920240"/>
            <a:ext cx="5852160" cy="4206240"/>
          </a:xfrm>
          <a:prstGeom prst="rect">
            <a:avLst/>
          </a:prstGeom>
          <a:noFill/>
        </p:spPr>
        <p:txBody>
          <a:bodyPr wrap="square" lIns="45720" rIns="45720" tIns="18288" bIns="18288" anchor="t">
            <a:spAutoFit/>
          </a:bodyPr>
          <a:lstStyle/>
          <a:p>
            <a:pPr algn="l"/>
            <a:r>
              <a:rPr sz="1300" b="0" i="0">
                <a:solidFill>
                  <a:srgbClr val="1F2937"/>
                </a:solidFill>
                <a:latin typeface="Calibri"/>
              </a:rPr>
              <a:t>SpeakFlow is a web app that acts as a personal speaking coach. The user opens the Trainer page, gets a random prompt, and speaks about it for 30–60 seconds. The app listens in real time, transcribes the speech, and flags filler words like "um", "uh", and "like".</a:t>
            </a:r>
          </a:p>
          <a:p>
            <a:pPr algn="l"/>
            <a:r>
              <a:rPr sz="1300" b="0" i="0">
                <a:solidFill>
                  <a:srgbClr val="1F2937"/>
                </a:solidFill>
                <a:latin typeface="Calibri"/>
              </a:rPr>
              <a:t/>
            </a:r>
          </a:p>
          <a:p>
            <a:pPr algn="l"/>
            <a:r>
              <a:rPr sz="1300" b="0" i="0">
                <a:solidFill>
                  <a:srgbClr val="1F2937"/>
                </a:solidFill>
                <a:latin typeface="Calibri"/>
              </a:rPr>
              <a:t>When the drill ends, the transcript is sent to an AI service that scores clarity, pacing, and topic relevance and writes back short feedback. Every session is saved so the user can track improvement week to week.</a:t>
            </a:r>
          </a:p>
          <a:p>
            <a:pPr algn="l"/>
            <a:r>
              <a:rPr sz="1300" b="0" i="0">
                <a:solidFill>
                  <a:srgbClr val="1F2937"/>
                </a:solidFill>
                <a:latin typeface="Calibri"/>
              </a:rPr>
              <a:t/>
            </a:r>
          </a:p>
          <a:p>
            <a:pPr algn="l"/>
            <a:r>
              <a:rPr sz="1300" b="0" i="0">
                <a:solidFill>
                  <a:srgbClr val="1F2937"/>
                </a:solidFill>
                <a:latin typeface="Calibri"/>
              </a:rPr>
              <a:t>The scope is intentionally tight: three core use cases — Generate Prompt, Record Speech, Analyse Style. Everything else (teleprompter, micro-lessons, streaks) sits on top of those three.</a:t>
            </a:r>
          </a:p>
        </p:txBody>
      </p:sp>
      <p:sp>
        <p:nvSpPr>
          <p:cNvPr id="11" name="TextBox 10"/>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1. Project Ideation</a:t>
            </a:r>
          </a:p>
        </p:txBody>
      </p:sp>
      <p:sp>
        <p:nvSpPr>
          <p:cNvPr id="12" name="TextBox 11"/>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1.2  Similar System: Orai</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1 — Project Ideation</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57200" y="1463040"/>
            <a:ext cx="3657600" cy="4754880"/>
          </a:xfrm>
          <a:prstGeom prst="roundRect">
            <a:avLst>
              <a:gd name="adj" fmla="val 10000"/>
            </a:avLst>
          </a:prstGeom>
          <a:solidFill>
            <a:srgbClr val="F4F6FB"/>
          </a:solidFill>
          <a:ln w="190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 name="TextBox 5"/>
          <p:cNvSpPr txBox="1"/>
          <p:nvPr/>
        </p:nvSpPr>
        <p:spPr>
          <a:xfrm>
            <a:off x="640080" y="1691640"/>
            <a:ext cx="3291840" cy="365760"/>
          </a:xfrm>
          <a:prstGeom prst="rect">
            <a:avLst/>
          </a:prstGeom>
          <a:noFill/>
        </p:spPr>
        <p:txBody>
          <a:bodyPr wrap="square" lIns="45720" rIns="45720" tIns="18288" bIns="18288" anchor="t">
            <a:spAutoFit/>
          </a:bodyPr>
          <a:lstStyle/>
          <a:p>
            <a:pPr algn="l"/>
            <a:r>
              <a:rPr sz="1000" b="1" i="0">
                <a:solidFill>
                  <a:srgbClr val="6B7280"/>
                </a:solidFill>
                <a:latin typeface="Calibri"/>
              </a:rPr>
              <a:t>SYSTEM</a:t>
            </a:r>
          </a:p>
        </p:txBody>
      </p:sp>
      <p:sp>
        <p:nvSpPr>
          <p:cNvPr id="7" name="TextBox 6"/>
          <p:cNvSpPr txBox="1"/>
          <p:nvPr/>
        </p:nvSpPr>
        <p:spPr>
          <a:xfrm>
            <a:off x="640080" y="2057400"/>
            <a:ext cx="3291840" cy="731520"/>
          </a:xfrm>
          <a:prstGeom prst="rect">
            <a:avLst/>
          </a:prstGeom>
          <a:noFill/>
        </p:spPr>
        <p:txBody>
          <a:bodyPr wrap="square" lIns="45720" rIns="45720" tIns="18288" bIns="18288" anchor="t">
            <a:spAutoFit/>
          </a:bodyPr>
          <a:lstStyle/>
          <a:p>
            <a:pPr algn="l"/>
            <a:r>
              <a:rPr sz="3000" b="1" i="0">
                <a:solidFill>
                  <a:srgbClr val="1E2761"/>
                </a:solidFill>
                <a:latin typeface="Calibri"/>
              </a:rPr>
              <a:t>Orai</a:t>
            </a:r>
          </a:p>
        </p:txBody>
      </p:sp>
      <p:sp>
        <p:nvSpPr>
          <p:cNvPr id="8" name="TextBox 7"/>
          <p:cNvSpPr txBox="1"/>
          <p:nvPr/>
        </p:nvSpPr>
        <p:spPr>
          <a:xfrm>
            <a:off x="640080" y="2926080"/>
            <a:ext cx="3291840" cy="457200"/>
          </a:xfrm>
          <a:prstGeom prst="rect">
            <a:avLst/>
          </a:prstGeom>
          <a:noFill/>
        </p:spPr>
        <p:txBody>
          <a:bodyPr wrap="square" lIns="45720" rIns="45720" tIns="18288" bIns="18288" anchor="t">
            <a:spAutoFit/>
          </a:bodyPr>
          <a:lstStyle/>
          <a:p>
            <a:pPr algn="l"/>
            <a:r>
              <a:rPr sz="1000" b="1" i="0">
                <a:solidFill>
                  <a:srgbClr val="6B7280"/>
                </a:solidFill>
                <a:latin typeface="Calibri"/>
              </a:rPr>
              <a:t>PLATFORMS</a:t>
            </a:r>
          </a:p>
        </p:txBody>
      </p:sp>
      <p:sp>
        <p:nvSpPr>
          <p:cNvPr id="9" name="TextBox 8"/>
          <p:cNvSpPr txBox="1"/>
          <p:nvPr/>
        </p:nvSpPr>
        <p:spPr>
          <a:xfrm>
            <a:off x="640080" y="3246120"/>
            <a:ext cx="3291840" cy="457200"/>
          </a:xfrm>
          <a:prstGeom prst="rect">
            <a:avLst/>
          </a:prstGeom>
          <a:noFill/>
        </p:spPr>
        <p:txBody>
          <a:bodyPr wrap="square" lIns="45720" rIns="45720" tIns="18288" bIns="18288" anchor="t">
            <a:spAutoFit/>
          </a:bodyPr>
          <a:lstStyle/>
          <a:p>
            <a:pPr algn="l"/>
            <a:r>
              <a:rPr sz="1300" b="0" i="0">
                <a:solidFill>
                  <a:srgbClr val="1F2937"/>
                </a:solidFill>
                <a:latin typeface="Calibri"/>
              </a:rPr>
              <a:t>Android, iOS</a:t>
            </a:r>
          </a:p>
        </p:txBody>
      </p:sp>
      <p:sp>
        <p:nvSpPr>
          <p:cNvPr id="10" name="TextBox 9"/>
          <p:cNvSpPr txBox="1"/>
          <p:nvPr/>
        </p:nvSpPr>
        <p:spPr>
          <a:xfrm>
            <a:off x="640080" y="3794760"/>
            <a:ext cx="3291840" cy="365760"/>
          </a:xfrm>
          <a:prstGeom prst="rect">
            <a:avLst/>
          </a:prstGeom>
          <a:noFill/>
        </p:spPr>
        <p:txBody>
          <a:bodyPr wrap="square" lIns="45720" rIns="45720" tIns="18288" bIns="18288" anchor="t">
            <a:spAutoFit/>
          </a:bodyPr>
          <a:lstStyle/>
          <a:p>
            <a:pPr algn="l"/>
            <a:r>
              <a:rPr sz="1000" b="1" i="0">
                <a:solidFill>
                  <a:srgbClr val="6B7280"/>
                </a:solidFill>
                <a:latin typeface="Calibri"/>
              </a:rPr>
              <a:t>CATEGORY</a:t>
            </a:r>
          </a:p>
        </p:txBody>
      </p:sp>
      <p:sp>
        <p:nvSpPr>
          <p:cNvPr id="11" name="TextBox 10"/>
          <p:cNvSpPr txBox="1"/>
          <p:nvPr/>
        </p:nvSpPr>
        <p:spPr>
          <a:xfrm>
            <a:off x="640080" y="4114800"/>
            <a:ext cx="3291840" cy="457200"/>
          </a:xfrm>
          <a:prstGeom prst="rect">
            <a:avLst/>
          </a:prstGeom>
          <a:noFill/>
        </p:spPr>
        <p:txBody>
          <a:bodyPr wrap="square" lIns="45720" rIns="45720" tIns="18288" bIns="18288" anchor="t">
            <a:spAutoFit/>
          </a:bodyPr>
          <a:lstStyle/>
          <a:p>
            <a:pPr algn="l"/>
            <a:r>
              <a:rPr sz="1300" b="0" i="0">
                <a:solidFill>
                  <a:srgbClr val="1F2937"/>
                </a:solidFill>
                <a:latin typeface="Calibri"/>
              </a:rPr>
              <a:t>AI speaking coach</a:t>
            </a:r>
          </a:p>
        </p:txBody>
      </p:sp>
      <p:sp>
        <p:nvSpPr>
          <p:cNvPr id="12" name="TextBox 11"/>
          <p:cNvSpPr txBox="1"/>
          <p:nvPr/>
        </p:nvSpPr>
        <p:spPr>
          <a:xfrm>
            <a:off x="640080" y="4709160"/>
            <a:ext cx="3291840" cy="1463040"/>
          </a:xfrm>
          <a:prstGeom prst="rect">
            <a:avLst/>
          </a:prstGeom>
          <a:noFill/>
        </p:spPr>
        <p:txBody>
          <a:bodyPr wrap="square" lIns="45720" rIns="45720" tIns="18288" bIns="18288" anchor="t">
            <a:spAutoFit/>
          </a:bodyPr>
          <a:lstStyle/>
          <a:p>
            <a:pPr algn="l"/>
            <a:r>
              <a:rPr sz="1200" b="0" i="1">
                <a:solidFill>
                  <a:srgbClr val="1F2937"/>
                </a:solidFill>
                <a:latin typeface="Calibri"/>
              </a:rPr>
              <a:t>An AI-powered public speaking coach, mobile-only, with Duolingo-style daily lessons.</a:t>
            </a:r>
          </a:p>
        </p:txBody>
      </p:sp>
      <p:sp>
        <p:nvSpPr>
          <p:cNvPr id="13" name="Rounded Rectangle 12"/>
          <p:cNvSpPr/>
          <p:nvPr/>
        </p:nvSpPr>
        <p:spPr>
          <a:xfrm>
            <a:off x="4297680" y="1463040"/>
            <a:ext cx="3657600" cy="2286000"/>
          </a:xfrm>
          <a:prstGeom prst="roundRect">
            <a:avLst>
              <a:gd name="adj" fmla="val 10000"/>
            </a:avLst>
          </a:prstGeom>
          <a:solidFill>
            <a:srgbClr val="FFFF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4" name="TextBox 13"/>
          <p:cNvSpPr txBox="1"/>
          <p:nvPr/>
        </p:nvSpPr>
        <p:spPr>
          <a:xfrm>
            <a:off x="4480560" y="1600200"/>
            <a:ext cx="3291840" cy="365760"/>
          </a:xfrm>
          <a:prstGeom prst="rect">
            <a:avLst/>
          </a:prstGeom>
          <a:noFill/>
        </p:spPr>
        <p:txBody>
          <a:bodyPr wrap="square" lIns="45720" rIns="45720" tIns="18288" bIns="18288" anchor="t">
            <a:spAutoFit/>
          </a:bodyPr>
          <a:lstStyle/>
          <a:p>
            <a:pPr algn="l"/>
            <a:r>
              <a:rPr sz="1100" b="1" i="0">
                <a:solidFill>
                  <a:srgbClr val="1E40AF"/>
                </a:solidFill>
                <a:latin typeface="Calibri"/>
              </a:rPr>
              <a:t>MAJOR FEATURES</a:t>
            </a:r>
          </a:p>
        </p:txBody>
      </p:sp>
      <p:sp>
        <p:nvSpPr>
          <p:cNvPr id="15" name="TextBox 14"/>
          <p:cNvSpPr txBox="1"/>
          <p:nvPr/>
        </p:nvSpPr>
        <p:spPr>
          <a:xfrm>
            <a:off x="4480560" y="1965960"/>
            <a:ext cx="3291840" cy="1737360"/>
          </a:xfrm>
          <a:prstGeom prst="rect">
            <a:avLst/>
          </a:prstGeom>
          <a:noFill/>
        </p:spPr>
        <p:txBody>
          <a:bodyPr wrap="square" lIns="45720" rIns="45720" tIns="18288" bIns="18288" anchor="t">
            <a:spAutoFit/>
          </a:bodyPr>
          <a:lstStyle/>
          <a:p>
            <a:pPr algn="l"/>
            <a:r>
              <a:rPr sz="1200" b="0" i="0">
                <a:solidFill>
                  <a:srgbClr val="1F2937"/>
                </a:solidFill>
                <a:latin typeface="Calibri"/>
              </a:rPr>
              <a:t>• AI speech analysis: clarity, pace, tone, fillers, confidence</a:t>
            </a:r>
          </a:p>
          <a:p>
            <a:pPr algn="l"/>
            <a:r>
              <a:rPr sz="1200" b="0" i="0">
                <a:solidFill>
                  <a:srgbClr val="1F2937"/>
                </a:solidFill>
                <a:latin typeface="Calibri"/>
              </a:rPr>
              <a:t>• Guided practice tools — custom lessons &amp; improvement tracking</a:t>
            </a:r>
          </a:p>
        </p:txBody>
      </p:sp>
      <p:sp>
        <p:nvSpPr>
          <p:cNvPr id="16" name="Rounded Rectangle 15"/>
          <p:cNvSpPr/>
          <p:nvPr/>
        </p:nvSpPr>
        <p:spPr>
          <a:xfrm>
            <a:off x="8138159" y="1463040"/>
            <a:ext cx="3657600" cy="2286000"/>
          </a:xfrm>
          <a:prstGeom prst="roundRect">
            <a:avLst>
              <a:gd name="adj" fmla="val 10000"/>
            </a:avLst>
          </a:prstGeom>
          <a:solidFill>
            <a:srgbClr val="FFFFFF"/>
          </a:solidFill>
          <a:ln w="19050">
            <a:solidFill>
              <a:srgbClr val="065F46"/>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7" name="TextBox 16"/>
          <p:cNvSpPr txBox="1"/>
          <p:nvPr/>
        </p:nvSpPr>
        <p:spPr>
          <a:xfrm>
            <a:off x="8321039" y="1600200"/>
            <a:ext cx="3291840" cy="365760"/>
          </a:xfrm>
          <a:prstGeom prst="rect">
            <a:avLst/>
          </a:prstGeom>
          <a:noFill/>
        </p:spPr>
        <p:txBody>
          <a:bodyPr wrap="square" lIns="45720" rIns="45720" tIns="18288" bIns="18288" anchor="t">
            <a:spAutoFit/>
          </a:bodyPr>
          <a:lstStyle/>
          <a:p>
            <a:pPr algn="l"/>
            <a:r>
              <a:rPr sz="1100" b="1" i="0">
                <a:solidFill>
                  <a:srgbClr val="065F46"/>
                </a:solidFill>
                <a:latin typeface="Calibri"/>
              </a:rPr>
              <a:t>PROS</a:t>
            </a:r>
          </a:p>
        </p:txBody>
      </p:sp>
      <p:sp>
        <p:nvSpPr>
          <p:cNvPr id="18" name="TextBox 17"/>
          <p:cNvSpPr txBox="1"/>
          <p:nvPr/>
        </p:nvSpPr>
        <p:spPr>
          <a:xfrm>
            <a:off x="8321039" y="1965960"/>
            <a:ext cx="3291840" cy="1737360"/>
          </a:xfrm>
          <a:prstGeom prst="rect">
            <a:avLst/>
          </a:prstGeom>
          <a:noFill/>
        </p:spPr>
        <p:txBody>
          <a:bodyPr wrap="square" lIns="45720" rIns="45720" tIns="18288" bIns="18288" anchor="t">
            <a:spAutoFit/>
          </a:bodyPr>
          <a:lstStyle/>
          <a:p>
            <a:pPr algn="l"/>
            <a:r>
              <a:rPr sz="1200" b="0" i="0">
                <a:solidFill>
                  <a:srgbClr val="1F2937"/>
                </a:solidFill>
                <a:latin typeface="Calibri"/>
              </a:rPr>
              <a:t>• Clear actionable feedback (clarity %, filler counts)</a:t>
            </a:r>
          </a:p>
          <a:p>
            <a:pPr algn="l"/>
            <a:r>
              <a:rPr sz="1200" b="0" i="0">
                <a:solidFill>
                  <a:srgbClr val="1F2937"/>
                </a:solidFill>
                <a:latin typeface="Calibri"/>
              </a:rPr>
              <a:t>• Daily lesson format good for habit-building</a:t>
            </a:r>
          </a:p>
        </p:txBody>
      </p:sp>
      <p:sp>
        <p:nvSpPr>
          <p:cNvPr id="19" name="Rounded Rectangle 18"/>
          <p:cNvSpPr/>
          <p:nvPr/>
        </p:nvSpPr>
        <p:spPr>
          <a:xfrm>
            <a:off x="4297680" y="3931920"/>
            <a:ext cx="7498079" cy="2286000"/>
          </a:xfrm>
          <a:prstGeom prst="roundRect">
            <a:avLst>
              <a:gd name="adj" fmla="val 10000"/>
            </a:avLst>
          </a:prstGeom>
          <a:solidFill>
            <a:srgbClr val="FFFFFF"/>
          </a:solidFill>
          <a:ln w="19050">
            <a:solidFill>
              <a:srgbClr val="9F123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0" name="TextBox 19"/>
          <p:cNvSpPr txBox="1"/>
          <p:nvPr/>
        </p:nvSpPr>
        <p:spPr>
          <a:xfrm>
            <a:off x="4480560" y="4069080"/>
            <a:ext cx="7132319" cy="365760"/>
          </a:xfrm>
          <a:prstGeom prst="rect">
            <a:avLst/>
          </a:prstGeom>
          <a:noFill/>
        </p:spPr>
        <p:txBody>
          <a:bodyPr wrap="square" lIns="45720" rIns="45720" tIns="18288" bIns="18288" anchor="t">
            <a:spAutoFit/>
          </a:bodyPr>
          <a:lstStyle/>
          <a:p>
            <a:pPr algn="l"/>
            <a:r>
              <a:rPr sz="1100" b="1" i="0">
                <a:solidFill>
                  <a:srgbClr val="9F1239"/>
                </a:solidFill>
                <a:latin typeface="Calibri"/>
              </a:rPr>
              <a:t>CONS</a:t>
            </a:r>
          </a:p>
        </p:txBody>
      </p:sp>
      <p:sp>
        <p:nvSpPr>
          <p:cNvPr id="21" name="TextBox 20"/>
          <p:cNvSpPr txBox="1"/>
          <p:nvPr/>
        </p:nvSpPr>
        <p:spPr>
          <a:xfrm>
            <a:off x="4480560" y="4434840"/>
            <a:ext cx="7132319" cy="1737360"/>
          </a:xfrm>
          <a:prstGeom prst="rect">
            <a:avLst/>
          </a:prstGeom>
          <a:noFill/>
        </p:spPr>
        <p:txBody>
          <a:bodyPr wrap="square" lIns="45720" rIns="45720" tIns="18288" bIns="18288" anchor="t">
            <a:spAutoFit/>
          </a:bodyPr>
          <a:lstStyle/>
          <a:p>
            <a:pPr algn="l"/>
            <a:r>
              <a:rPr sz="1200" b="0" i="0">
                <a:solidFill>
                  <a:srgbClr val="1F2937"/>
                </a:solidFill>
                <a:latin typeface="Calibri"/>
              </a:rPr>
              <a:t>• UI is a bit childlike for professional users</a:t>
            </a:r>
          </a:p>
          <a:p>
            <a:pPr algn="l"/>
            <a:r>
              <a:rPr sz="1200" b="0" i="0">
                <a:solidFill>
                  <a:srgbClr val="1F2937"/>
                </a:solidFill>
                <a:latin typeface="Calibri"/>
              </a:rPr>
              <a:t>• Feedback can feel generic (pre-scripted lessons)</a:t>
            </a:r>
          </a:p>
          <a:p>
            <a:pPr algn="l"/>
            <a:r>
              <a:rPr sz="1200" b="0" i="0">
                <a:solidFill>
                  <a:srgbClr val="1F2937"/>
                </a:solidFill>
                <a:latin typeface="Calibri"/>
              </a:rPr>
              <a:t>• No teleprompter mode; mobile-only — no web version</a:t>
            </a:r>
          </a:p>
        </p:txBody>
      </p:sp>
      <p:sp>
        <p:nvSpPr>
          <p:cNvPr id="22" name="TextBox 21"/>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1. Project Ideation</a:t>
            </a:r>
          </a:p>
        </p:txBody>
      </p:sp>
      <p:sp>
        <p:nvSpPr>
          <p:cNvPr id="23" name="TextBox 22"/>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1.2  Similar System: Yoodli</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1 — Project Ideation</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57200" y="1463040"/>
            <a:ext cx="3657600" cy="4754880"/>
          </a:xfrm>
          <a:prstGeom prst="roundRect">
            <a:avLst>
              <a:gd name="adj" fmla="val 10000"/>
            </a:avLst>
          </a:prstGeom>
          <a:solidFill>
            <a:srgbClr val="F4F6FB"/>
          </a:solidFill>
          <a:ln w="190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 name="TextBox 5"/>
          <p:cNvSpPr txBox="1"/>
          <p:nvPr/>
        </p:nvSpPr>
        <p:spPr>
          <a:xfrm>
            <a:off x="640080" y="1691640"/>
            <a:ext cx="3291840" cy="365760"/>
          </a:xfrm>
          <a:prstGeom prst="rect">
            <a:avLst/>
          </a:prstGeom>
          <a:noFill/>
        </p:spPr>
        <p:txBody>
          <a:bodyPr wrap="square" lIns="45720" rIns="45720" tIns="18288" bIns="18288" anchor="t">
            <a:spAutoFit/>
          </a:bodyPr>
          <a:lstStyle/>
          <a:p>
            <a:pPr algn="l"/>
            <a:r>
              <a:rPr sz="1000" b="1" i="0">
                <a:solidFill>
                  <a:srgbClr val="6B7280"/>
                </a:solidFill>
                <a:latin typeface="Calibri"/>
              </a:rPr>
              <a:t>SYSTEM</a:t>
            </a:r>
          </a:p>
        </p:txBody>
      </p:sp>
      <p:sp>
        <p:nvSpPr>
          <p:cNvPr id="7" name="TextBox 6"/>
          <p:cNvSpPr txBox="1"/>
          <p:nvPr/>
        </p:nvSpPr>
        <p:spPr>
          <a:xfrm>
            <a:off x="640080" y="2057400"/>
            <a:ext cx="3291840" cy="731520"/>
          </a:xfrm>
          <a:prstGeom prst="rect">
            <a:avLst/>
          </a:prstGeom>
          <a:noFill/>
        </p:spPr>
        <p:txBody>
          <a:bodyPr wrap="square" lIns="45720" rIns="45720" tIns="18288" bIns="18288" anchor="t">
            <a:spAutoFit/>
          </a:bodyPr>
          <a:lstStyle/>
          <a:p>
            <a:pPr algn="l"/>
            <a:r>
              <a:rPr sz="3000" b="1" i="0">
                <a:solidFill>
                  <a:srgbClr val="1E2761"/>
                </a:solidFill>
                <a:latin typeface="Calibri"/>
              </a:rPr>
              <a:t>Yoodli</a:t>
            </a:r>
          </a:p>
        </p:txBody>
      </p:sp>
      <p:sp>
        <p:nvSpPr>
          <p:cNvPr id="8" name="TextBox 7"/>
          <p:cNvSpPr txBox="1"/>
          <p:nvPr/>
        </p:nvSpPr>
        <p:spPr>
          <a:xfrm>
            <a:off x="640080" y="2926080"/>
            <a:ext cx="3291840" cy="457200"/>
          </a:xfrm>
          <a:prstGeom prst="rect">
            <a:avLst/>
          </a:prstGeom>
          <a:noFill/>
        </p:spPr>
        <p:txBody>
          <a:bodyPr wrap="square" lIns="45720" rIns="45720" tIns="18288" bIns="18288" anchor="t">
            <a:spAutoFit/>
          </a:bodyPr>
          <a:lstStyle/>
          <a:p>
            <a:pPr algn="l"/>
            <a:r>
              <a:rPr sz="1000" b="1" i="0">
                <a:solidFill>
                  <a:srgbClr val="6B7280"/>
                </a:solidFill>
                <a:latin typeface="Calibri"/>
              </a:rPr>
              <a:t>PLATFORMS</a:t>
            </a:r>
          </a:p>
        </p:txBody>
      </p:sp>
      <p:sp>
        <p:nvSpPr>
          <p:cNvPr id="9" name="TextBox 8"/>
          <p:cNvSpPr txBox="1"/>
          <p:nvPr/>
        </p:nvSpPr>
        <p:spPr>
          <a:xfrm>
            <a:off x="640080" y="3246120"/>
            <a:ext cx="3291840" cy="457200"/>
          </a:xfrm>
          <a:prstGeom prst="rect">
            <a:avLst/>
          </a:prstGeom>
          <a:noFill/>
        </p:spPr>
        <p:txBody>
          <a:bodyPr wrap="square" lIns="45720" rIns="45720" tIns="18288" bIns="18288" anchor="t">
            <a:spAutoFit/>
          </a:bodyPr>
          <a:lstStyle/>
          <a:p>
            <a:pPr algn="l"/>
            <a:r>
              <a:rPr sz="1300" b="0" i="0">
                <a:solidFill>
                  <a:srgbClr val="1F2937"/>
                </a:solidFill>
                <a:latin typeface="Calibri"/>
              </a:rPr>
              <a:t>Web, Windows, macOS</a:t>
            </a:r>
          </a:p>
        </p:txBody>
      </p:sp>
      <p:sp>
        <p:nvSpPr>
          <p:cNvPr id="10" name="TextBox 9"/>
          <p:cNvSpPr txBox="1"/>
          <p:nvPr/>
        </p:nvSpPr>
        <p:spPr>
          <a:xfrm>
            <a:off x="640080" y="3794760"/>
            <a:ext cx="3291840" cy="365760"/>
          </a:xfrm>
          <a:prstGeom prst="rect">
            <a:avLst/>
          </a:prstGeom>
          <a:noFill/>
        </p:spPr>
        <p:txBody>
          <a:bodyPr wrap="square" lIns="45720" rIns="45720" tIns="18288" bIns="18288" anchor="t">
            <a:spAutoFit/>
          </a:bodyPr>
          <a:lstStyle/>
          <a:p>
            <a:pPr algn="l"/>
            <a:r>
              <a:rPr sz="1000" b="1" i="0">
                <a:solidFill>
                  <a:srgbClr val="6B7280"/>
                </a:solidFill>
                <a:latin typeface="Calibri"/>
              </a:rPr>
              <a:t>CATEGORY</a:t>
            </a:r>
          </a:p>
        </p:txBody>
      </p:sp>
      <p:sp>
        <p:nvSpPr>
          <p:cNvPr id="11" name="TextBox 10"/>
          <p:cNvSpPr txBox="1"/>
          <p:nvPr/>
        </p:nvSpPr>
        <p:spPr>
          <a:xfrm>
            <a:off x="640080" y="4114800"/>
            <a:ext cx="3291840" cy="457200"/>
          </a:xfrm>
          <a:prstGeom prst="rect">
            <a:avLst/>
          </a:prstGeom>
          <a:noFill/>
        </p:spPr>
        <p:txBody>
          <a:bodyPr wrap="square" lIns="45720" rIns="45720" tIns="18288" bIns="18288" anchor="t">
            <a:spAutoFit/>
          </a:bodyPr>
          <a:lstStyle/>
          <a:p>
            <a:pPr algn="l"/>
            <a:r>
              <a:rPr sz="1300" b="0" i="0">
                <a:solidFill>
                  <a:srgbClr val="1F2937"/>
                </a:solidFill>
                <a:latin typeface="Calibri"/>
              </a:rPr>
              <a:t>AI speaking coach</a:t>
            </a:r>
          </a:p>
        </p:txBody>
      </p:sp>
      <p:sp>
        <p:nvSpPr>
          <p:cNvPr id="12" name="TextBox 11"/>
          <p:cNvSpPr txBox="1"/>
          <p:nvPr/>
        </p:nvSpPr>
        <p:spPr>
          <a:xfrm>
            <a:off x="640080" y="4709160"/>
            <a:ext cx="3291840" cy="1463040"/>
          </a:xfrm>
          <a:prstGeom prst="rect">
            <a:avLst/>
          </a:prstGeom>
          <a:noFill/>
        </p:spPr>
        <p:txBody>
          <a:bodyPr wrap="square" lIns="45720" rIns="45720" tIns="18288" bIns="18288" anchor="t">
            <a:spAutoFit/>
          </a:bodyPr>
          <a:lstStyle/>
          <a:p>
            <a:pPr algn="l"/>
            <a:r>
              <a:rPr sz="1200" b="0" i="1">
                <a:solidFill>
                  <a:srgbClr val="1F2937"/>
                </a:solidFill>
                <a:latin typeface="Calibri"/>
              </a:rPr>
              <a:t>A private, real-time AI speech coach. Web + desktop. Aimed at professional / interview / pitch use.</a:t>
            </a:r>
          </a:p>
        </p:txBody>
      </p:sp>
      <p:sp>
        <p:nvSpPr>
          <p:cNvPr id="13" name="Rounded Rectangle 12"/>
          <p:cNvSpPr/>
          <p:nvPr/>
        </p:nvSpPr>
        <p:spPr>
          <a:xfrm>
            <a:off x="4297680" y="1463040"/>
            <a:ext cx="3657600" cy="2286000"/>
          </a:xfrm>
          <a:prstGeom prst="roundRect">
            <a:avLst>
              <a:gd name="adj" fmla="val 10000"/>
            </a:avLst>
          </a:prstGeom>
          <a:solidFill>
            <a:srgbClr val="FFFF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4" name="TextBox 13"/>
          <p:cNvSpPr txBox="1"/>
          <p:nvPr/>
        </p:nvSpPr>
        <p:spPr>
          <a:xfrm>
            <a:off x="4480560" y="1600200"/>
            <a:ext cx="3291840" cy="365760"/>
          </a:xfrm>
          <a:prstGeom prst="rect">
            <a:avLst/>
          </a:prstGeom>
          <a:noFill/>
        </p:spPr>
        <p:txBody>
          <a:bodyPr wrap="square" lIns="45720" rIns="45720" tIns="18288" bIns="18288" anchor="t">
            <a:spAutoFit/>
          </a:bodyPr>
          <a:lstStyle/>
          <a:p>
            <a:pPr algn="l"/>
            <a:r>
              <a:rPr sz="1100" b="1" i="0">
                <a:solidFill>
                  <a:srgbClr val="1E40AF"/>
                </a:solidFill>
                <a:latin typeface="Calibri"/>
              </a:rPr>
              <a:t>MAJOR FEATURES</a:t>
            </a:r>
          </a:p>
        </p:txBody>
      </p:sp>
      <p:sp>
        <p:nvSpPr>
          <p:cNvPr id="15" name="TextBox 14"/>
          <p:cNvSpPr txBox="1"/>
          <p:nvPr/>
        </p:nvSpPr>
        <p:spPr>
          <a:xfrm>
            <a:off x="4480560" y="1965960"/>
            <a:ext cx="3291840" cy="1737360"/>
          </a:xfrm>
          <a:prstGeom prst="rect">
            <a:avLst/>
          </a:prstGeom>
          <a:noFill/>
        </p:spPr>
        <p:txBody>
          <a:bodyPr wrap="square" lIns="45720" rIns="45720" tIns="18288" bIns="18288" anchor="t">
            <a:spAutoFit/>
          </a:bodyPr>
          <a:lstStyle/>
          <a:p>
            <a:pPr algn="l"/>
            <a:r>
              <a:rPr sz="1200" b="0" i="0">
                <a:solidFill>
                  <a:srgbClr val="1F2937"/>
                </a:solidFill>
                <a:latin typeface="Calibri"/>
              </a:rPr>
              <a:t>• Real-time coaching: clarity, pacing, fillers, structure</a:t>
            </a:r>
          </a:p>
          <a:p>
            <a:pPr algn="l"/>
            <a:r>
              <a:rPr sz="1200" b="0" i="0">
                <a:solidFill>
                  <a:srgbClr val="1F2937"/>
                </a:solidFill>
                <a:latin typeface="Calibri"/>
              </a:rPr>
              <a:t>• Conversation simulation — AI mock interviews &amp; presentations</a:t>
            </a:r>
          </a:p>
        </p:txBody>
      </p:sp>
      <p:sp>
        <p:nvSpPr>
          <p:cNvPr id="16" name="Rounded Rectangle 15"/>
          <p:cNvSpPr/>
          <p:nvPr/>
        </p:nvSpPr>
        <p:spPr>
          <a:xfrm>
            <a:off x="8138159" y="1463040"/>
            <a:ext cx="3657600" cy="2286000"/>
          </a:xfrm>
          <a:prstGeom prst="roundRect">
            <a:avLst>
              <a:gd name="adj" fmla="val 10000"/>
            </a:avLst>
          </a:prstGeom>
          <a:solidFill>
            <a:srgbClr val="FFFFFF"/>
          </a:solidFill>
          <a:ln w="19050">
            <a:solidFill>
              <a:srgbClr val="065F46"/>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7" name="TextBox 16"/>
          <p:cNvSpPr txBox="1"/>
          <p:nvPr/>
        </p:nvSpPr>
        <p:spPr>
          <a:xfrm>
            <a:off x="8321039" y="1600200"/>
            <a:ext cx="3291840" cy="365760"/>
          </a:xfrm>
          <a:prstGeom prst="rect">
            <a:avLst/>
          </a:prstGeom>
          <a:noFill/>
        </p:spPr>
        <p:txBody>
          <a:bodyPr wrap="square" lIns="45720" rIns="45720" tIns="18288" bIns="18288" anchor="t">
            <a:spAutoFit/>
          </a:bodyPr>
          <a:lstStyle/>
          <a:p>
            <a:pPr algn="l"/>
            <a:r>
              <a:rPr sz="1100" b="1" i="0">
                <a:solidFill>
                  <a:srgbClr val="065F46"/>
                </a:solidFill>
                <a:latin typeface="Calibri"/>
              </a:rPr>
              <a:t>PROS</a:t>
            </a:r>
          </a:p>
        </p:txBody>
      </p:sp>
      <p:sp>
        <p:nvSpPr>
          <p:cNvPr id="18" name="TextBox 17"/>
          <p:cNvSpPr txBox="1"/>
          <p:nvPr/>
        </p:nvSpPr>
        <p:spPr>
          <a:xfrm>
            <a:off x="8321039" y="1965960"/>
            <a:ext cx="3291840" cy="1737360"/>
          </a:xfrm>
          <a:prstGeom prst="rect">
            <a:avLst/>
          </a:prstGeom>
          <a:noFill/>
        </p:spPr>
        <p:txBody>
          <a:bodyPr wrap="square" lIns="45720" rIns="45720" tIns="18288" bIns="18288" anchor="t">
            <a:spAutoFit/>
          </a:bodyPr>
          <a:lstStyle/>
          <a:p>
            <a:pPr algn="l"/>
            <a:r>
              <a:rPr sz="1200" b="0" i="0">
                <a:solidFill>
                  <a:srgbClr val="1F2937"/>
                </a:solidFill>
                <a:latin typeface="Calibri"/>
              </a:rPr>
              <a:t>• Strong analytics with detailed breakdowns</a:t>
            </a:r>
          </a:p>
          <a:p>
            <a:pPr algn="l"/>
            <a:r>
              <a:rPr sz="1200" b="0" i="0">
                <a:solidFill>
                  <a:srgbClr val="1F2937"/>
                </a:solidFill>
                <a:latin typeface="Calibri"/>
              </a:rPr>
              <a:t>• Gamified exercises (Spin a Yarn, No Filler, Storyteller)</a:t>
            </a:r>
          </a:p>
        </p:txBody>
      </p:sp>
      <p:sp>
        <p:nvSpPr>
          <p:cNvPr id="19" name="Rounded Rectangle 18"/>
          <p:cNvSpPr/>
          <p:nvPr/>
        </p:nvSpPr>
        <p:spPr>
          <a:xfrm>
            <a:off x="4297680" y="3931920"/>
            <a:ext cx="7498079" cy="2286000"/>
          </a:xfrm>
          <a:prstGeom prst="roundRect">
            <a:avLst>
              <a:gd name="adj" fmla="val 10000"/>
            </a:avLst>
          </a:prstGeom>
          <a:solidFill>
            <a:srgbClr val="FFFFFF"/>
          </a:solidFill>
          <a:ln w="19050">
            <a:solidFill>
              <a:srgbClr val="9F123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0" name="TextBox 19"/>
          <p:cNvSpPr txBox="1"/>
          <p:nvPr/>
        </p:nvSpPr>
        <p:spPr>
          <a:xfrm>
            <a:off x="4480560" y="4069080"/>
            <a:ext cx="7132319" cy="365760"/>
          </a:xfrm>
          <a:prstGeom prst="rect">
            <a:avLst/>
          </a:prstGeom>
          <a:noFill/>
        </p:spPr>
        <p:txBody>
          <a:bodyPr wrap="square" lIns="45720" rIns="45720" tIns="18288" bIns="18288" anchor="t">
            <a:spAutoFit/>
          </a:bodyPr>
          <a:lstStyle/>
          <a:p>
            <a:pPr algn="l"/>
            <a:r>
              <a:rPr sz="1100" b="1" i="0">
                <a:solidFill>
                  <a:srgbClr val="9F1239"/>
                </a:solidFill>
                <a:latin typeface="Calibri"/>
              </a:rPr>
              <a:t>CONS</a:t>
            </a:r>
          </a:p>
        </p:txBody>
      </p:sp>
      <p:sp>
        <p:nvSpPr>
          <p:cNvPr id="21" name="TextBox 20"/>
          <p:cNvSpPr txBox="1"/>
          <p:nvPr/>
        </p:nvSpPr>
        <p:spPr>
          <a:xfrm>
            <a:off x="4480560" y="4434840"/>
            <a:ext cx="7132319" cy="1737360"/>
          </a:xfrm>
          <a:prstGeom prst="rect">
            <a:avLst/>
          </a:prstGeom>
          <a:noFill/>
        </p:spPr>
        <p:txBody>
          <a:bodyPr wrap="square" lIns="45720" rIns="45720" tIns="18288" bIns="18288" anchor="t">
            <a:spAutoFit/>
          </a:bodyPr>
          <a:lstStyle/>
          <a:p>
            <a:pPr algn="l"/>
            <a:r>
              <a:rPr sz="1200" b="0" i="0">
                <a:solidFill>
                  <a:srgbClr val="1F2937"/>
                </a:solidFill>
                <a:latin typeface="Calibri"/>
              </a:rPr>
              <a:t>• Corporate-focused pricing — aimed at enterprise, not individuals</a:t>
            </a:r>
          </a:p>
          <a:p>
            <a:pPr algn="l"/>
            <a:r>
              <a:rPr sz="1200" b="0" i="0">
                <a:solidFill>
                  <a:srgbClr val="1F2937"/>
                </a:solidFill>
                <a:latin typeface="Calibri"/>
              </a:rPr>
              <a:t>• Does not target everyday conversational speaking or cognitive fluency — only "performance" speaking</a:t>
            </a:r>
          </a:p>
        </p:txBody>
      </p:sp>
      <p:sp>
        <p:nvSpPr>
          <p:cNvPr id="22" name="TextBox 21"/>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1. Project Ideation</a:t>
            </a:r>
          </a:p>
        </p:txBody>
      </p:sp>
      <p:sp>
        <p:nvSpPr>
          <p:cNvPr id="23" name="TextBox 22"/>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1.2  Similar System: Poised</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1 — Project Ideation</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57200" y="1463040"/>
            <a:ext cx="3657600" cy="4754880"/>
          </a:xfrm>
          <a:prstGeom prst="roundRect">
            <a:avLst>
              <a:gd name="adj" fmla="val 10000"/>
            </a:avLst>
          </a:prstGeom>
          <a:solidFill>
            <a:srgbClr val="F4F6FB"/>
          </a:solidFill>
          <a:ln w="190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 name="TextBox 5"/>
          <p:cNvSpPr txBox="1"/>
          <p:nvPr/>
        </p:nvSpPr>
        <p:spPr>
          <a:xfrm>
            <a:off x="640080" y="1691640"/>
            <a:ext cx="3291840" cy="365760"/>
          </a:xfrm>
          <a:prstGeom prst="rect">
            <a:avLst/>
          </a:prstGeom>
          <a:noFill/>
        </p:spPr>
        <p:txBody>
          <a:bodyPr wrap="square" lIns="45720" rIns="45720" tIns="18288" bIns="18288" anchor="t">
            <a:spAutoFit/>
          </a:bodyPr>
          <a:lstStyle/>
          <a:p>
            <a:pPr algn="l"/>
            <a:r>
              <a:rPr sz="1000" b="1" i="0">
                <a:solidFill>
                  <a:srgbClr val="6B7280"/>
                </a:solidFill>
                <a:latin typeface="Calibri"/>
              </a:rPr>
              <a:t>SYSTEM</a:t>
            </a:r>
          </a:p>
        </p:txBody>
      </p:sp>
      <p:sp>
        <p:nvSpPr>
          <p:cNvPr id="7" name="TextBox 6"/>
          <p:cNvSpPr txBox="1"/>
          <p:nvPr/>
        </p:nvSpPr>
        <p:spPr>
          <a:xfrm>
            <a:off x="640080" y="2057400"/>
            <a:ext cx="3291840" cy="731520"/>
          </a:xfrm>
          <a:prstGeom prst="rect">
            <a:avLst/>
          </a:prstGeom>
          <a:noFill/>
        </p:spPr>
        <p:txBody>
          <a:bodyPr wrap="square" lIns="45720" rIns="45720" tIns="18288" bIns="18288" anchor="t">
            <a:spAutoFit/>
          </a:bodyPr>
          <a:lstStyle/>
          <a:p>
            <a:pPr algn="l"/>
            <a:r>
              <a:rPr sz="3000" b="1" i="0">
                <a:solidFill>
                  <a:srgbClr val="1E2761"/>
                </a:solidFill>
                <a:latin typeface="Calibri"/>
              </a:rPr>
              <a:t>Poised</a:t>
            </a:r>
          </a:p>
        </p:txBody>
      </p:sp>
      <p:sp>
        <p:nvSpPr>
          <p:cNvPr id="8" name="TextBox 7"/>
          <p:cNvSpPr txBox="1"/>
          <p:nvPr/>
        </p:nvSpPr>
        <p:spPr>
          <a:xfrm>
            <a:off x="640080" y="2926080"/>
            <a:ext cx="3291840" cy="457200"/>
          </a:xfrm>
          <a:prstGeom prst="rect">
            <a:avLst/>
          </a:prstGeom>
          <a:noFill/>
        </p:spPr>
        <p:txBody>
          <a:bodyPr wrap="square" lIns="45720" rIns="45720" tIns="18288" bIns="18288" anchor="t">
            <a:spAutoFit/>
          </a:bodyPr>
          <a:lstStyle/>
          <a:p>
            <a:pPr algn="l"/>
            <a:r>
              <a:rPr sz="1000" b="1" i="0">
                <a:solidFill>
                  <a:srgbClr val="6B7280"/>
                </a:solidFill>
                <a:latin typeface="Calibri"/>
              </a:rPr>
              <a:t>PLATFORMS</a:t>
            </a:r>
          </a:p>
        </p:txBody>
      </p:sp>
      <p:sp>
        <p:nvSpPr>
          <p:cNvPr id="9" name="TextBox 8"/>
          <p:cNvSpPr txBox="1"/>
          <p:nvPr/>
        </p:nvSpPr>
        <p:spPr>
          <a:xfrm>
            <a:off x="640080" y="3246120"/>
            <a:ext cx="3291840" cy="457200"/>
          </a:xfrm>
          <a:prstGeom prst="rect">
            <a:avLst/>
          </a:prstGeom>
          <a:noFill/>
        </p:spPr>
        <p:txBody>
          <a:bodyPr wrap="square" lIns="45720" rIns="45720" tIns="18288" bIns="18288" anchor="t">
            <a:spAutoFit/>
          </a:bodyPr>
          <a:lstStyle/>
          <a:p>
            <a:pPr algn="l"/>
            <a:r>
              <a:rPr sz="1300" b="0" i="0">
                <a:solidFill>
                  <a:srgbClr val="1F2937"/>
                </a:solidFill>
                <a:latin typeface="Calibri"/>
              </a:rPr>
              <a:t>Windows, macOS</a:t>
            </a:r>
          </a:p>
        </p:txBody>
      </p:sp>
      <p:sp>
        <p:nvSpPr>
          <p:cNvPr id="10" name="TextBox 9"/>
          <p:cNvSpPr txBox="1"/>
          <p:nvPr/>
        </p:nvSpPr>
        <p:spPr>
          <a:xfrm>
            <a:off x="640080" y="3794760"/>
            <a:ext cx="3291840" cy="365760"/>
          </a:xfrm>
          <a:prstGeom prst="rect">
            <a:avLst/>
          </a:prstGeom>
          <a:noFill/>
        </p:spPr>
        <p:txBody>
          <a:bodyPr wrap="square" lIns="45720" rIns="45720" tIns="18288" bIns="18288" anchor="t">
            <a:spAutoFit/>
          </a:bodyPr>
          <a:lstStyle/>
          <a:p>
            <a:pPr algn="l"/>
            <a:r>
              <a:rPr sz="1000" b="1" i="0">
                <a:solidFill>
                  <a:srgbClr val="6B7280"/>
                </a:solidFill>
                <a:latin typeface="Calibri"/>
              </a:rPr>
              <a:t>CATEGORY</a:t>
            </a:r>
          </a:p>
        </p:txBody>
      </p:sp>
      <p:sp>
        <p:nvSpPr>
          <p:cNvPr id="11" name="TextBox 10"/>
          <p:cNvSpPr txBox="1"/>
          <p:nvPr/>
        </p:nvSpPr>
        <p:spPr>
          <a:xfrm>
            <a:off x="640080" y="4114800"/>
            <a:ext cx="3291840" cy="457200"/>
          </a:xfrm>
          <a:prstGeom prst="rect">
            <a:avLst/>
          </a:prstGeom>
          <a:noFill/>
        </p:spPr>
        <p:txBody>
          <a:bodyPr wrap="square" lIns="45720" rIns="45720" tIns="18288" bIns="18288" anchor="t">
            <a:spAutoFit/>
          </a:bodyPr>
          <a:lstStyle/>
          <a:p>
            <a:pPr algn="l"/>
            <a:r>
              <a:rPr sz="1300" b="0" i="0">
                <a:solidFill>
                  <a:srgbClr val="1F2937"/>
                </a:solidFill>
                <a:latin typeface="Calibri"/>
              </a:rPr>
              <a:t>AI speaking coach</a:t>
            </a:r>
          </a:p>
        </p:txBody>
      </p:sp>
      <p:sp>
        <p:nvSpPr>
          <p:cNvPr id="12" name="TextBox 11"/>
          <p:cNvSpPr txBox="1"/>
          <p:nvPr/>
        </p:nvSpPr>
        <p:spPr>
          <a:xfrm>
            <a:off x="640080" y="4709160"/>
            <a:ext cx="3291840" cy="1463040"/>
          </a:xfrm>
          <a:prstGeom prst="rect">
            <a:avLst/>
          </a:prstGeom>
          <a:noFill/>
        </p:spPr>
        <p:txBody>
          <a:bodyPr wrap="square" lIns="45720" rIns="45720" tIns="18288" bIns="18288" anchor="t">
            <a:spAutoFit/>
          </a:bodyPr>
          <a:lstStyle/>
          <a:p>
            <a:pPr algn="l"/>
            <a:r>
              <a:rPr sz="1200" b="0" i="1">
                <a:solidFill>
                  <a:srgbClr val="1F2937"/>
                </a:solidFill>
                <a:latin typeface="Calibri"/>
              </a:rPr>
              <a:t>An AI assistant that listens during live meetings (Zoom / Meet / Teams), not a practice tool.</a:t>
            </a:r>
          </a:p>
        </p:txBody>
      </p:sp>
      <p:sp>
        <p:nvSpPr>
          <p:cNvPr id="13" name="Rounded Rectangle 12"/>
          <p:cNvSpPr/>
          <p:nvPr/>
        </p:nvSpPr>
        <p:spPr>
          <a:xfrm>
            <a:off x="4297680" y="1463040"/>
            <a:ext cx="3657600" cy="2286000"/>
          </a:xfrm>
          <a:prstGeom prst="roundRect">
            <a:avLst>
              <a:gd name="adj" fmla="val 10000"/>
            </a:avLst>
          </a:prstGeom>
          <a:solidFill>
            <a:srgbClr val="FFFF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4" name="TextBox 13"/>
          <p:cNvSpPr txBox="1"/>
          <p:nvPr/>
        </p:nvSpPr>
        <p:spPr>
          <a:xfrm>
            <a:off x="4480560" y="1600200"/>
            <a:ext cx="3291840" cy="365760"/>
          </a:xfrm>
          <a:prstGeom prst="rect">
            <a:avLst/>
          </a:prstGeom>
          <a:noFill/>
        </p:spPr>
        <p:txBody>
          <a:bodyPr wrap="square" lIns="45720" rIns="45720" tIns="18288" bIns="18288" anchor="t">
            <a:spAutoFit/>
          </a:bodyPr>
          <a:lstStyle/>
          <a:p>
            <a:pPr algn="l"/>
            <a:r>
              <a:rPr sz="1100" b="1" i="0">
                <a:solidFill>
                  <a:srgbClr val="1E40AF"/>
                </a:solidFill>
                <a:latin typeface="Calibri"/>
              </a:rPr>
              <a:t>MAJOR FEATURES</a:t>
            </a:r>
          </a:p>
        </p:txBody>
      </p:sp>
      <p:sp>
        <p:nvSpPr>
          <p:cNvPr id="15" name="TextBox 14"/>
          <p:cNvSpPr txBox="1"/>
          <p:nvPr/>
        </p:nvSpPr>
        <p:spPr>
          <a:xfrm>
            <a:off x="4480560" y="1965960"/>
            <a:ext cx="3291840" cy="1737360"/>
          </a:xfrm>
          <a:prstGeom prst="rect">
            <a:avLst/>
          </a:prstGeom>
          <a:noFill/>
        </p:spPr>
        <p:txBody>
          <a:bodyPr wrap="square" lIns="45720" rIns="45720" tIns="18288" bIns="18288" anchor="t">
            <a:spAutoFit/>
          </a:bodyPr>
          <a:lstStyle/>
          <a:p>
            <a:pPr algn="l"/>
            <a:r>
              <a:rPr sz="1200" b="0" i="0">
                <a:solidFill>
                  <a:srgbClr val="1F2937"/>
                </a:solidFill>
                <a:latin typeface="Calibri"/>
              </a:rPr>
              <a:t>• Live meeting analysis: tone, clarity, pacing, energy</a:t>
            </a:r>
          </a:p>
          <a:p>
            <a:pPr algn="l"/>
            <a:r>
              <a:rPr sz="1200" b="0" i="0">
                <a:solidFill>
                  <a:srgbClr val="1F2937"/>
                </a:solidFill>
                <a:latin typeface="Calibri"/>
              </a:rPr>
              <a:t>• Post-meeting reports: strengths, weaknesses, suggestions</a:t>
            </a:r>
          </a:p>
        </p:txBody>
      </p:sp>
      <p:sp>
        <p:nvSpPr>
          <p:cNvPr id="16" name="Rounded Rectangle 15"/>
          <p:cNvSpPr/>
          <p:nvPr/>
        </p:nvSpPr>
        <p:spPr>
          <a:xfrm>
            <a:off x="8138159" y="1463040"/>
            <a:ext cx="3657600" cy="2286000"/>
          </a:xfrm>
          <a:prstGeom prst="roundRect">
            <a:avLst>
              <a:gd name="adj" fmla="val 10000"/>
            </a:avLst>
          </a:prstGeom>
          <a:solidFill>
            <a:srgbClr val="FFFFFF"/>
          </a:solidFill>
          <a:ln w="19050">
            <a:solidFill>
              <a:srgbClr val="065F46"/>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7" name="TextBox 16"/>
          <p:cNvSpPr txBox="1"/>
          <p:nvPr/>
        </p:nvSpPr>
        <p:spPr>
          <a:xfrm>
            <a:off x="8321039" y="1600200"/>
            <a:ext cx="3291840" cy="365760"/>
          </a:xfrm>
          <a:prstGeom prst="rect">
            <a:avLst/>
          </a:prstGeom>
          <a:noFill/>
        </p:spPr>
        <p:txBody>
          <a:bodyPr wrap="square" lIns="45720" rIns="45720" tIns="18288" bIns="18288" anchor="t">
            <a:spAutoFit/>
          </a:bodyPr>
          <a:lstStyle/>
          <a:p>
            <a:pPr algn="l"/>
            <a:r>
              <a:rPr sz="1100" b="1" i="0">
                <a:solidFill>
                  <a:srgbClr val="065F46"/>
                </a:solidFill>
                <a:latin typeface="Calibri"/>
              </a:rPr>
              <a:t>PROS</a:t>
            </a:r>
          </a:p>
        </p:txBody>
      </p:sp>
      <p:sp>
        <p:nvSpPr>
          <p:cNvPr id="18" name="TextBox 17"/>
          <p:cNvSpPr txBox="1"/>
          <p:nvPr/>
        </p:nvSpPr>
        <p:spPr>
          <a:xfrm>
            <a:off x="8321039" y="1965960"/>
            <a:ext cx="3291840" cy="1737360"/>
          </a:xfrm>
          <a:prstGeom prst="rect">
            <a:avLst/>
          </a:prstGeom>
          <a:noFill/>
        </p:spPr>
        <p:txBody>
          <a:bodyPr wrap="square" lIns="45720" rIns="45720" tIns="18288" bIns="18288" anchor="t">
            <a:spAutoFit/>
          </a:bodyPr>
          <a:lstStyle/>
          <a:p>
            <a:pPr algn="l"/>
            <a:r>
              <a:rPr sz="1200" b="0" i="0">
                <a:solidFill>
                  <a:srgbClr val="1F2937"/>
                </a:solidFill>
                <a:latin typeface="Calibri"/>
              </a:rPr>
              <a:t>• Great for real meeting communication improvement</a:t>
            </a:r>
          </a:p>
          <a:p>
            <a:pPr algn="l"/>
            <a:r>
              <a:rPr sz="1200" b="0" i="0">
                <a:solidFill>
                  <a:srgbClr val="1F2937"/>
                </a:solidFill>
                <a:latin typeface="Calibri"/>
              </a:rPr>
              <a:t>• Seamless integration with Zoom / Meet / Teams</a:t>
            </a:r>
          </a:p>
          <a:p>
            <a:pPr algn="l"/>
            <a:r>
              <a:rPr sz="1200" b="0" i="0">
                <a:solidFill>
                  <a:srgbClr val="1F2937"/>
                </a:solidFill>
                <a:latin typeface="Calibri"/>
              </a:rPr>
              <a:t>• Clean UI + real-time feedback</a:t>
            </a:r>
          </a:p>
        </p:txBody>
      </p:sp>
      <p:sp>
        <p:nvSpPr>
          <p:cNvPr id="19" name="Rounded Rectangle 18"/>
          <p:cNvSpPr/>
          <p:nvPr/>
        </p:nvSpPr>
        <p:spPr>
          <a:xfrm>
            <a:off x="4297680" y="3931920"/>
            <a:ext cx="7498079" cy="2286000"/>
          </a:xfrm>
          <a:prstGeom prst="roundRect">
            <a:avLst>
              <a:gd name="adj" fmla="val 10000"/>
            </a:avLst>
          </a:prstGeom>
          <a:solidFill>
            <a:srgbClr val="FFFFFF"/>
          </a:solidFill>
          <a:ln w="19050">
            <a:solidFill>
              <a:srgbClr val="9F123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0" name="TextBox 19"/>
          <p:cNvSpPr txBox="1"/>
          <p:nvPr/>
        </p:nvSpPr>
        <p:spPr>
          <a:xfrm>
            <a:off x="4480560" y="4069080"/>
            <a:ext cx="7132319" cy="365760"/>
          </a:xfrm>
          <a:prstGeom prst="rect">
            <a:avLst/>
          </a:prstGeom>
          <a:noFill/>
        </p:spPr>
        <p:txBody>
          <a:bodyPr wrap="square" lIns="45720" rIns="45720" tIns="18288" bIns="18288" anchor="t">
            <a:spAutoFit/>
          </a:bodyPr>
          <a:lstStyle/>
          <a:p>
            <a:pPr algn="l"/>
            <a:r>
              <a:rPr sz="1100" b="1" i="0">
                <a:solidFill>
                  <a:srgbClr val="9F1239"/>
                </a:solidFill>
                <a:latin typeface="Calibri"/>
              </a:rPr>
              <a:t>CONS</a:t>
            </a:r>
          </a:p>
        </p:txBody>
      </p:sp>
      <p:sp>
        <p:nvSpPr>
          <p:cNvPr id="21" name="TextBox 20"/>
          <p:cNvSpPr txBox="1"/>
          <p:nvPr/>
        </p:nvSpPr>
        <p:spPr>
          <a:xfrm>
            <a:off x="4480560" y="4434840"/>
            <a:ext cx="7132319" cy="1737360"/>
          </a:xfrm>
          <a:prstGeom prst="rect">
            <a:avLst/>
          </a:prstGeom>
          <a:noFill/>
        </p:spPr>
        <p:txBody>
          <a:bodyPr wrap="square" lIns="45720" rIns="45720" tIns="18288" bIns="18288" anchor="t">
            <a:spAutoFit/>
          </a:bodyPr>
          <a:lstStyle/>
          <a:p>
            <a:pPr algn="l"/>
            <a:r>
              <a:rPr sz="1200" b="0" i="0">
                <a:solidFill>
                  <a:srgbClr val="1F2937"/>
                </a:solidFill>
                <a:latin typeface="Calibri"/>
              </a:rPr>
              <a:t>• Requires continuous video/mic access — privacy concerns</a:t>
            </a:r>
          </a:p>
          <a:p>
            <a:pPr algn="l"/>
            <a:r>
              <a:rPr sz="1200" b="0" i="0">
                <a:solidFill>
                  <a:srgbClr val="1F2937"/>
                </a:solidFill>
                <a:latin typeface="Calibri"/>
              </a:rPr>
              <a:t>• Advanced features behind a paid tier</a:t>
            </a:r>
          </a:p>
          <a:p>
            <a:pPr algn="l"/>
            <a:r>
              <a:rPr sz="1200" b="0" i="0">
                <a:solidFill>
                  <a:srgbClr val="1F2937"/>
                </a:solidFill>
                <a:latin typeface="Calibri"/>
              </a:rPr>
              <a:t>• Only works during meetings, not as a standalone practice tool; no mobile</a:t>
            </a:r>
          </a:p>
        </p:txBody>
      </p:sp>
      <p:sp>
        <p:nvSpPr>
          <p:cNvPr id="22" name="TextBox 21"/>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1. Project Ideation</a:t>
            </a:r>
          </a:p>
        </p:txBody>
      </p:sp>
      <p:sp>
        <p:nvSpPr>
          <p:cNvPr id="23" name="TextBox 22"/>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1.3  Feature Matrix</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1 — Project Ideation</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463040"/>
            <a:ext cx="4114800" cy="411480"/>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200" b="1">
                <a:solidFill>
                  <a:srgbClr val="FFFFFF"/>
                </a:solidFill>
                <a:latin typeface="Calibri"/>
              </a:rPr>
              <a:t>Feature</a:t>
            </a:r>
          </a:p>
        </p:txBody>
      </p:sp>
      <p:sp>
        <p:nvSpPr>
          <p:cNvPr id="6" name="Rectangle 5"/>
          <p:cNvSpPr/>
          <p:nvPr/>
        </p:nvSpPr>
        <p:spPr>
          <a:xfrm>
            <a:off x="4572000" y="1463040"/>
            <a:ext cx="1691640" cy="411480"/>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200" b="1">
                <a:solidFill>
                  <a:srgbClr val="FFFFFF"/>
                </a:solidFill>
                <a:latin typeface="Calibri"/>
              </a:rPr>
              <a:t>Orai</a:t>
            </a:r>
          </a:p>
        </p:txBody>
      </p:sp>
      <p:sp>
        <p:nvSpPr>
          <p:cNvPr id="7" name="Rectangle 6"/>
          <p:cNvSpPr/>
          <p:nvPr/>
        </p:nvSpPr>
        <p:spPr>
          <a:xfrm>
            <a:off x="6263640" y="1463040"/>
            <a:ext cx="1691640" cy="411480"/>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200" b="1">
                <a:solidFill>
                  <a:srgbClr val="FFFFFF"/>
                </a:solidFill>
                <a:latin typeface="Calibri"/>
              </a:rPr>
              <a:t>Yoodli</a:t>
            </a:r>
          </a:p>
        </p:txBody>
      </p:sp>
      <p:sp>
        <p:nvSpPr>
          <p:cNvPr id="8" name="Rectangle 7"/>
          <p:cNvSpPr/>
          <p:nvPr/>
        </p:nvSpPr>
        <p:spPr>
          <a:xfrm>
            <a:off x="7955279" y="1463040"/>
            <a:ext cx="1691640" cy="411480"/>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200" b="1">
                <a:solidFill>
                  <a:srgbClr val="FFFFFF"/>
                </a:solidFill>
                <a:latin typeface="Calibri"/>
              </a:rPr>
              <a:t>Poised</a:t>
            </a:r>
          </a:p>
        </p:txBody>
      </p:sp>
      <p:sp>
        <p:nvSpPr>
          <p:cNvPr id="9" name="Rectangle 8"/>
          <p:cNvSpPr/>
          <p:nvPr/>
        </p:nvSpPr>
        <p:spPr>
          <a:xfrm>
            <a:off x="9646919" y="1463040"/>
            <a:ext cx="2011680" cy="411480"/>
          </a:xfrm>
          <a:prstGeom prst="rect">
            <a:avLst/>
          </a:prstGeom>
          <a:solidFill>
            <a:srgbClr val="F59E0B"/>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200" b="1">
                <a:solidFill>
                  <a:srgbClr val="FFFFFF"/>
                </a:solidFill>
                <a:latin typeface="Calibri"/>
              </a:rPr>
              <a:t>SpeakFlow</a:t>
            </a:r>
          </a:p>
        </p:txBody>
      </p:sp>
      <p:sp>
        <p:nvSpPr>
          <p:cNvPr id="10" name="Rectangle 9"/>
          <p:cNvSpPr/>
          <p:nvPr/>
        </p:nvSpPr>
        <p:spPr>
          <a:xfrm>
            <a:off x="457200" y="1874520"/>
            <a:ext cx="4114800" cy="41148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1100" b="0">
                <a:solidFill>
                  <a:srgbClr val="1F2937"/>
                </a:solidFill>
                <a:latin typeface="Calibri"/>
              </a:rPr>
              <a:t>Random topic speaking trainer</a:t>
            </a:r>
          </a:p>
        </p:txBody>
      </p:sp>
      <p:sp>
        <p:nvSpPr>
          <p:cNvPr id="11" name="Rectangle 10"/>
          <p:cNvSpPr/>
          <p:nvPr/>
        </p:nvSpPr>
        <p:spPr>
          <a:xfrm>
            <a:off x="4572000" y="1874520"/>
            <a:ext cx="1691640" cy="41148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065F46"/>
                </a:solidFill>
                <a:latin typeface="Calibri"/>
              </a:rPr>
              <a:t>Yes</a:t>
            </a:r>
          </a:p>
        </p:txBody>
      </p:sp>
      <p:sp>
        <p:nvSpPr>
          <p:cNvPr id="12" name="Rectangle 11"/>
          <p:cNvSpPr/>
          <p:nvPr/>
        </p:nvSpPr>
        <p:spPr>
          <a:xfrm>
            <a:off x="6263640" y="1874520"/>
            <a:ext cx="1691640" cy="41148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065F46"/>
                </a:solidFill>
                <a:latin typeface="Calibri"/>
              </a:rPr>
              <a:t>Yes</a:t>
            </a:r>
          </a:p>
        </p:txBody>
      </p:sp>
      <p:sp>
        <p:nvSpPr>
          <p:cNvPr id="13" name="Rectangle 12"/>
          <p:cNvSpPr/>
          <p:nvPr/>
        </p:nvSpPr>
        <p:spPr>
          <a:xfrm>
            <a:off x="7955279" y="1874520"/>
            <a:ext cx="1691640" cy="41148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065F46"/>
                </a:solidFill>
                <a:latin typeface="Calibri"/>
              </a:rPr>
              <a:t>Yes</a:t>
            </a:r>
          </a:p>
        </p:txBody>
      </p:sp>
      <p:sp>
        <p:nvSpPr>
          <p:cNvPr id="14" name="Rectangle 13"/>
          <p:cNvSpPr/>
          <p:nvPr/>
        </p:nvSpPr>
        <p:spPr>
          <a:xfrm>
            <a:off x="9646919" y="1874520"/>
            <a:ext cx="2011680" cy="41148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065F46"/>
                </a:solidFill>
                <a:latin typeface="Calibri"/>
              </a:rPr>
              <a:t>Yes</a:t>
            </a:r>
          </a:p>
        </p:txBody>
      </p:sp>
      <p:sp>
        <p:nvSpPr>
          <p:cNvPr id="15" name="Rectangle 14"/>
          <p:cNvSpPr/>
          <p:nvPr/>
        </p:nvSpPr>
        <p:spPr>
          <a:xfrm>
            <a:off x="457200" y="2286000"/>
            <a:ext cx="4114800" cy="41148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1100" b="0">
                <a:solidFill>
                  <a:srgbClr val="1F2937"/>
                </a:solidFill>
                <a:latin typeface="Calibri"/>
              </a:rPr>
              <a:t>Teleprompter mode</a:t>
            </a:r>
          </a:p>
        </p:txBody>
      </p:sp>
      <p:sp>
        <p:nvSpPr>
          <p:cNvPr id="16" name="Rectangle 15"/>
          <p:cNvSpPr/>
          <p:nvPr/>
        </p:nvSpPr>
        <p:spPr>
          <a:xfrm>
            <a:off x="4572000" y="2286000"/>
            <a:ext cx="1691640" cy="41148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9F1239"/>
                </a:solidFill>
                <a:latin typeface="Calibri"/>
              </a:rPr>
              <a:t>No</a:t>
            </a:r>
          </a:p>
        </p:txBody>
      </p:sp>
      <p:sp>
        <p:nvSpPr>
          <p:cNvPr id="17" name="Rectangle 16"/>
          <p:cNvSpPr/>
          <p:nvPr/>
        </p:nvSpPr>
        <p:spPr>
          <a:xfrm>
            <a:off x="6263640" y="2286000"/>
            <a:ext cx="1691640" cy="41148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9F1239"/>
                </a:solidFill>
                <a:latin typeface="Calibri"/>
              </a:rPr>
              <a:t>No</a:t>
            </a:r>
          </a:p>
        </p:txBody>
      </p:sp>
      <p:sp>
        <p:nvSpPr>
          <p:cNvPr id="18" name="Rectangle 17"/>
          <p:cNvSpPr/>
          <p:nvPr/>
        </p:nvSpPr>
        <p:spPr>
          <a:xfrm>
            <a:off x="7955279" y="2286000"/>
            <a:ext cx="1691640" cy="41148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065F46"/>
                </a:solidFill>
                <a:latin typeface="Calibri"/>
              </a:rPr>
              <a:t>Yes</a:t>
            </a:r>
          </a:p>
        </p:txBody>
      </p:sp>
      <p:sp>
        <p:nvSpPr>
          <p:cNvPr id="19" name="Rectangle 18"/>
          <p:cNvSpPr/>
          <p:nvPr/>
        </p:nvSpPr>
        <p:spPr>
          <a:xfrm>
            <a:off x="9646919" y="2286000"/>
            <a:ext cx="2011680" cy="41148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065F46"/>
                </a:solidFill>
                <a:latin typeface="Calibri"/>
              </a:rPr>
              <a:t>Yes</a:t>
            </a:r>
          </a:p>
        </p:txBody>
      </p:sp>
      <p:sp>
        <p:nvSpPr>
          <p:cNvPr id="20" name="Rectangle 19"/>
          <p:cNvSpPr/>
          <p:nvPr/>
        </p:nvSpPr>
        <p:spPr>
          <a:xfrm>
            <a:off x="457200" y="2697480"/>
            <a:ext cx="4114800" cy="41148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1100" b="0">
                <a:solidFill>
                  <a:srgbClr val="1F2937"/>
                </a:solidFill>
                <a:latin typeface="Calibri"/>
              </a:rPr>
              <a:t>Speaking style analyser</a:t>
            </a:r>
          </a:p>
        </p:txBody>
      </p:sp>
      <p:sp>
        <p:nvSpPr>
          <p:cNvPr id="21" name="Rectangle 20"/>
          <p:cNvSpPr/>
          <p:nvPr/>
        </p:nvSpPr>
        <p:spPr>
          <a:xfrm>
            <a:off x="4572000" y="2697480"/>
            <a:ext cx="1691640" cy="41148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065F46"/>
                </a:solidFill>
                <a:latin typeface="Calibri"/>
              </a:rPr>
              <a:t>Yes</a:t>
            </a:r>
          </a:p>
        </p:txBody>
      </p:sp>
      <p:sp>
        <p:nvSpPr>
          <p:cNvPr id="22" name="Rectangle 21"/>
          <p:cNvSpPr/>
          <p:nvPr/>
        </p:nvSpPr>
        <p:spPr>
          <a:xfrm>
            <a:off x="6263640" y="2697480"/>
            <a:ext cx="1691640" cy="41148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065F46"/>
                </a:solidFill>
                <a:latin typeface="Calibri"/>
              </a:rPr>
              <a:t>Yes</a:t>
            </a:r>
          </a:p>
        </p:txBody>
      </p:sp>
      <p:sp>
        <p:nvSpPr>
          <p:cNvPr id="23" name="Rectangle 22"/>
          <p:cNvSpPr/>
          <p:nvPr/>
        </p:nvSpPr>
        <p:spPr>
          <a:xfrm>
            <a:off x="7955279" y="2697480"/>
            <a:ext cx="1691640" cy="41148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065F46"/>
                </a:solidFill>
                <a:latin typeface="Calibri"/>
              </a:rPr>
              <a:t>Yes</a:t>
            </a:r>
          </a:p>
        </p:txBody>
      </p:sp>
      <p:sp>
        <p:nvSpPr>
          <p:cNvPr id="24" name="Rectangle 23"/>
          <p:cNvSpPr/>
          <p:nvPr/>
        </p:nvSpPr>
        <p:spPr>
          <a:xfrm>
            <a:off x="9646919" y="2697480"/>
            <a:ext cx="2011680" cy="41148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065F46"/>
                </a:solidFill>
                <a:latin typeface="Calibri"/>
              </a:rPr>
              <a:t>Yes</a:t>
            </a:r>
          </a:p>
        </p:txBody>
      </p:sp>
      <p:sp>
        <p:nvSpPr>
          <p:cNvPr id="25" name="Rectangle 24"/>
          <p:cNvSpPr/>
          <p:nvPr/>
        </p:nvSpPr>
        <p:spPr>
          <a:xfrm>
            <a:off x="457200" y="3108960"/>
            <a:ext cx="4114800" cy="41148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1100" b="0">
                <a:solidFill>
                  <a:srgbClr val="1F2937"/>
                </a:solidFill>
                <a:latin typeface="Calibri"/>
              </a:rPr>
              <a:t>Guided lessons</a:t>
            </a:r>
          </a:p>
        </p:txBody>
      </p:sp>
      <p:sp>
        <p:nvSpPr>
          <p:cNvPr id="26" name="Rectangle 25"/>
          <p:cNvSpPr/>
          <p:nvPr/>
        </p:nvSpPr>
        <p:spPr>
          <a:xfrm>
            <a:off x="4572000" y="3108960"/>
            <a:ext cx="1691640" cy="41148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065F46"/>
                </a:solidFill>
                <a:latin typeface="Calibri"/>
              </a:rPr>
              <a:t>Yes</a:t>
            </a:r>
          </a:p>
        </p:txBody>
      </p:sp>
      <p:sp>
        <p:nvSpPr>
          <p:cNvPr id="27" name="Rectangle 26"/>
          <p:cNvSpPr/>
          <p:nvPr/>
        </p:nvSpPr>
        <p:spPr>
          <a:xfrm>
            <a:off x="6263640" y="3108960"/>
            <a:ext cx="1691640" cy="41148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065F46"/>
                </a:solidFill>
                <a:latin typeface="Calibri"/>
              </a:rPr>
              <a:t>Yes</a:t>
            </a:r>
          </a:p>
        </p:txBody>
      </p:sp>
      <p:sp>
        <p:nvSpPr>
          <p:cNvPr id="28" name="Rectangle 27"/>
          <p:cNvSpPr/>
          <p:nvPr/>
        </p:nvSpPr>
        <p:spPr>
          <a:xfrm>
            <a:off x="7955279" y="3108960"/>
            <a:ext cx="1691640" cy="41148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9F1239"/>
                </a:solidFill>
                <a:latin typeface="Calibri"/>
              </a:rPr>
              <a:t>No</a:t>
            </a:r>
          </a:p>
        </p:txBody>
      </p:sp>
      <p:sp>
        <p:nvSpPr>
          <p:cNvPr id="29" name="Rectangle 28"/>
          <p:cNvSpPr/>
          <p:nvPr/>
        </p:nvSpPr>
        <p:spPr>
          <a:xfrm>
            <a:off x="9646919" y="3108960"/>
            <a:ext cx="2011680" cy="41148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065F46"/>
                </a:solidFill>
                <a:latin typeface="Calibri"/>
              </a:rPr>
              <a:t>Yes</a:t>
            </a:r>
          </a:p>
        </p:txBody>
      </p:sp>
      <p:sp>
        <p:nvSpPr>
          <p:cNvPr id="30" name="Rectangle 29"/>
          <p:cNvSpPr/>
          <p:nvPr/>
        </p:nvSpPr>
        <p:spPr>
          <a:xfrm>
            <a:off x="457200" y="3520440"/>
            <a:ext cx="4114800" cy="41148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1100" b="0">
                <a:solidFill>
                  <a:srgbClr val="1F2937"/>
                </a:solidFill>
                <a:latin typeface="Calibri"/>
              </a:rPr>
              <a:t>Progress tracker</a:t>
            </a:r>
          </a:p>
        </p:txBody>
      </p:sp>
      <p:sp>
        <p:nvSpPr>
          <p:cNvPr id="31" name="Rectangle 30"/>
          <p:cNvSpPr/>
          <p:nvPr/>
        </p:nvSpPr>
        <p:spPr>
          <a:xfrm>
            <a:off x="4572000" y="3520440"/>
            <a:ext cx="1691640" cy="41148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065F46"/>
                </a:solidFill>
                <a:latin typeface="Calibri"/>
              </a:rPr>
              <a:t>Yes</a:t>
            </a:r>
          </a:p>
        </p:txBody>
      </p:sp>
      <p:sp>
        <p:nvSpPr>
          <p:cNvPr id="32" name="Rectangle 31"/>
          <p:cNvSpPr/>
          <p:nvPr/>
        </p:nvSpPr>
        <p:spPr>
          <a:xfrm>
            <a:off x="6263640" y="3520440"/>
            <a:ext cx="1691640" cy="41148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9F1239"/>
                </a:solidFill>
                <a:latin typeface="Calibri"/>
              </a:rPr>
              <a:t>No</a:t>
            </a:r>
          </a:p>
        </p:txBody>
      </p:sp>
      <p:sp>
        <p:nvSpPr>
          <p:cNvPr id="33" name="Rectangle 32"/>
          <p:cNvSpPr/>
          <p:nvPr/>
        </p:nvSpPr>
        <p:spPr>
          <a:xfrm>
            <a:off x="7955279" y="3520440"/>
            <a:ext cx="1691640" cy="41148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9F1239"/>
                </a:solidFill>
                <a:latin typeface="Calibri"/>
              </a:rPr>
              <a:t>No</a:t>
            </a:r>
          </a:p>
        </p:txBody>
      </p:sp>
      <p:sp>
        <p:nvSpPr>
          <p:cNvPr id="34" name="Rectangle 33"/>
          <p:cNvSpPr/>
          <p:nvPr/>
        </p:nvSpPr>
        <p:spPr>
          <a:xfrm>
            <a:off x="9646919" y="3520440"/>
            <a:ext cx="2011680" cy="41148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065F46"/>
                </a:solidFill>
                <a:latin typeface="Calibri"/>
              </a:rPr>
              <a:t>Yes</a:t>
            </a:r>
          </a:p>
        </p:txBody>
      </p:sp>
      <p:sp>
        <p:nvSpPr>
          <p:cNvPr id="35" name="Rectangle 34"/>
          <p:cNvSpPr/>
          <p:nvPr/>
        </p:nvSpPr>
        <p:spPr>
          <a:xfrm>
            <a:off x="457200" y="3931920"/>
            <a:ext cx="4114800" cy="41148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1100" b="0">
                <a:solidFill>
                  <a:srgbClr val="1F2937"/>
                </a:solidFill>
                <a:latin typeface="Calibri"/>
              </a:rPr>
              <a:t>Filler word detection</a:t>
            </a:r>
          </a:p>
        </p:txBody>
      </p:sp>
      <p:sp>
        <p:nvSpPr>
          <p:cNvPr id="36" name="Rectangle 35"/>
          <p:cNvSpPr/>
          <p:nvPr/>
        </p:nvSpPr>
        <p:spPr>
          <a:xfrm>
            <a:off x="4572000" y="3931920"/>
            <a:ext cx="1691640" cy="41148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065F46"/>
                </a:solidFill>
                <a:latin typeface="Calibri"/>
              </a:rPr>
              <a:t>Yes</a:t>
            </a:r>
          </a:p>
        </p:txBody>
      </p:sp>
      <p:sp>
        <p:nvSpPr>
          <p:cNvPr id="37" name="Rectangle 36"/>
          <p:cNvSpPr/>
          <p:nvPr/>
        </p:nvSpPr>
        <p:spPr>
          <a:xfrm>
            <a:off x="6263640" y="3931920"/>
            <a:ext cx="1691640" cy="41148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065F46"/>
                </a:solidFill>
                <a:latin typeface="Calibri"/>
              </a:rPr>
              <a:t>Yes</a:t>
            </a:r>
          </a:p>
        </p:txBody>
      </p:sp>
      <p:sp>
        <p:nvSpPr>
          <p:cNvPr id="38" name="Rectangle 37"/>
          <p:cNvSpPr/>
          <p:nvPr/>
        </p:nvSpPr>
        <p:spPr>
          <a:xfrm>
            <a:off x="7955279" y="3931920"/>
            <a:ext cx="1691640" cy="41148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065F46"/>
                </a:solidFill>
                <a:latin typeface="Calibri"/>
              </a:rPr>
              <a:t>Yes</a:t>
            </a:r>
          </a:p>
        </p:txBody>
      </p:sp>
      <p:sp>
        <p:nvSpPr>
          <p:cNvPr id="39" name="Rectangle 38"/>
          <p:cNvSpPr/>
          <p:nvPr/>
        </p:nvSpPr>
        <p:spPr>
          <a:xfrm>
            <a:off x="9646919" y="3931920"/>
            <a:ext cx="2011680" cy="41148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065F46"/>
                </a:solidFill>
                <a:latin typeface="Calibri"/>
              </a:rPr>
              <a:t>Yes</a:t>
            </a:r>
          </a:p>
        </p:txBody>
      </p:sp>
      <p:sp>
        <p:nvSpPr>
          <p:cNvPr id="40" name="Rectangle 39"/>
          <p:cNvSpPr/>
          <p:nvPr/>
        </p:nvSpPr>
        <p:spPr>
          <a:xfrm>
            <a:off x="457200" y="4343400"/>
            <a:ext cx="4114800" cy="41148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1100" b="0">
                <a:solidFill>
                  <a:srgbClr val="1F2937"/>
                </a:solidFill>
                <a:latin typeface="Calibri"/>
              </a:rPr>
              <a:t>Gamified</a:t>
            </a:r>
          </a:p>
        </p:txBody>
      </p:sp>
      <p:sp>
        <p:nvSpPr>
          <p:cNvPr id="41" name="Rectangle 40"/>
          <p:cNvSpPr/>
          <p:nvPr/>
        </p:nvSpPr>
        <p:spPr>
          <a:xfrm>
            <a:off x="4572000" y="4343400"/>
            <a:ext cx="1691640" cy="41148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065F46"/>
                </a:solidFill>
                <a:latin typeface="Calibri"/>
              </a:rPr>
              <a:t>Yes</a:t>
            </a:r>
          </a:p>
        </p:txBody>
      </p:sp>
      <p:sp>
        <p:nvSpPr>
          <p:cNvPr id="42" name="Rectangle 41"/>
          <p:cNvSpPr/>
          <p:nvPr/>
        </p:nvSpPr>
        <p:spPr>
          <a:xfrm>
            <a:off x="6263640" y="4343400"/>
            <a:ext cx="1691640" cy="41148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065F46"/>
                </a:solidFill>
                <a:latin typeface="Calibri"/>
              </a:rPr>
              <a:t>Yes</a:t>
            </a:r>
          </a:p>
        </p:txBody>
      </p:sp>
      <p:sp>
        <p:nvSpPr>
          <p:cNvPr id="43" name="Rectangle 42"/>
          <p:cNvSpPr/>
          <p:nvPr/>
        </p:nvSpPr>
        <p:spPr>
          <a:xfrm>
            <a:off x="7955279" y="4343400"/>
            <a:ext cx="1691640" cy="41148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9F1239"/>
                </a:solidFill>
                <a:latin typeface="Calibri"/>
              </a:rPr>
              <a:t>No</a:t>
            </a:r>
          </a:p>
        </p:txBody>
      </p:sp>
      <p:sp>
        <p:nvSpPr>
          <p:cNvPr id="44" name="Rectangle 43"/>
          <p:cNvSpPr/>
          <p:nvPr/>
        </p:nvSpPr>
        <p:spPr>
          <a:xfrm>
            <a:off x="9646919" y="4343400"/>
            <a:ext cx="2011680" cy="41148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065F46"/>
                </a:solidFill>
                <a:latin typeface="Calibri"/>
              </a:rPr>
              <a:t>Yes</a:t>
            </a:r>
          </a:p>
        </p:txBody>
      </p:sp>
      <p:sp>
        <p:nvSpPr>
          <p:cNvPr id="45" name="Rectangle 44"/>
          <p:cNvSpPr/>
          <p:nvPr/>
        </p:nvSpPr>
        <p:spPr>
          <a:xfrm>
            <a:off x="457200" y="4754880"/>
            <a:ext cx="4114800" cy="41148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1100" b="0">
                <a:solidFill>
                  <a:srgbClr val="1F2937"/>
                </a:solidFill>
                <a:latin typeface="Calibri"/>
              </a:rPr>
              <a:t>Forced-restart on fillers</a:t>
            </a:r>
          </a:p>
        </p:txBody>
      </p:sp>
      <p:sp>
        <p:nvSpPr>
          <p:cNvPr id="46" name="Rectangle 45"/>
          <p:cNvSpPr/>
          <p:nvPr/>
        </p:nvSpPr>
        <p:spPr>
          <a:xfrm>
            <a:off x="4572000" y="4754880"/>
            <a:ext cx="1691640" cy="41148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9F1239"/>
                </a:solidFill>
                <a:latin typeface="Calibri"/>
              </a:rPr>
              <a:t>No</a:t>
            </a:r>
          </a:p>
        </p:txBody>
      </p:sp>
      <p:sp>
        <p:nvSpPr>
          <p:cNvPr id="47" name="Rectangle 46"/>
          <p:cNvSpPr/>
          <p:nvPr/>
        </p:nvSpPr>
        <p:spPr>
          <a:xfrm>
            <a:off x="6263640" y="4754880"/>
            <a:ext cx="1691640" cy="41148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9F1239"/>
                </a:solidFill>
                <a:latin typeface="Calibri"/>
              </a:rPr>
              <a:t>No</a:t>
            </a:r>
          </a:p>
        </p:txBody>
      </p:sp>
      <p:sp>
        <p:nvSpPr>
          <p:cNvPr id="48" name="Rectangle 47"/>
          <p:cNvSpPr/>
          <p:nvPr/>
        </p:nvSpPr>
        <p:spPr>
          <a:xfrm>
            <a:off x="7955279" y="4754880"/>
            <a:ext cx="1691640" cy="41148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9F1239"/>
                </a:solidFill>
                <a:latin typeface="Calibri"/>
              </a:rPr>
              <a:t>No</a:t>
            </a:r>
          </a:p>
        </p:txBody>
      </p:sp>
      <p:sp>
        <p:nvSpPr>
          <p:cNvPr id="49" name="Rectangle 48"/>
          <p:cNvSpPr/>
          <p:nvPr/>
        </p:nvSpPr>
        <p:spPr>
          <a:xfrm>
            <a:off x="9646919" y="4754880"/>
            <a:ext cx="2011680" cy="41148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065F46"/>
                </a:solidFill>
                <a:latin typeface="Calibri"/>
              </a:rPr>
              <a:t>Yes</a:t>
            </a:r>
          </a:p>
        </p:txBody>
      </p:sp>
      <p:sp>
        <p:nvSpPr>
          <p:cNvPr id="50" name="Rectangle 49"/>
          <p:cNvSpPr/>
          <p:nvPr/>
        </p:nvSpPr>
        <p:spPr>
          <a:xfrm>
            <a:off x="457200" y="5166360"/>
            <a:ext cx="4114800" cy="41148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1100" b="0">
                <a:solidFill>
                  <a:srgbClr val="1F2937"/>
                </a:solidFill>
                <a:latin typeface="Calibri"/>
              </a:rPr>
              <a:t>Everyday conversational practice</a:t>
            </a:r>
          </a:p>
        </p:txBody>
      </p:sp>
      <p:sp>
        <p:nvSpPr>
          <p:cNvPr id="51" name="Rectangle 50"/>
          <p:cNvSpPr/>
          <p:nvPr/>
        </p:nvSpPr>
        <p:spPr>
          <a:xfrm>
            <a:off x="4572000" y="5166360"/>
            <a:ext cx="1691640" cy="41148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9F1239"/>
                </a:solidFill>
                <a:latin typeface="Calibri"/>
              </a:rPr>
              <a:t>No</a:t>
            </a:r>
          </a:p>
        </p:txBody>
      </p:sp>
      <p:sp>
        <p:nvSpPr>
          <p:cNvPr id="52" name="Rectangle 51"/>
          <p:cNvSpPr/>
          <p:nvPr/>
        </p:nvSpPr>
        <p:spPr>
          <a:xfrm>
            <a:off x="6263640" y="5166360"/>
            <a:ext cx="1691640" cy="41148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9F1239"/>
                </a:solidFill>
                <a:latin typeface="Calibri"/>
              </a:rPr>
              <a:t>No</a:t>
            </a:r>
          </a:p>
        </p:txBody>
      </p:sp>
      <p:sp>
        <p:nvSpPr>
          <p:cNvPr id="53" name="Rectangle 52"/>
          <p:cNvSpPr/>
          <p:nvPr/>
        </p:nvSpPr>
        <p:spPr>
          <a:xfrm>
            <a:off x="7955279" y="5166360"/>
            <a:ext cx="1691640" cy="41148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9F1239"/>
                </a:solidFill>
                <a:latin typeface="Calibri"/>
              </a:rPr>
              <a:t>No</a:t>
            </a:r>
          </a:p>
        </p:txBody>
      </p:sp>
      <p:sp>
        <p:nvSpPr>
          <p:cNvPr id="54" name="Rectangle 53"/>
          <p:cNvSpPr/>
          <p:nvPr/>
        </p:nvSpPr>
        <p:spPr>
          <a:xfrm>
            <a:off x="9646919" y="5166360"/>
            <a:ext cx="2011680" cy="41148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065F46"/>
                </a:solidFill>
                <a:latin typeface="Calibri"/>
              </a:rPr>
              <a:t>Yes</a:t>
            </a:r>
          </a:p>
        </p:txBody>
      </p:sp>
      <p:sp>
        <p:nvSpPr>
          <p:cNvPr id="55" name="Rectangle 54"/>
          <p:cNvSpPr/>
          <p:nvPr/>
        </p:nvSpPr>
        <p:spPr>
          <a:xfrm>
            <a:off x="457200" y="5577840"/>
            <a:ext cx="4114800" cy="41148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l"/>
            <a:r>
              <a:rPr sz="1100" b="0">
                <a:solidFill>
                  <a:srgbClr val="1F2937"/>
                </a:solidFill>
                <a:latin typeface="Calibri"/>
              </a:rPr>
              <a:t>Free to use</a:t>
            </a:r>
          </a:p>
        </p:txBody>
      </p:sp>
      <p:sp>
        <p:nvSpPr>
          <p:cNvPr id="56" name="Rectangle 55"/>
          <p:cNvSpPr/>
          <p:nvPr/>
        </p:nvSpPr>
        <p:spPr>
          <a:xfrm>
            <a:off x="4572000" y="5577840"/>
            <a:ext cx="1691640" cy="41148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9F1239"/>
                </a:solidFill>
                <a:latin typeface="Calibri"/>
              </a:rPr>
              <a:t>No</a:t>
            </a:r>
          </a:p>
        </p:txBody>
      </p:sp>
      <p:sp>
        <p:nvSpPr>
          <p:cNvPr id="57" name="Rectangle 56"/>
          <p:cNvSpPr/>
          <p:nvPr/>
        </p:nvSpPr>
        <p:spPr>
          <a:xfrm>
            <a:off x="6263640" y="5577840"/>
            <a:ext cx="1691640" cy="41148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92400E"/>
                </a:solidFill>
                <a:latin typeface="Calibri"/>
              </a:rPr>
              <a:t>Partial</a:t>
            </a:r>
          </a:p>
        </p:txBody>
      </p:sp>
      <p:sp>
        <p:nvSpPr>
          <p:cNvPr id="58" name="Rectangle 57"/>
          <p:cNvSpPr/>
          <p:nvPr/>
        </p:nvSpPr>
        <p:spPr>
          <a:xfrm>
            <a:off x="7955279" y="5577840"/>
            <a:ext cx="1691640" cy="41148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0">
                <a:solidFill>
                  <a:srgbClr val="9F1239"/>
                </a:solidFill>
                <a:latin typeface="Calibri"/>
              </a:rPr>
              <a:t>No</a:t>
            </a:r>
          </a:p>
        </p:txBody>
      </p:sp>
      <p:sp>
        <p:nvSpPr>
          <p:cNvPr id="59" name="Rectangle 58"/>
          <p:cNvSpPr/>
          <p:nvPr/>
        </p:nvSpPr>
        <p:spPr>
          <a:xfrm>
            <a:off x="9646919" y="5577840"/>
            <a:ext cx="2011680" cy="41148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065F46"/>
                </a:solidFill>
                <a:latin typeface="Calibri"/>
              </a:rPr>
              <a:t>Yes</a:t>
            </a:r>
          </a:p>
        </p:txBody>
      </p:sp>
      <p:sp>
        <p:nvSpPr>
          <p:cNvPr id="60" name="TextBox 59"/>
          <p:cNvSpPr txBox="1"/>
          <p:nvPr/>
        </p:nvSpPr>
        <p:spPr>
          <a:xfrm>
            <a:off x="457200" y="6217920"/>
            <a:ext cx="11201400" cy="365760"/>
          </a:xfrm>
          <a:prstGeom prst="rect">
            <a:avLst/>
          </a:prstGeom>
          <a:noFill/>
        </p:spPr>
        <p:txBody>
          <a:bodyPr wrap="square" lIns="45720" rIns="45720" tIns="18288" bIns="18288" anchor="t">
            <a:spAutoFit/>
          </a:bodyPr>
          <a:lstStyle/>
          <a:p>
            <a:pPr algn="l"/>
            <a:r>
              <a:rPr sz="1100" b="0" i="1">
                <a:solidFill>
                  <a:srgbClr val="6B7280"/>
                </a:solidFill>
                <a:latin typeface="Calibri"/>
              </a:rPr>
              <a:t>The last three rows are where SpeakFlow differentiates — no competitor forces a restart on fillers or targets everyday conversation.</a:t>
            </a:r>
          </a:p>
        </p:txBody>
      </p:sp>
      <p:sp>
        <p:nvSpPr>
          <p:cNvPr id="61" name="TextBox 60"/>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1. Project Ideation</a:t>
            </a:r>
          </a:p>
        </p:txBody>
      </p:sp>
      <p:sp>
        <p:nvSpPr>
          <p:cNvPr id="62" name="TextBox 61"/>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377440"/>
            <a:ext cx="11247120" cy="1097280"/>
          </a:xfrm>
          <a:prstGeom prst="rect">
            <a:avLst/>
          </a:prstGeom>
          <a:noFill/>
        </p:spPr>
        <p:txBody>
          <a:bodyPr wrap="square" lIns="45720" rIns="45720" tIns="18288" bIns="18288" anchor="t">
            <a:spAutoFit/>
          </a:bodyPr>
          <a:lstStyle/>
          <a:p>
            <a:pPr algn="l"/>
            <a:r>
              <a:rPr sz="2200" b="0" i="1">
                <a:solidFill>
                  <a:srgbClr val="CADCFC"/>
                </a:solidFill>
                <a:latin typeface="Calibri"/>
              </a:rPr>
              <a:t>Section 2</a:t>
            </a:r>
          </a:p>
        </p:txBody>
      </p:sp>
      <p:sp>
        <p:nvSpPr>
          <p:cNvPr id="3" name="TextBox 2"/>
          <p:cNvSpPr txBox="1"/>
          <p:nvPr/>
        </p:nvSpPr>
        <p:spPr>
          <a:xfrm>
            <a:off x="457200" y="2834640"/>
            <a:ext cx="11247120" cy="1371600"/>
          </a:xfrm>
          <a:prstGeom prst="rect">
            <a:avLst/>
          </a:prstGeom>
          <a:noFill/>
        </p:spPr>
        <p:txBody>
          <a:bodyPr wrap="square" lIns="45720" rIns="45720" tIns="18288" bIns="18288" anchor="t">
            <a:spAutoFit/>
          </a:bodyPr>
          <a:lstStyle/>
          <a:p>
            <a:pPr algn="l"/>
            <a:r>
              <a:rPr sz="5400" b="1" i="0">
                <a:solidFill>
                  <a:srgbClr val="FFFFFF"/>
                </a:solidFill>
                <a:latin typeface="Calibri"/>
              </a:rPr>
              <a:t>Requirements Analysis</a:t>
            </a:r>
          </a:p>
        </p:txBody>
      </p:sp>
      <p:sp>
        <p:nvSpPr>
          <p:cNvPr id="4" name="Rectangle 3"/>
          <p:cNvSpPr/>
          <p:nvPr/>
        </p:nvSpPr>
        <p:spPr>
          <a:xfrm>
            <a:off x="457200" y="4389120"/>
            <a:ext cx="1371600" cy="73152"/>
          </a:xfrm>
          <a:prstGeom prst="rect">
            <a:avLst/>
          </a:prstGeom>
          <a:solidFill>
            <a:srgbClr val="F59E0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 name="TextBox 4"/>
          <p:cNvSpPr txBox="1"/>
          <p:nvPr/>
        </p:nvSpPr>
        <p:spPr>
          <a:xfrm>
            <a:off x="457200" y="4572000"/>
            <a:ext cx="11247120" cy="457200"/>
          </a:xfrm>
          <a:prstGeom prst="rect">
            <a:avLst/>
          </a:prstGeom>
          <a:noFill/>
        </p:spPr>
        <p:txBody>
          <a:bodyPr wrap="square" lIns="45720" rIns="45720" tIns="18288" bIns="18288" anchor="t">
            <a:spAutoFit/>
          </a:bodyPr>
          <a:lstStyle/>
          <a:p>
            <a:pPr algn="l"/>
            <a:r>
              <a:rPr sz="2000" b="1" i="0">
                <a:solidFill>
                  <a:srgbClr val="F59E0B"/>
                </a:solidFill>
                <a:latin typeface="Calibri"/>
              </a:rPr>
              <a:t>25% of the mark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2.1  Use Case Diagram</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2 — Requirements Analysis</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3474720" y="1645920"/>
            <a:ext cx="5943600" cy="4572000"/>
          </a:xfrm>
          <a:prstGeom prst="rect">
            <a:avLst/>
          </a:prstGeom>
          <a:solidFill>
            <a:srgbClr val="F4F6FB"/>
          </a:solidFill>
          <a:ln w="254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 name="TextBox 5"/>
          <p:cNvSpPr txBox="1"/>
          <p:nvPr/>
        </p:nvSpPr>
        <p:spPr>
          <a:xfrm>
            <a:off x="3657600" y="1737360"/>
            <a:ext cx="5577840" cy="365760"/>
          </a:xfrm>
          <a:prstGeom prst="rect">
            <a:avLst/>
          </a:prstGeom>
          <a:noFill/>
        </p:spPr>
        <p:txBody>
          <a:bodyPr wrap="square" lIns="45720" rIns="45720" tIns="18288" bIns="18288" anchor="t">
            <a:spAutoFit/>
          </a:bodyPr>
          <a:lstStyle/>
          <a:p>
            <a:pPr algn="l"/>
            <a:r>
              <a:rPr sz="1300" b="1" i="0">
                <a:solidFill>
                  <a:srgbClr val="1E2761"/>
                </a:solidFill>
                <a:latin typeface="Calibri"/>
              </a:rPr>
              <a:t>SpeakFlow System</a:t>
            </a:r>
          </a:p>
        </p:txBody>
      </p:sp>
      <p:sp>
        <p:nvSpPr>
          <p:cNvPr id="7" name="Oval 6"/>
          <p:cNvSpPr/>
          <p:nvPr/>
        </p:nvSpPr>
        <p:spPr>
          <a:xfrm>
            <a:off x="4526279" y="2103120"/>
            <a:ext cx="3840480" cy="914400"/>
          </a:xfrm>
          <a:prstGeom prst="ellipse">
            <a:avLst/>
          </a:prstGeom>
          <a:solidFill>
            <a:srgbClr val="DBEAFE"/>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E2761"/>
                </a:solidFill>
                <a:latin typeface="Calibri"/>
              </a:rPr>
              <a:t>UC1</a:t>
            </a:r>
          </a:p>
          <a:p>
            <a:pPr algn="ctr"/>
            <a:r>
              <a:rPr sz="1300" b="1">
                <a:solidFill>
                  <a:srgbClr val="1E2761"/>
                </a:solidFill>
                <a:latin typeface="Calibri"/>
              </a:rPr>
              <a:t>Generate Speaking Prompt</a:t>
            </a:r>
          </a:p>
        </p:txBody>
      </p:sp>
      <p:sp>
        <p:nvSpPr>
          <p:cNvPr id="8" name="Oval 7"/>
          <p:cNvSpPr/>
          <p:nvPr/>
        </p:nvSpPr>
        <p:spPr>
          <a:xfrm>
            <a:off x="4526279" y="3611880"/>
            <a:ext cx="3840480" cy="914400"/>
          </a:xfrm>
          <a:prstGeom prst="ellipse">
            <a:avLst/>
          </a:prstGeom>
          <a:solidFill>
            <a:srgbClr val="DBEAFE"/>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E2761"/>
                </a:solidFill>
                <a:latin typeface="Calibri"/>
              </a:rPr>
              <a:t>UC2</a:t>
            </a:r>
          </a:p>
          <a:p>
            <a:pPr algn="ctr"/>
            <a:r>
              <a:rPr sz="1300" b="1">
                <a:solidFill>
                  <a:srgbClr val="1E2761"/>
                </a:solidFill>
                <a:latin typeface="Calibri"/>
              </a:rPr>
              <a:t>Record Practice Speech</a:t>
            </a:r>
          </a:p>
        </p:txBody>
      </p:sp>
      <p:sp>
        <p:nvSpPr>
          <p:cNvPr id="9" name="Oval 8"/>
          <p:cNvSpPr/>
          <p:nvPr/>
        </p:nvSpPr>
        <p:spPr>
          <a:xfrm>
            <a:off x="4526279" y="5120640"/>
            <a:ext cx="3840480" cy="914400"/>
          </a:xfrm>
          <a:prstGeom prst="ellipse">
            <a:avLst/>
          </a:prstGeom>
          <a:solidFill>
            <a:srgbClr val="DBEAFE"/>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E2761"/>
                </a:solidFill>
                <a:latin typeface="Calibri"/>
              </a:rPr>
              <a:t>UC3</a:t>
            </a:r>
          </a:p>
          <a:p>
            <a:pPr algn="ctr"/>
            <a:r>
              <a:rPr sz="1300" b="1">
                <a:solidFill>
                  <a:srgbClr val="1E2761"/>
                </a:solidFill>
                <a:latin typeface="Calibri"/>
              </a:rPr>
              <a:t>Analyse Speaking Style</a:t>
            </a:r>
          </a:p>
        </p:txBody>
      </p:sp>
      <p:sp>
        <p:nvSpPr>
          <p:cNvPr id="10" name="Oval 9"/>
          <p:cNvSpPr/>
          <p:nvPr/>
        </p:nvSpPr>
        <p:spPr>
          <a:xfrm>
            <a:off x="1600200" y="3474720"/>
            <a:ext cx="457200" cy="457200"/>
          </a:xfrm>
          <a:prstGeom prst="ellipse">
            <a:avLst/>
          </a:prstGeom>
          <a:solidFill>
            <a:srgbClr val="FEF3C7"/>
          </a:solidFill>
          <a:ln w="1905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828800" y="3931920"/>
            <a:ext cx="0" cy="731520"/>
          </a:xfrm>
          <a:prstGeom prst="line">
            <a:avLst/>
          </a:prstGeom>
          <a:ln w="25400">
            <a:solidFill>
              <a:srgbClr val="92400E"/>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417319" y="4297680"/>
            <a:ext cx="822961" cy="0"/>
          </a:xfrm>
          <a:prstGeom prst="line">
            <a:avLst/>
          </a:prstGeom>
          <a:ln w="25400">
            <a:solidFill>
              <a:srgbClr val="92400E"/>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1508760" y="4663440"/>
            <a:ext cx="320040" cy="548639"/>
          </a:xfrm>
          <a:prstGeom prst="line">
            <a:avLst/>
          </a:prstGeom>
          <a:ln w="25400">
            <a:solidFill>
              <a:srgbClr val="92400E"/>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828800" y="4663440"/>
            <a:ext cx="320039" cy="548639"/>
          </a:xfrm>
          <a:prstGeom prst="line">
            <a:avLst/>
          </a:prstGeom>
          <a:ln w="25400">
            <a:solidFill>
              <a:srgbClr val="92400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280160" y="5257800"/>
            <a:ext cx="1097280" cy="320040"/>
          </a:xfrm>
          <a:prstGeom prst="rect">
            <a:avLst/>
          </a:prstGeom>
          <a:noFill/>
        </p:spPr>
        <p:txBody>
          <a:bodyPr wrap="square" lIns="45720" rIns="45720" tIns="18288" bIns="18288" anchor="t">
            <a:spAutoFit/>
          </a:bodyPr>
          <a:lstStyle/>
          <a:p>
            <a:pPr algn="ctr"/>
            <a:r>
              <a:rPr sz="1300" b="1" i="0">
                <a:solidFill>
                  <a:srgbClr val="1E2761"/>
                </a:solidFill>
                <a:latin typeface="Calibri"/>
              </a:rPr>
              <a:t>User</a:t>
            </a:r>
          </a:p>
        </p:txBody>
      </p:sp>
      <p:sp>
        <p:nvSpPr>
          <p:cNvPr id="16" name="TextBox 15"/>
          <p:cNvSpPr txBox="1"/>
          <p:nvPr/>
        </p:nvSpPr>
        <p:spPr>
          <a:xfrm>
            <a:off x="1097280" y="5577840"/>
            <a:ext cx="1463040" cy="274320"/>
          </a:xfrm>
          <a:prstGeom prst="rect">
            <a:avLst/>
          </a:prstGeom>
          <a:noFill/>
        </p:spPr>
        <p:txBody>
          <a:bodyPr wrap="square" lIns="45720" rIns="45720" tIns="18288" bIns="18288" anchor="t">
            <a:spAutoFit/>
          </a:bodyPr>
          <a:lstStyle/>
          <a:p>
            <a:pPr algn="ctr"/>
            <a:r>
              <a:rPr sz="1000" b="0" i="1">
                <a:solidFill>
                  <a:srgbClr val="6B7280"/>
                </a:solidFill>
                <a:latin typeface="Calibri"/>
              </a:rPr>
              <a:t>(primary actor)</a:t>
            </a:r>
          </a:p>
        </p:txBody>
      </p:sp>
      <p:sp>
        <p:nvSpPr>
          <p:cNvPr id="17" name="Oval 16"/>
          <p:cNvSpPr/>
          <p:nvPr/>
        </p:nvSpPr>
        <p:spPr>
          <a:xfrm>
            <a:off x="10195560" y="3474720"/>
            <a:ext cx="457200" cy="457200"/>
          </a:xfrm>
          <a:prstGeom prst="ellipse">
            <a:avLst/>
          </a:prstGeom>
          <a:solidFill>
            <a:srgbClr val="FCE7F3"/>
          </a:solidFill>
          <a:ln w="19050">
            <a:solidFill>
              <a:srgbClr val="9F12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10424160" y="3931920"/>
            <a:ext cx="0" cy="731520"/>
          </a:xfrm>
          <a:prstGeom prst="line">
            <a:avLst/>
          </a:prstGeom>
          <a:ln w="25400">
            <a:solidFill>
              <a:srgbClr val="9F123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012680" y="4297680"/>
            <a:ext cx="822960" cy="0"/>
          </a:xfrm>
          <a:prstGeom prst="line">
            <a:avLst/>
          </a:prstGeom>
          <a:ln w="25400">
            <a:solidFill>
              <a:srgbClr val="9F123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104120" y="4663440"/>
            <a:ext cx="320040" cy="548639"/>
          </a:xfrm>
          <a:prstGeom prst="line">
            <a:avLst/>
          </a:prstGeom>
          <a:ln w="25400">
            <a:solidFill>
              <a:srgbClr val="9F123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424160" y="4663440"/>
            <a:ext cx="320040" cy="548639"/>
          </a:xfrm>
          <a:prstGeom prst="line">
            <a:avLst/>
          </a:prstGeom>
          <a:ln w="25400">
            <a:solidFill>
              <a:srgbClr val="9F1239"/>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601200" y="5257800"/>
            <a:ext cx="1645920" cy="320040"/>
          </a:xfrm>
          <a:prstGeom prst="rect">
            <a:avLst/>
          </a:prstGeom>
          <a:noFill/>
        </p:spPr>
        <p:txBody>
          <a:bodyPr wrap="square" lIns="45720" rIns="45720" tIns="18288" bIns="18288" anchor="t">
            <a:spAutoFit/>
          </a:bodyPr>
          <a:lstStyle/>
          <a:p>
            <a:pPr algn="ctr"/>
            <a:r>
              <a:rPr sz="1200" b="1" i="0">
                <a:solidFill>
                  <a:srgbClr val="1E2761"/>
                </a:solidFill>
                <a:latin typeface="Calibri"/>
              </a:rPr>
              <a:t>MicrophoneService</a:t>
            </a:r>
          </a:p>
        </p:txBody>
      </p:sp>
      <p:sp>
        <p:nvSpPr>
          <p:cNvPr id="23" name="TextBox 22"/>
          <p:cNvSpPr txBox="1"/>
          <p:nvPr/>
        </p:nvSpPr>
        <p:spPr>
          <a:xfrm>
            <a:off x="9601200" y="5577840"/>
            <a:ext cx="1645920" cy="274320"/>
          </a:xfrm>
          <a:prstGeom prst="rect">
            <a:avLst/>
          </a:prstGeom>
          <a:noFill/>
        </p:spPr>
        <p:txBody>
          <a:bodyPr wrap="square" lIns="45720" rIns="45720" tIns="18288" bIns="18288" anchor="t">
            <a:spAutoFit/>
          </a:bodyPr>
          <a:lstStyle/>
          <a:p>
            <a:pPr algn="ctr"/>
            <a:r>
              <a:rPr sz="1000" b="0" i="1">
                <a:solidFill>
                  <a:srgbClr val="6B7280"/>
                </a:solidFill>
                <a:latin typeface="Calibri"/>
              </a:rPr>
              <a:t>(secondary / system)</a:t>
            </a:r>
          </a:p>
        </p:txBody>
      </p:sp>
      <p:cxnSp>
        <p:nvCxnSpPr>
          <p:cNvPr id="24" name="Connector 23"/>
          <p:cNvCxnSpPr/>
          <p:nvPr/>
        </p:nvCxnSpPr>
        <p:spPr>
          <a:xfrm flipV="1">
            <a:off x="2286000" y="2560320"/>
            <a:ext cx="2240279" cy="173736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286000" y="4069080"/>
            <a:ext cx="2240279" cy="22860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286000" y="4297680"/>
            <a:ext cx="2240279" cy="128016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8366759" y="4069080"/>
            <a:ext cx="1600201" cy="228600"/>
          </a:xfrm>
          <a:prstGeom prst="line">
            <a:avLst/>
          </a:prstGeom>
          <a:ln w="15875">
            <a:solidFill>
              <a:srgbClr val="9F1239"/>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5989320"/>
            <a:ext cx="11247120" cy="320040"/>
          </a:xfrm>
          <a:prstGeom prst="rect">
            <a:avLst/>
          </a:prstGeom>
          <a:noFill/>
        </p:spPr>
        <p:txBody>
          <a:bodyPr wrap="square" lIns="45720" rIns="45720" tIns="18288" bIns="18288" anchor="t">
            <a:spAutoFit/>
          </a:bodyPr>
          <a:lstStyle/>
          <a:p>
            <a:pPr algn="ctr"/>
            <a:r>
              <a:rPr sz="1100" b="0" i="1">
                <a:solidFill>
                  <a:srgbClr val="6B7280"/>
                </a:solidFill>
                <a:latin typeface="Calibri"/>
              </a:rPr>
              <a:t>Two actors drive every interaction. Use cases are independent sessions; UC3 operates on the result of a previous UC2 run (temporal, not structural).</a:t>
            </a:r>
          </a:p>
        </p:txBody>
      </p:sp>
      <p:sp>
        <p:nvSpPr>
          <p:cNvPr id="29" name="TextBox 28"/>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2. Requirements Analysis</a:t>
            </a:r>
          </a:p>
        </p:txBody>
      </p:sp>
      <p:sp>
        <p:nvSpPr>
          <p:cNvPr id="30" name="TextBox 29"/>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2.2  Use Case Table — UC1: Generate Speaking Prompt</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2 — Requirements Analysis  |  Step numbers align 1-to-1 with the sequence diagram in Section 3.5</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325880"/>
            <a:ext cx="2194560" cy="298524"/>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rIns="45720" tIns="18288" bIns="18288" wrap="square"/>
          <a:lstStyle/>
          <a:p>
            <a:pPr algn="l"/>
            <a:r>
              <a:rPr sz="1100" b="1">
                <a:solidFill>
                  <a:srgbClr val="FFFFFF"/>
                </a:solidFill>
                <a:latin typeface="Calibri"/>
              </a:rPr>
              <a:t>Use case name</a:t>
            </a:r>
          </a:p>
        </p:txBody>
      </p:sp>
      <p:sp>
        <p:nvSpPr>
          <p:cNvPr id="6" name="Rectangle 5"/>
          <p:cNvSpPr/>
          <p:nvPr/>
        </p:nvSpPr>
        <p:spPr>
          <a:xfrm>
            <a:off x="2651760" y="1325880"/>
            <a:ext cx="9509760" cy="298524"/>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rIns="45720" bIns="18288" wrap="square"/>
          <a:lstStyle/>
          <a:p>
            <a:pPr algn="l"/>
            <a:r>
              <a:rPr sz="1000" b="0">
                <a:solidFill>
                  <a:srgbClr val="1F2937"/>
                </a:solidFill>
                <a:latin typeface="Calibri"/>
              </a:rPr>
              <a:t>(UC1) Generate Speaking Prompt</a:t>
            </a:r>
          </a:p>
        </p:txBody>
      </p:sp>
      <p:sp>
        <p:nvSpPr>
          <p:cNvPr id="7" name="Rectangle 6"/>
          <p:cNvSpPr/>
          <p:nvPr/>
        </p:nvSpPr>
        <p:spPr>
          <a:xfrm>
            <a:off x="457200" y="1624404"/>
            <a:ext cx="2194560" cy="298524"/>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rIns="45720" tIns="18288" bIns="18288" wrap="square"/>
          <a:lstStyle/>
          <a:p>
            <a:pPr algn="l"/>
            <a:r>
              <a:rPr sz="1100" b="1">
                <a:solidFill>
                  <a:srgbClr val="FFFFFF"/>
                </a:solidFill>
                <a:latin typeface="Calibri"/>
              </a:rPr>
              <a:t>Primary actor</a:t>
            </a:r>
          </a:p>
        </p:txBody>
      </p:sp>
      <p:sp>
        <p:nvSpPr>
          <p:cNvPr id="8" name="Rectangle 7"/>
          <p:cNvSpPr/>
          <p:nvPr/>
        </p:nvSpPr>
        <p:spPr>
          <a:xfrm>
            <a:off x="2651760" y="1624404"/>
            <a:ext cx="9509760" cy="298524"/>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rIns="45720" bIns="18288" wrap="square"/>
          <a:lstStyle/>
          <a:p>
            <a:pPr algn="l"/>
            <a:r>
              <a:rPr sz="1000" b="0">
                <a:solidFill>
                  <a:srgbClr val="1F2937"/>
                </a:solidFill>
                <a:latin typeface="Calibri"/>
              </a:rPr>
              <a:t>User</a:t>
            </a:r>
          </a:p>
        </p:txBody>
      </p:sp>
      <p:sp>
        <p:nvSpPr>
          <p:cNvPr id="9" name="Rectangle 8"/>
          <p:cNvSpPr/>
          <p:nvPr/>
        </p:nvSpPr>
        <p:spPr>
          <a:xfrm>
            <a:off x="457200" y="1922929"/>
            <a:ext cx="2194560" cy="298524"/>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rIns="45720" tIns="18288" bIns="18288" wrap="square"/>
          <a:lstStyle/>
          <a:p>
            <a:pPr algn="l"/>
            <a:r>
              <a:rPr sz="1100" b="1">
                <a:solidFill>
                  <a:srgbClr val="FFFFFF"/>
                </a:solidFill>
                <a:latin typeface="Calibri"/>
              </a:rPr>
              <a:t>Secondary actors</a:t>
            </a:r>
          </a:p>
        </p:txBody>
      </p:sp>
      <p:sp>
        <p:nvSpPr>
          <p:cNvPr id="10" name="Rectangle 9"/>
          <p:cNvSpPr/>
          <p:nvPr/>
        </p:nvSpPr>
        <p:spPr>
          <a:xfrm>
            <a:off x="2651760" y="1922929"/>
            <a:ext cx="9509760" cy="298524"/>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rIns="45720" bIns="18288" wrap="square"/>
          <a:lstStyle/>
          <a:p>
            <a:pPr algn="l"/>
            <a:r>
              <a:rPr sz="1000" b="0">
                <a:solidFill>
                  <a:srgbClr val="1F2937"/>
                </a:solidFill>
                <a:latin typeface="Calibri"/>
              </a:rPr>
              <a:t>None</a:t>
            </a:r>
          </a:p>
        </p:txBody>
      </p:sp>
      <p:sp>
        <p:nvSpPr>
          <p:cNvPr id="11" name="Rectangle 10"/>
          <p:cNvSpPr/>
          <p:nvPr/>
        </p:nvSpPr>
        <p:spPr>
          <a:xfrm>
            <a:off x="457200" y="2221454"/>
            <a:ext cx="2194560" cy="537344"/>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rIns="45720" tIns="18288" bIns="18288" wrap="square"/>
          <a:lstStyle/>
          <a:p>
            <a:pPr algn="l"/>
            <a:r>
              <a:rPr sz="1100" b="1">
                <a:solidFill>
                  <a:srgbClr val="FFFFFF"/>
                </a:solidFill>
                <a:latin typeface="Calibri"/>
              </a:rPr>
              <a:t>Summary</a:t>
            </a:r>
          </a:p>
        </p:txBody>
      </p:sp>
      <p:sp>
        <p:nvSpPr>
          <p:cNvPr id="12" name="Rectangle 11"/>
          <p:cNvSpPr/>
          <p:nvPr/>
        </p:nvSpPr>
        <p:spPr>
          <a:xfrm>
            <a:off x="2651760" y="2221454"/>
            <a:ext cx="9509760" cy="537344"/>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rIns="45720" bIns="18288" wrap="square"/>
          <a:lstStyle/>
          <a:p>
            <a:pPr algn="l"/>
            <a:r>
              <a:rPr sz="1000" b="0">
                <a:solidFill>
                  <a:srgbClr val="1F2937"/>
                </a:solidFill>
                <a:latin typeface="Calibri"/>
              </a:rPr>
              <a:t>The user requests a random topic to begin a practice drill. PromptController retrieves a Prompt from DataRepository and TrainerView displays it.</a:t>
            </a:r>
          </a:p>
        </p:txBody>
      </p:sp>
      <p:sp>
        <p:nvSpPr>
          <p:cNvPr id="13" name="Rectangle 12"/>
          <p:cNvSpPr/>
          <p:nvPr/>
        </p:nvSpPr>
        <p:spPr>
          <a:xfrm>
            <a:off x="457200" y="2758798"/>
            <a:ext cx="2194560" cy="417934"/>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rIns="45720" tIns="18288" bIns="18288" wrap="square"/>
          <a:lstStyle/>
          <a:p>
            <a:pPr algn="l"/>
            <a:r>
              <a:rPr sz="1100" b="1">
                <a:solidFill>
                  <a:srgbClr val="FFFFFF"/>
                </a:solidFill>
                <a:latin typeface="Calibri"/>
              </a:rPr>
              <a:t>Preconditions</a:t>
            </a:r>
          </a:p>
        </p:txBody>
      </p:sp>
      <p:sp>
        <p:nvSpPr>
          <p:cNvPr id="14" name="Rectangle 13"/>
          <p:cNvSpPr/>
          <p:nvPr/>
        </p:nvSpPr>
        <p:spPr>
          <a:xfrm>
            <a:off x="2651760" y="2758798"/>
            <a:ext cx="9509760" cy="417934"/>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rIns="45720" bIns="18288" wrap="square"/>
          <a:lstStyle/>
          <a:p>
            <a:pPr algn="l"/>
            <a:r>
              <a:rPr sz="1000" b="0">
                <a:solidFill>
                  <a:srgbClr val="1F2937"/>
                </a:solidFill>
                <a:latin typeface="Calibri"/>
              </a:rPr>
              <a:t>User is on TrainerView. DataRepository is reachable.</a:t>
            </a:r>
          </a:p>
        </p:txBody>
      </p:sp>
      <p:sp>
        <p:nvSpPr>
          <p:cNvPr id="15" name="Rectangle 14"/>
          <p:cNvSpPr/>
          <p:nvPr/>
        </p:nvSpPr>
        <p:spPr>
          <a:xfrm>
            <a:off x="457200" y="3176733"/>
            <a:ext cx="2194560" cy="1791148"/>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rIns="45720" tIns="18288" bIns="18288" wrap="square"/>
          <a:lstStyle/>
          <a:p>
            <a:pPr algn="l"/>
            <a:r>
              <a:rPr sz="1100" b="1">
                <a:solidFill>
                  <a:srgbClr val="FFFFFF"/>
                </a:solidFill>
                <a:latin typeface="Calibri"/>
              </a:rPr>
              <a:t>Main success scenario</a:t>
            </a:r>
          </a:p>
        </p:txBody>
      </p:sp>
      <p:sp>
        <p:nvSpPr>
          <p:cNvPr id="16" name="Rectangle 15"/>
          <p:cNvSpPr/>
          <p:nvPr/>
        </p:nvSpPr>
        <p:spPr>
          <a:xfrm>
            <a:off x="2651760" y="3176733"/>
            <a:ext cx="9509760" cy="1791148"/>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rIns="45720" bIns="18288" wrap="square"/>
          <a:lstStyle/>
          <a:p>
            <a:pPr algn="l"/>
            <a:r>
              <a:rPr sz="1000" b="0">
                <a:solidFill>
                  <a:srgbClr val="1F2937"/>
                </a:solidFill>
                <a:latin typeface="Calibri"/>
              </a:rPr>
              <a:t>1. User clicks "Generate Prompt" in TrainerView.</a:t>
            </a:r>
          </a:p>
          <a:p>
            <a:pPr algn="l"/>
            <a:r>
              <a:rPr sz="1000" b="0">
                <a:solidFill>
                  <a:srgbClr val="1F2937"/>
                </a:solidFill>
                <a:latin typeface="Calibri"/>
              </a:rPr>
              <a:t>2. TrainerView calls PromptController.generatePrompt().</a:t>
            </a:r>
          </a:p>
          <a:p>
            <a:pPr algn="l"/>
            <a:r>
              <a:rPr sz="1000" b="0">
                <a:solidFill>
                  <a:srgbClr val="1F2937"/>
                </a:solidFill>
                <a:latin typeface="Calibri"/>
              </a:rPr>
              <a:t>3. PromptController calls DataRepository.fetchRandomPrompt().</a:t>
            </a:r>
          </a:p>
          <a:p>
            <a:pPr algn="l"/>
            <a:r>
              <a:rPr sz="1000" b="0">
                <a:solidFill>
                  <a:srgbClr val="1F2937"/>
                </a:solidFill>
                <a:latin typeface="Calibri"/>
              </a:rPr>
              <a:t>4. DataRepository returns a Prompt object to PromptController.</a:t>
            </a:r>
          </a:p>
          <a:p>
            <a:pPr algn="l"/>
            <a:r>
              <a:rPr sz="1000" b="0">
                <a:solidFill>
                  <a:srgbClr val="1F2937"/>
                </a:solidFill>
                <a:latin typeface="Calibri"/>
              </a:rPr>
              <a:t>5. PromptController returns the Prompt to TrainerView.</a:t>
            </a:r>
          </a:p>
          <a:p>
            <a:pPr algn="l"/>
            <a:r>
              <a:rPr sz="1000" b="0">
                <a:solidFill>
                  <a:srgbClr val="1F2937"/>
                </a:solidFill>
                <a:latin typeface="Calibri"/>
              </a:rPr>
              <a:t>6. TrainerView displays Prompt.topic to the User.</a:t>
            </a:r>
          </a:p>
        </p:txBody>
      </p:sp>
      <p:sp>
        <p:nvSpPr>
          <p:cNvPr id="17" name="Rectangle 16"/>
          <p:cNvSpPr/>
          <p:nvPr/>
        </p:nvSpPr>
        <p:spPr>
          <a:xfrm>
            <a:off x="457200" y="4967881"/>
            <a:ext cx="2194560" cy="537344"/>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rIns="45720" tIns="18288" bIns="18288" wrap="square"/>
          <a:lstStyle/>
          <a:p>
            <a:pPr algn="l"/>
            <a:r>
              <a:rPr sz="1100" b="1">
                <a:solidFill>
                  <a:srgbClr val="FFFFFF"/>
                </a:solidFill>
                <a:latin typeface="Calibri"/>
              </a:rPr>
              <a:t>Alternatives</a:t>
            </a:r>
          </a:p>
        </p:txBody>
      </p:sp>
      <p:sp>
        <p:nvSpPr>
          <p:cNvPr id="18" name="Rectangle 17"/>
          <p:cNvSpPr/>
          <p:nvPr/>
        </p:nvSpPr>
        <p:spPr>
          <a:xfrm>
            <a:off x="2651760" y="4967881"/>
            <a:ext cx="9509760" cy="537344"/>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rIns="45720" bIns="18288" wrap="square"/>
          <a:lstStyle/>
          <a:p>
            <a:pPr algn="l"/>
            <a:r>
              <a:rPr sz="1000" b="0">
                <a:solidFill>
                  <a:srgbClr val="1F2937"/>
                </a:solidFill>
                <a:latin typeface="Calibri"/>
              </a:rPr>
              <a:t>3a. User selected a category filter → PromptController calls DataRepository.fetchRandomPrompt(category) and flow continues from step 4.</a:t>
            </a:r>
          </a:p>
        </p:txBody>
      </p:sp>
      <p:sp>
        <p:nvSpPr>
          <p:cNvPr id="19" name="Rectangle 18"/>
          <p:cNvSpPr/>
          <p:nvPr/>
        </p:nvSpPr>
        <p:spPr>
          <a:xfrm>
            <a:off x="457200" y="5505225"/>
            <a:ext cx="2194560" cy="537344"/>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rIns="45720" tIns="18288" bIns="18288" wrap="square"/>
          <a:lstStyle/>
          <a:p>
            <a:pPr algn="l"/>
            <a:r>
              <a:rPr sz="1100" b="1">
                <a:solidFill>
                  <a:srgbClr val="FFFFFF"/>
                </a:solidFill>
                <a:latin typeface="Calibri"/>
              </a:rPr>
              <a:t>Exceptions</a:t>
            </a:r>
          </a:p>
        </p:txBody>
      </p:sp>
      <p:sp>
        <p:nvSpPr>
          <p:cNvPr id="20" name="Rectangle 19"/>
          <p:cNvSpPr/>
          <p:nvPr/>
        </p:nvSpPr>
        <p:spPr>
          <a:xfrm>
            <a:off x="2651760" y="5505225"/>
            <a:ext cx="9509760" cy="537344"/>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rIns="45720" bIns="18288" wrap="square"/>
          <a:lstStyle/>
          <a:p>
            <a:pPr algn="l"/>
            <a:r>
              <a:rPr sz="1000" b="0">
                <a:solidFill>
                  <a:srgbClr val="1F2937"/>
                </a:solidFill>
                <a:latin typeface="Calibri"/>
              </a:rPr>
              <a:t>3e. DataRepository unreachable → PromptController returns a cached fallback Prompt from local storage and TrainerView shows an "offline" banner.</a:t>
            </a:r>
          </a:p>
        </p:txBody>
      </p:sp>
      <p:sp>
        <p:nvSpPr>
          <p:cNvPr id="21" name="Rectangle 20"/>
          <p:cNvSpPr/>
          <p:nvPr/>
        </p:nvSpPr>
        <p:spPr>
          <a:xfrm>
            <a:off x="457200" y="6042570"/>
            <a:ext cx="2194560" cy="358229"/>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rIns="45720" tIns="18288" bIns="18288" wrap="square"/>
          <a:lstStyle/>
          <a:p>
            <a:pPr algn="l"/>
            <a:r>
              <a:rPr sz="1100" b="1">
                <a:solidFill>
                  <a:srgbClr val="FFFFFF"/>
                </a:solidFill>
                <a:latin typeface="Calibri"/>
              </a:rPr>
              <a:t>Postconditions</a:t>
            </a:r>
          </a:p>
        </p:txBody>
      </p:sp>
      <p:sp>
        <p:nvSpPr>
          <p:cNvPr id="22" name="Rectangle 21"/>
          <p:cNvSpPr/>
          <p:nvPr/>
        </p:nvSpPr>
        <p:spPr>
          <a:xfrm>
            <a:off x="2651760" y="6042570"/>
            <a:ext cx="9509760" cy="358229"/>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rIns="45720" bIns="18288" wrap="square"/>
          <a:lstStyle/>
          <a:p>
            <a:pPr algn="l"/>
            <a:r>
              <a:rPr sz="1000" b="0">
                <a:solidFill>
                  <a:srgbClr val="1F2937"/>
                </a:solidFill>
                <a:latin typeface="Calibri"/>
              </a:rPr>
              <a:t>A Prompt is visible on TrainerView and the Start Recording button is enabled.</a:t>
            </a:r>
          </a:p>
        </p:txBody>
      </p:sp>
      <p:sp>
        <p:nvSpPr>
          <p:cNvPr id="23" name="TextBox 22"/>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2. Requirements Analysis</a:t>
            </a:r>
          </a:p>
        </p:txBody>
      </p:sp>
      <p:sp>
        <p:nvSpPr>
          <p:cNvPr id="24" name="TextBox 23"/>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2.2  Use Case Table — UC2: Record Practice Speech</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2 — Requirements Analysis  |  Step numbers align 1-to-1 with the sequence diagram in Section 3.5</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325880"/>
            <a:ext cx="2194560" cy="298524"/>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rIns="45720" tIns="18288" bIns="18288" wrap="square"/>
          <a:lstStyle/>
          <a:p>
            <a:pPr algn="l"/>
            <a:r>
              <a:rPr sz="1100" b="1">
                <a:solidFill>
                  <a:srgbClr val="FFFFFF"/>
                </a:solidFill>
                <a:latin typeface="Calibri"/>
              </a:rPr>
              <a:t>Use case name</a:t>
            </a:r>
          </a:p>
        </p:txBody>
      </p:sp>
      <p:sp>
        <p:nvSpPr>
          <p:cNvPr id="6" name="Rectangle 5"/>
          <p:cNvSpPr/>
          <p:nvPr/>
        </p:nvSpPr>
        <p:spPr>
          <a:xfrm>
            <a:off x="2651760" y="1325880"/>
            <a:ext cx="9509760" cy="298524"/>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rIns="45720" bIns="18288" wrap="square"/>
          <a:lstStyle/>
          <a:p>
            <a:pPr algn="l"/>
            <a:r>
              <a:rPr sz="1000" b="0">
                <a:solidFill>
                  <a:srgbClr val="1F2937"/>
                </a:solidFill>
                <a:latin typeface="Calibri"/>
              </a:rPr>
              <a:t>(UC2) Record Practice Speech</a:t>
            </a:r>
          </a:p>
        </p:txBody>
      </p:sp>
      <p:sp>
        <p:nvSpPr>
          <p:cNvPr id="7" name="Rectangle 6"/>
          <p:cNvSpPr/>
          <p:nvPr/>
        </p:nvSpPr>
        <p:spPr>
          <a:xfrm>
            <a:off x="457200" y="1624404"/>
            <a:ext cx="2194560" cy="298524"/>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rIns="45720" tIns="18288" bIns="18288" wrap="square"/>
          <a:lstStyle/>
          <a:p>
            <a:pPr algn="l"/>
            <a:r>
              <a:rPr sz="1100" b="1">
                <a:solidFill>
                  <a:srgbClr val="FFFFFF"/>
                </a:solidFill>
                <a:latin typeface="Calibri"/>
              </a:rPr>
              <a:t>Primary actor</a:t>
            </a:r>
          </a:p>
        </p:txBody>
      </p:sp>
      <p:sp>
        <p:nvSpPr>
          <p:cNvPr id="8" name="Rectangle 7"/>
          <p:cNvSpPr/>
          <p:nvPr/>
        </p:nvSpPr>
        <p:spPr>
          <a:xfrm>
            <a:off x="2651760" y="1624404"/>
            <a:ext cx="9509760" cy="298524"/>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rIns="45720" bIns="18288" wrap="square"/>
          <a:lstStyle/>
          <a:p>
            <a:pPr algn="l"/>
            <a:r>
              <a:rPr sz="1000" b="0">
                <a:solidFill>
                  <a:srgbClr val="1F2937"/>
                </a:solidFill>
                <a:latin typeface="Calibri"/>
              </a:rPr>
              <a:t>User</a:t>
            </a:r>
          </a:p>
        </p:txBody>
      </p:sp>
      <p:sp>
        <p:nvSpPr>
          <p:cNvPr id="9" name="Rectangle 8"/>
          <p:cNvSpPr/>
          <p:nvPr/>
        </p:nvSpPr>
        <p:spPr>
          <a:xfrm>
            <a:off x="457200" y="1922929"/>
            <a:ext cx="2194560" cy="298524"/>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rIns="45720" tIns="18288" bIns="18288" wrap="square"/>
          <a:lstStyle/>
          <a:p>
            <a:pPr algn="l"/>
            <a:r>
              <a:rPr sz="1100" b="1">
                <a:solidFill>
                  <a:srgbClr val="FFFFFF"/>
                </a:solidFill>
                <a:latin typeface="Calibri"/>
              </a:rPr>
              <a:t>Secondary actors</a:t>
            </a:r>
          </a:p>
        </p:txBody>
      </p:sp>
      <p:sp>
        <p:nvSpPr>
          <p:cNvPr id="10" name="Rectangle 9"/>
          <p:cNvSpPr/>
          <p:nvPr/>
        </p:nvSpPr>
        <p:spPr>
          <a:xfrm>
            <a:off x="2651760" y="1922929"/>
            <a:ext cx="9509760" cy="298524"/>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rIns="45720" bIns="18288" wrap="square"/>
          <a:lstStyle/>
          <a:p>
            <a:pPr algn="l"/>
            <a:r>
              <a:rPr sz="1000" b="0">
                <a:solidFill>
                  <a:srgbClr val="1F2937"/>
                </a:solidFill>
                <a:latin typeface="Calibri"/>
              </a:rPr>
              <a:t>MicrophoneService</a:t>
            </a:r>
          </a:p>
        </p:txBody>
      </p:sp>
      <p:sp>
        <p:nvSpPr>
          <p:cNvPr id="11" name="Rectangle 10"/>
          <p:cNvSpPr/>
          <p:nvPr/>
        </p:nvSpPr>
        <p:spPr>
          <a:xfrm>
            <a:off x="457200" y="2221454"/>
            <a:ext cx="2194560" cy="537344"/>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rIns="45720" tIns="18288" bIns="18288" wrap="square"/>
          <a:lstStyle/>
          <a:p>
            <a:pPr algn="l"/>
            <a:r>
              <a:rPr sz="1100" b="1">
                <a:solidFill>
                  <a:srgbClr val="FFFFFF"/>
                </a:solidFill>
                <a:latin typeface="Calibri"/>
              </a:rPr>
              <a:t>Summary</a:t>
            </a:r>
          </a:p>
        </p:txBody>
      </p:sp>
      <p:sp>
        <p:nvSpPr>
          <p:cNvPr id="12" name="Rectangle 11"/>
          <p:cNvSpPr/>
          <p:nvPr/>
        </p:nvSpPr>
        <p:spPr>
          <a:xfrm>
            <a:off x="2651760" y="2221454"/>
            <a:ext cx="9509760" cy="537344"/>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rIns="45720" bIns="18288" wrap="square"/>
          <a:lstStyle/>
          <a:p>
            <a:pPr algn="l"/>
            <a:r>
              <a:rPr sz="1000" b="0">
                <a:solidFill>
                  <a:srgbClr val="1F2937"/>
                </a:solidFill>
                <a:latin typeface="Calibri"/>
              </a:rPr>
              <a:t>The user practises speaking about the current Prompt while RecordingController captures audio via MicrophoneService and produces a live transcript via SpeechRecognitionService.</a:t>
            </a:r>
          </a:p>
        </p:txBody>
      </p:sp>
      <p:sp>
        <p:nvSpPr>
          <p:cNvPr id="13" name="Rectangle 12"/>
          <p:cNvSpPr/>
          <p:nvPr/>
        </p:nvSpPr>
        <p:spPr>
          <a:xfrm>
            <a:off x="457200" y="2758798"/>
            <a:ext cx="2194560" cy="417934"/>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rIns="45720" tIns="18288" bIns="18288" wrap="square"/>
          <a:lstStyle/>
          <a:p>
            <a:pPr algn="l"/>
            <a:r>
              <a:rPr sz="1100" b="1">
                <a:solidFill>
                  <a:srgbClr val="FFFFFF"/>
                </a:solidFill>
                <a:latin typeface="Calibri"/>
              </a:rPr>
              <a:t>Preconditions</a:t>
            </a:r>
          </a:p>
        </p:txBody>
      </p:sp>
      <p:sp>
        <p:nvSpPr>
          <p:cNvPr id="14" name="Rectangle 13"/>
          <p:cNvSpPr/>
          <p:nvPr/>
        </p:nvSpPr>
        <p:spPr>
          <a:xfrm>
            <a:off x="2651760" y="2758798"/>
            <a:ext cx="9509760" cy="417934"/>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rIns="45720" bIns="18288" wrap="square"/>
          <a:lstStyle/>
          <a:p>
            <a:pPr algn="l"/>
            <a:r>
              <a:rPr sz="1000" b="0">
                <a:solidFill>
                  <a:srgbClr val="1F2937"/>
                </a:solidFill>
                <a:latin typeface="Calibri"/>
              </a:rPr>
              <a:t>A Prompt is displayed (UC1 completed). User has granted microphone permission.</a:t>
            </a:r>
          </a:p>
        </p:txBody>
      </p:sp>
      <p:sp>
        <p:nvSpPr>
          <p:cNvPr id="15" name="Rectangle 14"/>
          <p:cNvSpPr/>
          <p:nvPr/>
        </p:nvSpPr>
        <p:spPr>
          <a:xfrm>
            <a:off x="457200" y="3176733"/>
            <a:ext cx="2194560" cy="1791148"/>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rIns="45720" tIns="18288" bIns="18288" wrap="square"/>
          <a:lstStyle/>
          <a:p>
            <a:pPr algn="l"/>
            <a:r>
              <a:rPr sz="1100" b="1">
                <a:solidFill>
                  <a:srgbClr val="FFFFFF"/>
                </a:solidFill>
                <a:latin typeface="Calibri"/>
              </a:rPr>
              <a:t>Main success scenario</a:t>
            </a:r>
          </a:p>
        </p:txBody>
      </p:sp>
      <p:sp>
        <p:nvSpPr>
          <p:cNvPr id="16" name="Rectangle 15"/>
          <p:cNvSpPr/>
          <p:nvPr/>
        </p:nvSpPr>
        <p:spPr>
          <a:xfrm>
            <a:off x="2651760" y="3176733"/>
            <a:ext cx="9509760" cy="1791148"/>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rIns="45720" bIns="18288" wrap="square"/>
          <a:lstStyle/>
          <a:p>
            <a:pPr algn="l"/>
            <a:r>
              <a:rPr sz="1000" b="0">
                <a:solidFill>
                  <a:srgbClr val="1F2937"/>
                </a:solidFill>
                <a:latin typeface="Calibri"/>
              </a:rPr>
              <a:t>1. User clicks "Start Recording" in TrainerView.</a:t>
            </a:r>
          </a:p>
          <a:p>
            <a:pPr algn="l"/>
            <a:r>
              <a:rPr sz="1000" b="0">
                <a:solidFill>
                  <a:srgbClr val="1F2937"/>
                </a:solidFill>
                <a:latin typeface="Calibri"/>
              </a:rPr>
              <a:t>2. TrainerView calls RecordingController.startRecording(promptId).</a:t>
            </a:r>
          </a:p>
          <a:p>
            <a:pPr algn="l"/>
            <a:r>
              <a:rPr sz="1000" b="0">
                <a:solidFill>
                  <a:srgbClr val="1F2937"/>
                </a:solidFill>
                <a:latin typeface="Calibri"/>
              </a:rPr>
              <a:t>3. RecordingController calls MicrophoneService.activate().</a:t>
            </a:r>
          </a:p>
          <a:p>
            <a:pPr algn="l"/>
            <a:r>
              <a:rPr sz="1000" b="0">
                <a:solidFill>
                  <a:srgbClr val="1F2937"/>
                </a:solidFill>
                <a:latin typeface="Calibri"/>
              </a:rPr>
              <a:t>4. MicrophoneService returns stream handle (mic active).</a:t>
            </a:r>
          </a:p>
          <a:p>
            <a:pPr algn="l"/>
            <a:r>
              <a:rPr sz="1000" b="0">
                <a:solidFill>
                  <a:srgbClr val="1F2937"/>
                </a:solidFill>
                <a:latin typeface="Calibri"/>
              </a:rPr>
              <a:t>5. RecordingController calls SpeechRecognitionService.start(lang="en-US").</a:t>
            </a:r>
          </a:p>
          <a:p>
            <a:pPr algn="l"/>
            <a:r>
              <a:rPr sz="1000" b="0">
                <a:solidFill>
                  <a:srgbClr val="1F2937"/>
                </a:solidFill>
                <a:latin typeface="Calibri"/>
              </a:rPr>
              <a:t>6. Loop [while recording]: SpeechRecognitionService emits TranscriptSegment to RecordingController.</a:t>
            </a:r>
          </a:p>
          <a:p>
            <a:pPr algn="l"/>
            <a:r>
              <a:rPr sz="1000" b="0">
                <a:solidFill>
                  <a:srgbClr val="1F2937"/>
                </a:solidFill>
                <a:latin typeface="Calibri"/>
              </a:rPr>
              <a:t>7. RecordingController appends each TranscriptSegment to the AudioRecording and forwards it to TrainerView for live display.</a:t>
            </a:r>
          </a:p>
          <a:p>
            <a:pPr algn="l"/>
            <a:r>
              <a:rPr sz="1000" b="0">
                <a:solidFill>
                  <a:srgbClr val="1F2937"/>
                </a:solidFill>
                <a:latin typeface="Calibri"/>
              </a:rPr>
              <a:t>8. User clicks "Stop Recording" in TrainerView.</a:t>
            </a:r>
          </a:p>
          <a:p>
            <a:pPr algn="l"/>
            <a:r>
              <a:rPr sz="1000" b="0">
                <a:solidFill>
                  <a:srgbClr val="1F2937"/>
                </a:solidFill>
                <a:latin typeface="Calibri"/>
              </a:rPr>
              <a:t>9. TrainerView calls RecordingController.stopRecording().</a:t>
            </a:r>
          </a:p>
          <a:p>
            <a:pPr algn="l"/>
            <a:r>
              <a:rPr sz="1000" b="0">
                <a:solidFill>
                  <a:srgbClr val="1F2937"/>
                </a:solidFill>
                <a:latin typeface="Calibri"/>
              </a:rPr>
              <a:t>10. RecordingController calls SpeechRecognitionService.stop() and MicrophoneService.deactivate().</a:t>
            </a:r>
          </a:p>
          <a:p>
            <a:pPr algn="l"/>
            <a:r>
              <a:rPr sz="1000" b="0">
                <a:solidFill>
                  <a:srgbClr val="1F2937"/>
                </a:solidFill>
                <a:latin typeface="Calibri"/>
              </a:rPr>
              <a:t>11. RecordingController calls DataRepository.saveRecording(AudioRecording).</a:t>
            </a:r>
          </a:p>
          <a:p>
            <a:pPr algn="l"/>
            <a:r>
              <a:rPr sz="1000" b="0">
                <a:solidFill>
                  <a:srgbClr val="1F2937"/>
                </a:solidFill>
                <a:latin typeface="Calibri"/>
              </a:rPr>
              <a:t>12. DataRepository returns the saved recordingId.</a:t>
            </a:r>
          </a:p>
          <a:p>
            <a:pPr algn="l"/>
            <a:r>
              <a:rPr sz="1000" b="0">
                <a:solidFill>
                  <a:srgbClr val="1F2937"/>
                </a:solidFill>
                <a:latin typeface="Calibri"/>
              </a:rPr>
              <a:t>13. RecordingController returns recordingId to TrainerView.</a:t>
            </a:r>
          </a:p>
        </p:txBody>
      </p:sp>
      <p:sp>
        <p:nvSpPr>
          <p:cNvPr id="17" name="Rectangle 16"/>
          <p:cNvSpPr/>
          <p:nvPr/>
        </p:nvSpPr>
        <p:spPr>
          <a:xfrm>
            <a:off x="457200" y="4967881"/>
            <a:ext cx="2194560" cy="537344"/>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rIns="45720" tIns="18288" bIns="18288" wrap="square"/>
          <a:lstStyle/>
          <a:p>
            <a:pPr algn="l"/>
            <a:r>
              <a:rPr sz="1100" b="1">
                <a:solidFill>
                  <a:srgbClr val="FFFFFF"/>
                </a:solidFill>
                <a:latin typeface="Calibri"/>
              </a:rPr>
              <a:t>Alternatives</a:t>
            </a:r>
          </a:p>
        </p:txBody>
      </p:sp>
      <p:sp>
        <p:nvSpPr>
          <p:cNvPr id="18" name="Rectangle 17"/>
          <p:cNvSpPr/>
          <p:nvPr/>
        </p:nvSpPr>
        <p:spPr>
          <a:xfrm>
            <a:off x="2651760" y="4967881"/>
            <a:ext cx="9509760" cy="537344"/>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rIns="45720" bIns="18288" wrap="square"/>
          <a:lstStyle/>
          <a:p>
            <a:pPr algn="l"/>
            <a:r>
              <a:rPr sz="1000" b="0">
                <a:solidFill>
                  <a:srgbClr val="1F2937"/>
                </a:solidFill>
                <a:latin typeface="Calibri"/>
              </a:rPr>
              <a:t>1a. User chooses a countdown timer before step 2 → TrainerView waits for timer, then continues.</a:t>
            </a:r>
          </a:p>
        </p:txBody>
      </p:sp>
      <p:sp>
        <p:nvSpPr>
          <p:cNvPr id="19" name="Rectangle 18"/>
          <p:cNvSpPr/>
          <p:nvPr/>
        </p:nvSpPr>
        <p:spPr>
          <a:xfrm>
            <a:off x="457200" y="5505225"/>
            <a:ext cx="2194560" cy="537344"/>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rIns="45720" tIns="18288" bIns="18288" wrap="square"/>
          <a:lstStyle/>
          <a:p>
            <a:pPr algn="l"/>
            <a:r>
              <a:rPr sz="1100" b="1">
                <a:solidFill>
                  <a:srgbClr val="FFFFFF"/>
                </a:solidFill>
                <a:latin typeface="Calibri"/>
              </a:rPr>
              <a:t>Exceptions</a:t>
            </a:r>
          </a:p>
        </p:txBody>
      </p:sp>
      <p:sp>
        <p:nvSpPr>
          <p:cNvPr id="20" name="Rectangle 19"/>
          <p:cNvSpPr/>
          <p:nvPr/>
        </p:nvSpPr>
        <p:spPr>
          <a:xfrm>
            <a:off x="2651760" y="5505225"/>
            <a:ext cx="9509760" cy="537344"/>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rIns="45720" bIns="18288" wrap="square"/>
          <a:lstStyle/>
          <a:p>
            <a:pPr algn="l"/>
            <a:r>
              <a:rPr sz="1000" b="0">
                <a:solidFill>
                  <a:srgbClr val="1F2937"/>
                </a:solidFill>
                <a:latin typeface="Calibri"/>
              </a:rPr>
              <a:t>3e. MicrophoneService.activate() fails → RecordingController returns error to TrainerView; warning shown; use case aborts.</a:t>
            </a:r>
          </a:p>
        </p:txBody>
      </p:sp>
      <p:sp>
        <p:nvSpPr>
          <p:cNvPr id="21" name="Rectangle 20"/>
          <p:cNvSpPr/>
          <p:nvPr/>
        </p:nvSpPr>
        <p:spPr>
          <a:xfrm>
            <a:off x="457200" y="6042570"/>
            <a:ext cx="2194560" cy="358229"/>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rIns="45720" tIns="18288" bIns="18288" wrap="square"/>
          <a:lstStyle/>
          <a:p>
            <a:pPr algn="l"/>
            <a:r>
              <a:rPr sz="1100" b="1">
                <a:solidFill>
                  <a:srgbClr val="FFFFFF"/>
                </a:solidFill>
                <a:latin typeface="Calibri"/>
              </a:rPr>
              <a:t>Postconditions</a:t>
            </a:r>
          </a:p>
        </p:txBody>
      </p:sp>
      <p:sp>
        <p:nvSpPr>
          <p:cNvPr id="22" name="Rectangle 21"/>
          <p:cNvSpPr/>
          <p:nvPr/>
        </p:nvSpPr>
        <p:spPr>
          <a:xfrm>
            <a:off x="2651760" y="6042570"/>
            <a:ext cx="9509760" cy="358229"/>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rIns="45720" bIns="18288" wrap="square"/>
          <a:lstStyle/>
          <a:p>
            <a:pPr algn="l"/>
            <a:r>
              <a:rPr sz="1000" b="0">
                <a:solidFill>
                  <a:srgbClr val="1F2937"/>
                </a:solidFill>
                <a:latin typeface="Calibri"/>
              </a:rPr>
              <a:t>A persisted AudioRecording with its TranscriptSegments is available in DataRepository for UC3.</a:t>
            </a:r>
          </a:p>
        </p:txBody>
      </p:sp>
      <p:sp>
        <p:nvSpPr>
          <p:cNvPr id="23" name="TextBox 22"/>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2. Requirements Analysis</a:t>
            </a:r>
          </a:p>
        </p:txBody>
      </p:sp>
      <p:sp>
        <p:nvSpPr>
          <p:cNvPr id="24" name="TextBox 23"/>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2.2  Use Case Table — UC3: Analyse Speaking Style</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2 — Requirements Analysis  |  Step numbers align 1-to-1 with the sequence diagram in Section 3.5</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325880"/>
            <a:ext cx="2194560" cy="298524"/>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rIns="45720" tIns="18288" bIns="18288" wrap="square"/>
          <a:lstStyle/>
          <a:p>
            <a:pPr algn="l"/>
            <a:r>
              <a:rPr sz="1100" b="1">
                <a:solidFill>
                  <a:srgbClr val="FFFFFF"/>
                </a:solidFill>
                <a:latin typeface="Calibri"/>
              </a:rPr>
              <a:t>Use case name</a:t>
            </a:r>
          </a:p>
        </p:txBody>
      </p:sp>
      <p:sp>
        <p:nvSpPr>
          <p:cNvPr id="6" name="Rectangle 5"/>
          <p:cNvSpPr/>
          <p:nvPr/>
        </p:nvSpPr>
        <p:spPr>
          <a:xfrm>
            <a:off x="2651760" y="1325880"/>
            <a:ext cx="9509760" cy="298524"/>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rIns="45720" bIns="18288" wrap="square"/>
          <a:lstStyle/>
          <a:p>
            <a:pPr algn="l"/>
            <a:r>
              <a:rPr sz="1000" b="0">
                <a:solidFill>
                  <a:srgbClr val="1F2937"/>
                </a:solidFill>
                <a:latin typeface="Calibri"/>
              </a:rPr>
              <a:t>(UC3) Analyse Speaking Style</a:t>
            </a:r>
          </a:p>
        </p:txBody>
      </p:sp>
      <p:sp>
        <p:nvSpPr>
          <p:cNvPr id="7" name="Rectangle 6"/>
          <p:cNvSpPr/>
          <p:nvPr/>
        </p:nvSpPr>
        <p:spPr>
          <a:xfrm>
            <a:off x="457200" y="1624404"/>
            <a:ext cx="2194560" cy="298524"/>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rIns="45720" tIns="18288" bIns="18288" wrap="square"/>
          <a:lstStyle/>
          <a:p>
            <a:pPr algn="l"/>
            <a:r>
              <a:rPr sz="1100" b="1">
                <a:solidFill>
                  <a:srgbClr val="FFFFFF"/>
                </a:solidFill>
                <a:latin typeface="Calibri"/>
              </a:rPr>
              <a:t>Primary actor</a:t>
            </a:r>
          </a:p>
        </p:txBody>
      </p:sp>
      <p:sp>
        <p:nvSpPr>
          <p:cNvPr id="8" name="Rectangle 7"/>
          <p:cNvSpPr/>
          <p:nvPr/>
        </p:nvSpPr>
        <p:spPr>
          <a:xfrm>
            <a:off x="2651760" y="1624404"/>
            <a:ext cx="9509760" cy="298524"/>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rIns="45720" bIns="18288" wrap="square"/>
          <a:lstStyle/>
          <a:p>
            <a:pPr algn="l"/>
            <a:r>
              <a:rPr sz="1000" b="0">
                <a:solidFill>
                  <a:srgbClr val="1F2937"/>
                </a:solidFill>
                <a:latin typeface="Calibri"/>
              </a:rPr>
              <a:t>User</a:t>
            </a:r>
          </a:p>
        </p:txBody>
      </p:sp>
      <p:sp>
        <p:nvSpPr>
          <p:cNvPr id="9" name="Rectangle 8"/>
          <p:cNvSpPr/>
          <p:nvPr/>
        </p:nvSpPr>
        <p:spPr>
          <a:xfrm>
            <a:off x="457200" y="1922929"/>
            <a:ext cx="2194560" cy="298524"/>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rIns="45720" tIns="18288" bIns="18288" wrap="square"/>
          <a:lstStyle/>
          <a:p>
            <a:pPr algn="l"/>
            <a:r>
              <a:rPr sz="1100" b="1">
                <a:solidFill>
                  <a:srgbClr val="FFFFFF"/>
                </a:solidFill>
                <a:latin typeface="Calibri"/>
              </a:rPr>
              <a:t>Secondary actors</a:t>
            </a:r>
          </a:p>
        </p:txBody>
      </p:sp>
      <p:sp>
        <p:nvSpPr>
          <p:cNvPr id="10" name="Rectangle 9"/>
          <p:cNvSpPr/>
          <p:nvPr/>
        </p:nvSpPr>
        <p:spPr>
          <a:xfrm>
            <a:off x="2651760" y="1922929"/>
            <a:ext cx="9509760" cy="298524"/>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rIns="45720" bIns="18288" wrap="square"/>
          <a:lstStyle/>
          <a:p>
            <a:pPr algn="l"/>
            <a:r>
              <a:rPr sz="1000" b="0">
                <a:solidFill>
                  <a:srgbClr val="1F2937"/>
                </a:solidFill>
                <a:latin typeface="Calibri"/>
              </a:rPr>
              <a:t>None  (AIAnalysisService is called by the controller, not interacted with by the user)</a:t>
            </a:r>
          </a:p>
        </p:txBody>
      </p:sp>
      <p:sp>
        <p:nvSpPr>
          <p:cNvPr id="11" name="Rectangle 10"/>
          <p:cNvSpPr/>
          <p:nvPr/>
        </p:nvSpPr>
        <p:spPr>
          <a:xfrm>
            <a:off x="457200" y="2221454"/>
            <a:ext cx="2194560" cy="537344"/>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rIns="45720" tIns="18288" bIns="18288" wrap="square"/>
          <a:lstStyle/>
          <a:p>
            <a:pPr algn="l"/>
            <a:r>
              <a:rPr sz="1100" b="1">
                <a:solidFill>
                  <a:srgbClr val="FFFFFF"/>
                </a:solidFill>
                <a:latin typeface="Calibri"/>
              </a:rPr>
              <a:t>Summary</a:t>
            </a:r>
          </a:p>
        </p:txBody>
      </p:sp>
      <p:sp>
        <p:nvSpPr>
          <p:cNvPr id="12" name="Rectangle 11"/>
          <p:cNvSpPr/>
          <p:nvPr/>
        </p:nvSpPr>
        <p:spPr>
          <a:xfrm>
            <a:off x="2651760" y="2221454"/>
            <a:ext cx="9509760" cy="537344"/>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rIns="45720" bIns="18288" wrap="square"/>
          <a:lstStyle/>
          <a:p>
            <a:pPr algn="l"/>
            <a:r>
              <a:rPr sz="1000" b="0">
                <a:solidFill>
                  <a:srgbClr val="1F2937"/>
                </a:solidFill>
                <a:latin typeface="Calibri"/>
              </a:rPr>
              <a:t>The user requests AI feedback on a completed recording. AnalysisController sends the transcript to AIAnalysisService, wraps the returned SpeechAnalysis into a DrillSession, persists it, and DashboardView renders the results.</a:t>
            </a:r>
          </a:p>
        </p:txBody>
      </p:sp>
      <p:sp>
        <p:nvSpPr>
          <p:cNvPr id="13" name="Rectangle 12"/>
          <p:cNvSpPr/>
          <p:nvPr/>
        </p:nvSpPr>
        <p:spPr>
          <a:xfrm>
            <a:off x="457200" y="2758798"/>
            <a:ext cx="2194560" cy="417934"/>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rIns="45720" tIns="18288" bIns="18288" wrap="square"/>
          <a:lstStyle/>
          <a:p>
            <a:pPr algn="l"/>
            <a:r>
              <a:rPr sz="1100" b="1">
                <a:solidFill>
                  <a:srgbClr val="FFFFFF"/>
                </a:solidFill>
                <a:latin typeface="Calibri"/>
              </a:rPr>
              <a:t>Preconditions</a:t>
            </a:r>
          </a:p>
        </p:txBody>
      </p:sp>
      <p:sp>
        <p:nvSpPr>
          <p:cNvPr id="14" name="Rectangle 13"/>
          <p:cNvSpPr/>
          <p:nvPr/>
        </p:nvSpPr>
        <p:spPr>
          <a:xfrm>
            <a:off x="2651760" y="2758798"/>
            <a:ext cx="9509760" cy="417934"/>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rIns="45720" bIns="18288" wrap="square"/>
          <a:lstStyle/>
          <a:p>
            <a:pPr algn="l"/>
            <a:r>
              <a:rPr sz="1000" b="0">
                <a:solidFill>
                  <a:srgbClr val="1F2937"/>
                </a:solidFill>
                <a:latin typeface="Calibri"/>
              </a:rPr>
              <a:t>At least one AudioRecording exists in DataRepository (UC2 completed). AIAnalysisService is reachable.</a:t>
            </a:r>
          </a:p>
        </p:txBody>
      </p:sp>
      <p:sp>
        <p:nvSpPr>
          <p:cNvPr id="15" name="Rectangle 14"/>
          <p:cNvSpPr/>
          <p:nvPr/>
        </p:nvSpPr>
        <p:spPr>
          <a:xfrm>
            <a:off x="457200" y="3176733"/>
            <a:ext cx="2194560" cy="1791148"/>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rIns="45720" tIns="18288" bIns="18288" wrap="square"/>
          <a:lstStyle/>
          <a:p>
            <a:pPr algn="l"/>
            <a:r>
              <a:rPr sz="1100" b="1">
                <a:solidFill>
                  <a:srgbClr val="FFFFFF"/>
                </a:solidFill>
                <a:latin typeface="Calibri"/>
              </a:rPr>
              <a:t>Main success scenario</a:t>
            </a:r>
          </a:p>
        </p:txBody>
      </p:sp>
      <p:sp>
        <p:nvSpPr>
          <p:cNvPr id="16" name="Rectangle 15"/>
          <p:cNvSpPr/>
          <p:nvPr/>
        </p:nvSpPr>
        <p:spPr>
          <a:xfrm>
            <a:off x="2651760" y="3176733"/>
            <a:ext cx="9509760" cy="1791148"/>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rIns="45720" bIns="18288" wrap="square"/>
          <a:lstStyle/>
          <a:p>
            <a:pPr algn="l"/>
            <a:r>
              <a:rPr sz="1000" b="0">
                <a:solidFill>
                  <a:srgbClr val="1F2937"/>
                </a:solidFill>
                <a:latin typeface="Calibri"/>
              </a:rPr>
              <a:t>1. User clicks "Analyse" on a recording in DashboardView.</a:t>
            </a:r>
          </a:p>
          <a:p>
            <a:pPr algn="l"/>
            <a:r>
              <a:rPr sz="1000" b="0">
                <a:solidFill>
                  <a:srgbClr val="1F2937"/>
                </a:solidFill>
                <a:latin typeface="Calibri"/>
              </a:rPr>
              <a:t>2. DashboardView calls AnalysisController.analyse(recordingId).</a:t>
            </a:r>
          </a:p>
          <a:p>
            <a:pPr algn="l"/>
            <a:r>
              <a:rPr sz="1000" b="0">
                <a:solidFill>
                  <a:srgbClr val="1F2937"/>
                </a:solidFill>
                <a:latin typeface="Calibri"/>
              </a:rPr>
              <a:t>3. AnalysisController calls DataRepository.getRecording(recordingId).</a:t>
            </a:r>
          </a:p>
          <a:p>
            <a:pPr algn="l"/>
            <a:r>
              <a:rPr sz="1000" b="0">
                <a:solidFill>
                  <a:srgbClr val="1F2937"/>
                </a:solidFill>
                <a:latin typeface="Calibri"/>
              </a:rPr>
              <a:t>4. DataRepository returns the AudioRecording and its TranscriptSegments.</a:t>
            </a:r>
          </a:p>
          <a:p>
            <a:pPr algn="l"/>
            <a:r>
              <a:rPr sz="1000" b="0">
                <a:solidFill>
                  <a:srgbClr val="1F2937"/>
                </a:solidFill>
                <a:latin typeface="Calibri"/>
              </a:rPr>
              <a:t>5. AnalysisController calls AIAnalysisService.analyse(transcript, promptId).</a:t>
            </a:r>
          </a:p>
          <a:p>
            <a:pPr algn="l"/>
            <a:r>
              <a:rPr sz="1000" b="0">
                <a:solidFill>
                  <a:srgbClr val="1F2937"/>
                </a:solidFill>
                <a:latin typeface="Calibri"/>
              </a:rPr>
              <a:t>6. AIAnalysisService returns SpeechAnalysis (fillerCount, wpm, clarityScore, relevanceScore, feedbackText).</a:t>
            </a:r>
          </a:p>
          <a:p>
            <a:pPr algn="l"/>
            <a:r>
              <a:rPr sz="1000" b="0">
                <a:solidFill>
                  <a:srgbClr val="1F2937"/>
                </a:solidFill>
                <a:latin typeface="Calibri"/>
              </a:rPr>
              <a:t>7. AnalysisController creates a DrillSession wrapping AudioRecording.id and the new SpeechAnalysis.</a:t>
            </a:r>
          </a:p>
          <a:p>
            <a:pPr algn="l"/>
            <a:r>
              <a:rPr sz="1000" b="0">
                <a:solidFill>
                  <a:srgbClr val="1F2937"/>
                </a:solidFill>
                <a:latin typeface="Calibri"/>
              </a:rPr>
              <a:t>8. AnalysisController calls DataRepository.saveDrillSession(DrillSession).</a:t>
            </a:r>
          </a:p>
          <a:p>
            <a:pPr algn="l"/>
            <a:r>
              <a:rPr sz="1000" b="0">
                <a:solidFill>
                  <a:srgbClr val="1F2937"/>
                </a:solidFill>
                <a:latin typeface="Calibri"/>
              </a:rPr>
              <a:t>9. DataRepository returns success.</a:t>
            </a:r>
          </a:p>
          <a:p>
            <a:pPr algn="l"/>
            <a:r>
              <a:rPr sz="1000" b="0">
                <a:solidFill>
                  <a:srgbClr val="1F2937"/>
                </a:solidFill>
                <a:latin typeface="Calibri"/>
              </a:rPr>
              <a:t>10. AnalysisController returns SpeechAnalysis to DashboardView.</a:t>
            </a:r>
          </a:p>
          <a:p>
            <a:pPr algn="l"/>
            <a:r>
              <a:rPr sz="1000" b="0">
                <a:solidFill>
                  <a:srgbClr val="1F2937"/>
                </a:solidFill>
                <a:latin typeface="Calibri"/>
              </a:rPr>
              <a:t>11. DashboardView renders feedback (fillers, WPM, clarity, relevance, feedbackText) to User.</a:t>
            </a:r>
          </a:p>
        </p:txBody>
      </p:sp>
      <p:sp>
        <p:nvSpPr>
          <p:cNvPr id="17" name="Rectangle 16"/>
          <p:cNvSpPr/>
          <p:nvPr/>
        </p:nvSpPr>
        <p:spPr>
          <a:xfrm>
            <a:off x="457200" y="4967881"/>
            <a:ext cx="2194560" cy="537344"/>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rIns="45720" tIns="18288" bIns="18288" wrap="square"/>
          <a:lstStyle/>
          <a:p>
            <a:pPr algn="l"/>
            <a:r>
              <a:rPr sz="1100" b="1">
                <a:solidFill>
                  <a:srgbClr val="FFFFFF"/>
                </a:solidFill>
                <a:latin typeface="Calibri"/>
              </a:rPr>
              <a:t>Alternatives</a:t>
            </a:r>
          </a:p>
        </p:txBody>
      </p:sp>
      <p:sp>
        <p:nvSpPr>
          <p:cNvPr id="18" name="Rectangle 17"/>
          <p:cNvSpPr/>
          <p:nvPr/>
        </p:nvSpPr>
        <p:spPr>
          <a:xfrm>
            <a:off x="2651760" y="4967881"/>
            <a:ext cx="9509760" cy="537344"/>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rIns="45720" bIns="18288" wrap="square"/>
          <a:lstStyle/>
          <a:p>
            <a:pPr algn="l"/>
            <a:r>
              <a:rPr sz="1000" b="0">
                <a:solidFill>
                  <a:srgbClr val="1F2937"/>
                </a:solidFill>
                <a:latin typeface="Calibri"/>
              </a:rPr>
              <a:t>5a. User selected "basic analysis only" → AnalysisController computes fillerCount + wpm locally from TranscriptSegments and jumps to step 7.</a:t>
            </a:r>
          </a:p>
        </p:txBody>
      </p:sp>
      <p:sp>
        <p:nvSpPr>
          <p:cNvPr id="19" name="Rectangle 18"/>
          <p:cNvSpPr/>
          <p:nvPr/>
        </p:nvSpPr>
        <p:spPr>
          <a:xfrm>
            <a:off x="457200" y="5505225"/>
            <a:ext cx="2194560" cy="537344"/>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rIns="45720" tIns="18288" bIns="18288" wrap="square"/>
          <a:lstStyle/>
          <a:p>
            <a:pPr algn="l"/>
            <a:r>
              <a:rPr sz="1100" b="1">
                <a:solidFill>
                  <a:srgbClr val="FFFFFF"/>
                </a:solidFill>
                <a:latin typeface="Calibri"/>
              </a:rPr>
              <a:t>Exceptions</a:t>
            </a:r>
          </a:p>
        </p:txBody>
      </p:sp>
      <p:sp>
        <p:nvSpPr>
          <p:cNvPr id="20" name="Rectangle 19"/>
          <p:cNvSpPr/>
          <p:nvPr/>
        </p:nvSpPr>
        <p:spPr>
          <a:xfrm>
            <a:off x="2651760" y="5505225"/>
            <a:ext cx="9509760" cy="537344"/>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rIns="45720" bIns="18288" wrap="square"/>
          <a:lstStyle/>
          <a:p>
            <a:pPr algn="l"/>
            <a:r>
              <a:rPr sz="1000" b="0">
                <a:solidFill>
                  <a:srgbClr val="1F2937"/>
                </a:solidFill>
                <a:latin typeface="Calibri"/>
              </a:rPr>
              <a:t>5e. AIAnalysisService unreachable → fallback to local basic analysis (as 5a); DashboardView shows "full AI unavailable — showing basic stats" banner.</a:t>
            </a:r>
          </a:p>
        </p:txBody>
      </p:sp>
      <p:sp>
        <p:nvSpPr>
          <p:cNvPr id="21" name="Rectangle 20"/>
          <p:cNvSpPr/>
          <p:nvPr/>
        </p:nvSpPr>
        <p:spPr>
          <a:xfrm>
            <a:off x="457200" y="6042570"/>
            <a:ext cx="2194560" cy="358229"/>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rIns="45720" tIns="18288" bIns="18288" wrap="square"/>
          <a:lstStyle/>
          <a:p>
            <a:pPr algn="l"/>
            <a:r>
              <a:rPr sz="1100" b="1">
                <a:solidFill>
                  <a:srgbClr val="FFFFFF"/>
                </a:solidFill>
                <a:latin typeface="Calibri"/>
              </a:rPr>
              <a:t>Postconditions</a:t>
            </a:r>
          </a:p>
        </p:txBody>
      </p:sp>
      <p:sp>
        <p:nvSpPr>
          <p:cNvPr id="22" name="Rectangle 21"/>
          <p:cNvSpPr/>
          <p:nvPr/>
        </p:nvSpPr>
        <p:spPr>
          <a:xfrm>
            <a:off x="2651760" y="6042570"/>
            <a:ext cx="9509760" cy="358229"/>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rIns="45720" bIns="18288" wrap="square"/>
          <a:lstStyle/>
          <a:p>
            <a:pPr algn="l"/>
            <a:r>
              <a:rPr sz="1000" b="0">
                <a:solidFill>
                  <a:srgbClr val="1F2937"/>
                </a:solidFill>
                <a:latin typeface="Calibri"/>
              </a:rPr>
              <a:t>A new DrillSession containing the SpeechAnalysis is persisted in DataRepository and rendered in DashboardView.</a:t>
            </a:r>
          </a:p>
        </p:txBody>
      </p:sp>
      <p:sp>
        <p:nvSpPr>
          <p:cNvPr id="23" name="TextBox 22"/>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2. Requirements Analysis</a:t>
            </a:r>
          </a:p>
        </p:txBody>
      </p:sp>
      <p:sp>
        <p:nvSpPr>
          <p:cNvPr id="24" name="TextBox 23"/>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2.3  Functional &amp; Non-Functional Requirements</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2 — Requirements Analysis</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57200" y="1463040"/>
            <a:ext cx="7589520" cy="5120640"/>
          </a:xfrm>
          <a:prstGeom prst="roundRect">
            <a:avLst>
              <a:gd name="adj" fmla="val 10000"/>
            </a:avLst>
          </a:prstGeom>
          <a:solidFill>
            <a:srgbClr val="FFFF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 name="TextBox 5"/>
          <p:cNvSpPr txBox="1"/>
          <p:nvPr/>
        </p:nvSpPr>
        <p:spPr>
          <a:xfrm>
            <a:off x="640080" y="1600200"/>
            <a:ext cx="7315200" cy="365760"/>
          </a:xfrm>
          <a:prstGeom prst="rect">
            <a:avLst/>
          </a:prstGeom>
          <a:noFill/>
        </p:spPr>
        <p:txBody>
          <a:bodyPr wrap="square" lIns="45720" rIns="45720" tIns="18288" bIns="18288" anchor="t">
            <a:spAutoFit/>
          </a:bodyPr>
          <a:lstStyle/>
          <a:p>
            <a:pPr algn="l"/>
            <a:r>
              <a:rPr sz="1200" b="1" i="0">
                <a:solidFill>
                  <a:srgbClr val="1E40AF"/>
                </a:solidFill>
                <a:latin typeface="Calibri"/>
              </a:rPr>
              <a:t>FUNCTIONAL REQUIREMENTS (FRs)</a:t>
            </a:r>
          </a:p>
        </p:txBody>
      </p:sp>
      <p:sp>
        <p:nvSpPr>
          <p:cNvPr id="7" name="Rectangle 6"/>
          <p:cNvSpPr/>
          <p:nvPr/>
        </p:nvSpPr>
        <p:spPr>
          <a:xfrm>
            <a:off x="640080" y="2011680"/>
            <a:ext cx="640080" cy="292608"/>
          </a:xfrm>
          <a:prstGeom prst="rect">
            <a:avLst/>
          </a:prstGeom>
          <a:solidFill>
            <a:srgbClr val="1E40AF"/>
          </a:solidFill>
          <a:ln w="1270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1">
                <a:solidFill>
                  <a:srgbClr val="FFFFFF"/>
                </a:solidFill>
                <a:latin typeface="Calibri"/>
              </a:rPr>
              <a:t>ID</a:t>
            </a:r>
          </a:p>
        </p:txBody>
      </p:sp>
      <p:sp>
        <p:nvSpPr>
          <p:cNvPr id="8" name="Rectangle 7"/>
          <p:cNvSpPr/>
          <p:nvPr/>
        </p:nvSpPr>
        <p:spPr>
          <a:xfrm>
            <a:off x="1280160" y="2011680"/>
            <a:ext cx="5303520" cy="292608"/>
          </a:xfrm>
          <a:prstGeom prst="rect">
            <a:avLst/>
          </a:prstGeom>
          <a:solidFill>
            <a:srgbClr val="1E40AF"/>
          </a:solidFill>
          <a:ln w="1270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1">
                <a:solidFill>
                  <a:srgbClr val="FFFFFF"/>
                </a:solidFill>
                <a:latin typeface="Calibri"/>
              </a:rPr>
              <a:t>Requirement</a:t>
            </a:r>
          </a:p>
        </p:txBody>
      </p:sp>
      <p:sp>
        <p:nvSpPr>
          <p:cNvPr id="9" name="Rectangle 8"/>
          <p:cNvSpPr/>
          <p:nvPr/>
        </p:nvSpPr>
        <p:spPr>
          <a:xfrm>
            <a:off x="6583680" y="2011680"/>
            <a:ext cx="1463040" cy="292608"/>
          </a:xfrm>
          <a:prstGeom prst="rect">
            <a:avLst/>
          </a:prstGeom>
          <a:solidFill>
            <a:srgbClr val="1E40AF"/>
          </a:solidFill>
          <a:ln w="1270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1">
                <a:solidFill>
                  <a:srgbClr val="FFFFFF"/>
                </a:solidFill>
                <a:latin typeface="Calibri"/>
              </a:rPr>
              <a:t>Maps to</a:t>
            </a:r>
          </a:p>
        </p:txBody>
      </p:sp>
      <p:sp>
        <p:nvSpPr>
          <p:cNvPr id="10" name="Rectangle 9"/>
          <p:cNvSpPr/>
          <p:nvPr/>
        </p:nvSpPr>
        <p:spPr>
          <a:xfrm>
            <a:off x="640080" y="2304288"/>
            <a:ext cx="640080" cy="365760"/>
          </a:xfrm>
          <a:prstGeom prst="rect">
            <a:avLst/>
          </a:prstGeom>
          <a:solidFill>
            <a:srgbClr val="FFFFFF"/>
          </a:solidFill>
          <a:ln w="63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1">
                <a:solidFill>
                  <a:srgbClr val="1F2937"/>
                </a:solidFill>
                <a:latin typeface="Calibri"/>
              </a:rPr>
              <a:t>FR1</a:t>
            </a:r>
          </a:p>
        </p:txBody>
      </p:sp>
      <p:sp>
        <p:nvSpPr>
          <p:cNvPr id="11" name="Rectangle 10"/>
          <p:cNvSpPr/>
          <p:nvPr/>
        </p:nvSpPr>
        <p:spPr>
          <a:xfrm>
            <a:off x="1280160" y="2304288"/>
            <a:ext cx="5303520" cy="365760"/>
          </a:xfrm>
          <a:prstGeom prst="rect">
            <a:avLst/>
          </a:prstGeom>
          <a:solidFill>
            <a:srgbClr val="FFFFFF"/>
          </a:solidFill>
          <a:ln w="63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0">
                <a:solidFill>
                  <a:srgbClr val="1F2937"/>
                </a:solidFill>
                <a:latin typeface="Calibri"/>
              </a:rPr>
              <a:t>Generate a random speaking prompt when a training session starts.</a:t>
            </a:r>
          </a:p>
        </p:txBody>
      </p:sp>
      <p:sp>
        <p:nvSpPr>
          <p:cNvPr id="12" name="Rectangle 11"/>
          <p:cNvSpPr/>
          <p:nvPr/>
        </p:nvSpPr>
        <p:spPr>
          <a:xfrm>
            <a:off x="6583680" y="2304288"/>
            <a:ext cx="1463040" cy="365760"/>
          </a:xfrm>
          <a:prstGeom prst="rect">
            <a:avLst/>
          </a:prstGeom>
          <a:solidFill>
            <a:srgbClr val="FFFFFF"/>
          </a:solidFill>
          <a:ln w="63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0">
                <a:solidFill>
                  <a:srgbClr val="1F2937"/>
                </a:solidFill>
                <a:latin typeface="Calibri"/>
              </a:rPr>
              <a:t>UC1</a:t>
            </a:r>
          </a:p>
        </p:txBody>
      </p:sp>
      <p:sp>
        <p:nvSpPr>
          <p:cNvPr id="13" name="Rectangle 12"/>
          <p:cNvSpPr/>
          <p:nvPr/>
        </p:nvSpPr>
        <p:spPr>
          <a:xfrm>
            <a:off x="640080" y="2670048"/>
            <a:ext cx="640080" cy="365760"/>
          </a:xfrm>
          <a:prstGeom prst="rect">
            <a:avLst/>
          </a:prstGeom>
          <a:solidFill>
            <a:srgbClr val="F4F6FB"/>
          </a:solidFill>
          <a:ln w="63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1">
                <a:solidFill>
                  <a:srgbClr val="1F2937"/>
                </a:solidFill>
                <a:latin typeface="Calibri"/>
              </a:rPr>
              <a:t>FR2</a:t>
            </a:r>
          </a:p>
        </p:txBody>
      </p:sp>
      <p:sp>
        <p:nvSpPr>
          <p:cNvPr id="14" name="Rectangle 13"/>
          <p:cNvSpPr/>
          <p:nvPr/>
        </p:nvSpPr>
        <p:spPr>
          <a:xfrm>
            <a:off x="1280160" y="2670048"/>
            <a:ext cx="5303520" cy="365760"/>
          </a:xfrm>
          <a:prstGeom prst="rect">
            <a:avLst/>
          </a:prstGeom>
          <a:solidFill>
            <a:srgbClr val="F4F6FB"/>
          </a:solidFill>
          <a:ln w="63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0">
                <a:solidFill>
                  <a:srgbClr val="1F2937"/>
                </a:solidFill>
                <a:latin typeface="Calibri"/>
              </a:rPr>
              <a:t>Let the user start an impromptu speaking exercise from the topic library.</a:t>
            </a:r>
          </a:p>
        </p:txBody>
      </p:sp>
      <p:sp>
        <p:nvSpPr>
          <p:cNvPr id="15" name="Rectangle 14"/>
          <p:cNvSpPr/>
          <p:nvPr/>
        </p:nvSpPr>
        <p:spPr>
          <a:xfrm>
            <a:off x="6583680" y="2670048"/>
            <a:ext cx="1463040" cy="365760"/>
          </a:xfrm>
          <a:prstGeom prst="rect">
            <a:avLst/>
          </a:prstGeom>
          <a:solidFill>
            <a:srgbClr val="F4F6FB"/>
          </a:solidFill>
          <a:ln w="63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0">
                <a:solidFill>
                  <a:srgbClr val="1F2937"/>
                </a:solidFill>
                <a:latin typeface="Calibri"/>
              </a:rPr>
              <a:t>UC1, UC2</a:t>
            </a:r>
          </a:p>
        </p:txBody>
      </p:sp>
      <p:sp>
        <p:nvSpPr>
          <p:cNvPr id="16" name="Rectangle 15"/>
          <p:cNvSpPr/>
          <p:nvPr/>
        </p:nvSpPr>
        <p:spPr>
          <a:xfrm>
            <a:off x="640080" y="3035808"/>
            <a:ext cx="640080" cy="365760"/>
          </a:xfrm>
          <a:prstGeom prst="rect">
            <a:avLst/>
          </a:prstGeom>
          <a:solidFill>
            <a:srgbClr val="FFFFFF"/>
          </a:solidFill>
          <a:ln w="63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1">
                <a:solidFill>
                  <a:srgbClr val="1F2937"/>
                </a:solidFill>
                <a:latin typeface="Calibri"/>
              </a:rPr>
              <a:t>FR3</a:t>
            </a:r>
          </a:p>
        </p:txBody>
      </p:sp>
      <p:sp>
        <p:nvSpPr>
          <p:cNvPr id="17" name="Rectangle 16"/>
          <p:cNvSpPr/>
          <p:nvPr/>
        </p:nvSpPr>
        <p:spPr>
          <a:xfrm>
            <a:off x="1280160" y="3035808"/>
            <a:ext cx="5303520" cy="365760"/>
          </a:xfrm>
          <a:prstGeom prst="rect">
            <a:avLst/>
          </a:prstGeom>
          <a:solidFill>
            <a:srgbClr val="FFFFFF"/>
          </a:solidFill>
          <a:ln w="63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0">
                <a:solidFill>
                  <a:srgbClr val="1F2937"/>
                </a:solidFill>
                <a:latin typeface="Calibri"/>
              </a:rPr>
              <a:t>Detect filler words ("um", "uh", "like", "you know") in the user's speech.</a:t>
            </a:r>
          </a:p>
        </p:txBody>
      </p:sp>
      <p:sp>
        <p:nvSpPr>
          <p:cNvPr id="18" name="Rectangle 17"/>
          <p:cNvSpPr/>
          <p:nvPr/>
        </p:nvSpPr>
        <p:spPr>
          <a:xfrm>
            <a:off x="6583680" y="3035808"/>
            <a:ext cx="1463040" cy="365760"/>
          </a:xfrm>
          <a:prstGeom prst="rect">
            <a:avLst/>
          </a:prstGeom>
          <a:solidFill>
            <a:srgbClr val="FFFFFF"/>
          </a:solidFill>
          <a:ln w="63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0">
                <a:solidFill>
                  <a:srgbClr val="1F2937"/>
                </a:solidFill>
                <a:latin typeface="Calibri"/>
              </a:rPr>
              <a:t>UC2, UC3</a:t>
            </a:r>
          </a:p>
        </p:txBody>
      </p:sp>
      <p:sp>
        <p:nvSpPr>
          <p:cNvPr id="19" name="Rectangle 18"/>
          <p:cNvSpPr/>
          <p:nvPr/>
        </p:nvSpPr>
        <p:spPr>
          <a:xfrm>
            <a:off x="640080" y="3401568"/>
            <a:ext cx="640080" cy="365760"/>
          </a:xfrm>
          <a:prstGeom prst="rect">
            <a:avLst/>
          </a:prstGeom>
          <a:solidFill>
            <a:srgbClr val="F4F6FB"/>
          </a:solidFill>
          <a:ln w="63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1">
                <a:solidFill>
                  <a:srgbClr val="1F2937"/>
                </a:solidFill>
                <a:latin typeface="Calibri"/>
              </a:rPr>
              <a:t>FR4</a:t>
            </a:r>
          </a:p>
        </p:txBody>
      </p:sp>
      <p:sp>
        <p:nvSpPr>
          <p:cNvPr id="20" name="Rectangle 19"/>
          <p:cNvSpPr/>
          <p:nvPr/>
        </p:nvSpPr>
        <p:spPr>
          <a:xfrm>
            <a:off x="1280160" y="3401568"/>
            <a:ext cx="5303520" cy="365760"/>
          </a:xfrm>
          <a:prstGeom prst="rect">
            <a:avLst/>
          </a:prstGeom>
          <a:solidFill>
            <a:srgbClr val="F4F6FB"/>
          </a:solidFill>
          <a:ln w="63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0">
                <a:solidFill>
                  <a:srgbClr val="1F2937"/>
                </a:solidFill>
                <a:latin typeface="Calibri"/>
              </a:rPr>
              <a:t>Provide a live transcript while the user is recording.</a:t>
            </a:r>
          </a:p>
        </p:txBody>
      </p:sp>
      <p:sp>
        <p:nvSpPr>
          <p:cNvPr id="21" name="Rectangle 20"/>
          <p:cNvSpPr/>
          <p:nvPr/>
        </p:nvSpPr>
        <p:spPr>
          <a:xfrm>
            <a:off x="6583680" y="3401568"/>
            <a:ext cx="1463040" cy="365760"/>
          </a:xfrm>
          <a:prstGeom prst="rect">
            <a:avLst/>
          </a:prstGeom>
          <a:solidFill>
            <a:srgbClr val="F4F6FB"/>
          </a:solidFill>
          <a:ln w="63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0">
                <a:solidFill>
                  <a:srgbClr val="1F2937"/>
                </a:solidFill>
                <a:latin typeface="Calibri"/>
              </a:rPr>
              <a:t>UC2</a:t>
            </a:r>
          </a:p>
        </p:txBody>
      </p:sp>
      <p:sp>
        <p:nvSpPr>
          <p:cNvPr id="22" name="Rectangle 21"/>
          <p:cNvSpPr/>
          <p:nvPr/>
        </p:nvSpPr>
        <p:spPr>
          <a:xfrm>
            <a:off x="640080" y="3767328"/>
            <a:ext cx="640080" cy="365760"/>
          </a:xfrm>
          <a:prstGeom prst="rect">
            <a:avLst/>
          </a:prstGeom>
          <a:solidFill>
            <a:srgbClr val="FFFFFF"/>
          </a:solidFill>
          <a:ln w="63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1">
                <a:solidFill>
                  <a:srgbClr val="1F2937"/>
                </a:solidFill>
                <a:latin typeface="Calibri"/>
              </a:rPr>
              <a:t>FR5</a:t>
            </a:r>
          </a:p>
        </p:txBody>
      </p:sp>
      <p:sp>
        <p:nvSpPr>
          <p:cNvPr id="23" name="Rectangle 22"/>
          <p:cNvSpPr/>
          <p:nvPr/>
        </p:nvSpPr>
        <p:spPr>
          <a:xfrm>
            <a:off x="1280160" y="3767328"/>
            <a:ext cx="5303520" cy="365760"/>
          </a:xfrm>
          <a:prstGeom prst="rect">
            <a:avLst/>
          </a:prstGeom>
          <a:solidFill>
            <a:srgbClr val="FFFFFF"/>
          </a:solidFill>
          <a:ln w="63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0">
                <a:solidFill>
                  <a:srgbClr val="1F2937"/>
                </a:solidFill>
                <a:latin typeface="Calibri"/>
              </a:rPr>
              <a:t>Produce a dashboard showing filler-word progress over time.</a:t>
            </a:r>
          </a:p>
        </p:txBody>
      </p:sp>
      <p:sp>
        <p:nvSpPr>
          <p:cNvPr id="24" name="Rectangle 23"/>
          <p:cNvSpPr/>
          <p:nvPr/>
        </p:nvSpPr>
        <p:spPr>
          <a:xfrm>
            <a:off x="6583680" y="3767328"/>
            <a:ext cx="1463040" cy="365760"/>
          </a:xfrm>
          <a:prstGeom prst="rect">
            <a:avLst/>
          </a:prstGeom>
          <a:solidFill>
            <a:srgbClr val="FFFFFF"/>
          </a:solidFill>
          <a:ln w="63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0">
                <a:solidFill>
                  <a:srgbClr val="1F2937"/>
                </a:solidFill>
                <a:latin typeface="Calibri"/>
              </a:rPr>
              <a:t>UC3</a:t>
            </a:r>
          </a:p>
        </p:txBody>
      </p:sp>
      <p:sp>
        <p:nvSpPr>
          <p:cNvPr id="25" name="Rectangle 24"/>
          <p:cNvSpPr/>
          <p:nvPr/>
        </p:nvSpPr>
        <p:spPr>
          <a:xfrm>
            <a:off x="640080" y="4133088"/>
            <a:ext cx="640080" cy="365760"/>
          </a:xfrm>
          <a:prstGeom prst="rect">
            <a:avLst/>
          </a:prstGeom>
          <a:solidFill>
            <a:srgbClr val="F4F6FB"/>
          </a:solidFill>
          <a:ln w="63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1">
                <a:solidFill>
                  <a:srgbClr val="1F2937"/>
                </a:solidFill>
                <a:latin typeface="Calibri"/>
              </a:rPr>
              <a:t>FR6</a:t>
            </a:r>
          </a:p>
        </p:txBody>
      </p:sp>
      <p:sp>
        <p:nvSpPr>
          <p:cNvPr id="26" name="Rectangle 25"/>
          <p:cNvSpPr/>
          <p:nvPr/>
        </p:nvSpPr>
        <p:spPr>
          <a:xfrm>
            <a:off x="1280160" y="4133088"/>
            <a:ext cx="5303520" cy="365760"/>
          </a:xfrm>
          <a:prstGeom prst="rect">
            <a:avLst/>
          </a:prstGeom>
          <a:solidFill>
            <a:srgbClr val="F4F6FB"/>
          </a:solidFill>
          <a:ln w="63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0">
                <a:solidFill>
                  <a:srgbClr val="1F2937"/>
                </a:solidFill>
                <a:latin typeface="Calibri"/>
              </a:rPr>
              <a:t>Provide a teleprompter that scrolls at a user-selectable speed.</a:t>
            </a:r>
          </a:p>
        </p:txBody>
      </p:sp>
      <p:sp>
        <p:nvSpPr>
          <p:cNvPr id="27" name="Rectangle 26"/>
          <p:cNvSpPr/>
          <p:nvPr/>
        </p:nvSpPr>
        <p:spPr>
          <a:xfrm>
            <a:off x="6583680" y="4133088"/>
            <a:ext cx="1463040" cy="365760"/>
          </a:xfrm>
          <a:prstGeom prst="rect">
            <a:avLst/>
          </a:prstGeom>
          <a:solidFill>
            <a:srgbClr val="F4F6FB"/>
          </a:solidFill>
          <a:ln w="63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0">
                <a:solidFill>
                  <a:srgbClr val="1F2937"/>
                </a:solidFill>
                <a:latin typeface="Calibri"/>
              </a:rPr>
              <a:t>(Teleprompter)</a:t>
            </a:r>
          </a:p>
        </p:txBody>
      </p:sp>
      <p:sp>
        <p:nvSpPr>
          <p:cNvPr id="28" name="Rectangle 27"/>
          <p:cNvSpPr/>
          <p:nvPr/>
        </p:nvSpPr>
        <p:spPr>
          <a:xfrm>
            <a:off x="640080" y="4498848"/>
            <a:ext cx="640080" cy="365760"/>
          </a:xfrm>
          <a:prstGeom prst="rect">
            <a:avLst/>
          </a:prstGeom>
          <a:solidFill>
            <a:srgbClr val="FFFFFF"/>
          </a:solidFill>
          <a:ln w="63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1">
                <a:solidFill>
                  <a:srgbClr val="1F2937"/>
                </a:solidFill>
                <a:latin typeface="Calibri"/>
              </a:rPr>
              <a:t>FR7</a:t>
            </a:r>
          </a:p>
        </p:txBody>
      </p:sp>
      <p:sp>
        <p:nvSpPr>
          <p:cNvPr id="29" name="Rectangle 28"/>
          <p:cNvSpPr/>
          <p:nvPr/>
        </p:nvSpPr>
        <p:spPr>
          <a:xfrm>
            <a:off x="1280160" y="4498848"/>
            <a:ext cx="5303520" cy="365760"/>
          </a:xfrm>
          <a:prstGeom prst="rect">
            <a:avLst/>
          </a:prstGeom>
          <a:solidFill>
            <a:srgbClr val="FFFFFF"/>
          </a:solidFill>
          <a:ln w="63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0">
                <a:solidFill>
                  <a:srgbClr val="1F2937"/>
                </a:solidFill>
                <a:latin typeface="Calibri"/>
              </a:rPr>
              <a:t>Let the user create an account and log in.</a:t>
            </a:r>
          </a:p>
        </p:txBody>
      </p:sp>
      <p:sp>
        <p:nvSpPr>
          <p:cNvPr id="30" name="Rectangle 29"/>
          <p:cNvSpPr/>
          <p:nvPr/>
        </p:nvSpPr>
        <p:spPr>
          <a:xfrm>
            <a:off x="6583680" y="4498848"/>
            <a:ext cx="1463040" cy="365760"/>
          </a:xfrm>
          <a:prstGeom prst="rect">
            <a:avLst/>
          </a:prstGeom>
          <a:solidFill>
            <a:srgbClr val="FFFFFF"/>
          </a:solidFill>
          <a:ln w="63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0">
                <a:solidFill>
                  <a:srgbClr val="1F2937"/>
                </a:solidFill>
                <a:latin typeface="Calibri"/>
              </a:rPr>
              <a:t>(supporting)</a:t>
            </a:r>
          </a:p>
        </p:txBody>
      </p:sp>
      <p:sp>
        <p:nvSpPr>
          <p:cNvPr id="31" name="Rectangle 30"/>
          <p:cNvSpPr/>
          <p:nvPr/>
        </p:nvSpPr>
        <p:spPr>
          <a:xfrm>
            <a:off x="640080" y="4864608"/>
            <a:ext cx="640080" cy="365760"/>
          </a:xfrm>
          <a:prstGeom prst="rect">
            <a:avLst/>
          </a:prstGeom>
          <a:solidFill>
            <a:srgbClr val="F4F6FB"/>
          </a:solidFill>
          <a:ln w="63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1">
                <a:solidFill>
                  <a:srgbClr val="1F2937"/>
                </a:solidFill>
                <a:latin typeface="Calibri"/>
              </a:rPr>
              <a:t>FR8</a:t>
            </a:r>
          </a:p>
        </p:txBody>
      </p:sp>
      <p:sp>
        <p:nvSpPr>
          <p:cNvPr id="32" name="Rectangle 31"/>
          <p:cNvSpPr/>
          <p:nvPr/>
        </p:nvSpPr>
        <p:spPr>
          <a:xfrm>
            <a:off x="1280160" y="4864608"/>
            <a:ext cx="5303520" cy="365760"/>
          </a:xfrm>
          <a:prstGeom prst="rect">
            <a:avLst/>
          </a:prstGeom>
          <a:solidFill>
            <a:srgbClr val="F4F6FB"/>
          </a:solidFill>
          <a:ln w="63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0">
                <a:solidFill>
                  <a:srgbClr val="1F2937"/>
                </a:solidFill>
                <a:latin typeface="Calibri"/>
              </a:rPr>
              <a:t>Analyse how relevant the user's speech is to the provided topic.</a:t>
            </a:r>
          </a:p>
        </p:txBody>
      </p:sp>
      <p:sp>
        <p:nvSpPr>
          <p:cNvPr id="33" name="Rectangle 32"/>
          <p:cNvSpPr/>
          <p:nvPr/>
        </p:nvSpPr>
        <p:spPr>
          <a:xfrm>
            <a:off x="6583680" y="4864608"/>
            <a:ext cx="1463040" cy="365760"/>
          </a:xfrm>
          <a:prstGeom prst="rect">
            <a:avLst/>
          </a:prstGeom>
          <a:solidFill>
            <a:srgbClr val="F4F6FB"/>
          </a:solidFill>
          <a:ln w="63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0">
                <a:solidFill>
                  <a:srgbClr val="1F2937"/>
                </a:solidFill>
                <a:latin typeface="Calibri"/>
              </a:rPr>
              <a:t>UC3</a:t>
            </a:r>
          </a:p>
        </p:txBody>
      </p:sp>
      <p:sp>
        <p:nvSpPr>
          <p:cNvPr id="34" name="Rectangle 33"/>
          <p:cNvSpPr/>
          <p:nvPr/>
        </p:nvSpPr>
        <p:spPr>
          <a:xfrm>
            <a:off x="640080" y="5230368"/>
            <a:ext cx="640080" cy="365760"/>
          </a:xfrm>
          <a:prstGeom prst="rect">
            <a:avLst/>
          </a:prstGeom>
          <a:solidFill>
            <a:srgbClr val="FFFFFF"/>
          </a:solidFill>
          <a:ln w="63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1">
                <a:solidFill>
                  <a:srgbClr val="1F2937"/>
                </a:solidFill>
                <a:latin typeface="Calibri"/>
              </a:rPr>
              <a:t>FR9</a:t>
            </a:r>
          </a:p>
        </p:txBody>
      </p:sp>
      <p:sp>
        <p:nvSpPr>
          <p:cNvPr id="35" name="Rectangle 34"/>
          <p:cNvSpPr/>
          <p:nvPr/>
        </p:nvSpPr>
        <p:spPr>
          <a:xfrm>
            <a:off x="1280160" y="5230368"/>
            <a:ext cx="5303520" cy="365760"/>
          </a:xfrm>
          <a:prstGeom prst="rect">
            <a:avLst/>
          </a:prstGeom>
          <a:solidFill>
            <a:srgbClr val="FFFFFF"/>
          </a:solidFill>
          <a:ln w="63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0">
                <a:solidFill>
                  <a:srgbClr val="1F2937"/>
                </a:solidFill>
                <a:latin typeface="Calibri"/>
              </a:rPr>
              <a:t>Let the user delete their account and all DrillSessions.</a:t>
            </a:r>
          </a:p>
        </p:txBody>
      </p:sp>
      <p:sp>
        <p:nvSpPr>
          <p:cNvPr id="36" name="Rectangle 35"/>
          <p:cNvSpPr/>
          <p:nvPr/>
        </p:nvSpPr>
        <p:spPr>
          <a:xfrm>
            <a:off x="6583680" y="5230368"/>
            <a:ext cx="1463040" cy="365760"/>
          </a:xfrm>
          <a:prstGeom prst="rect">
            <a:avLst/>
          </a:prstGeom>
          <a:solidFill>
            <a:srgbClr val="FFFFFF"/>
          </a:solidFill>
          <a:ln w="63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000" b="0">
                <a:solidFill>
                  <a:srgbClr val="1F2937"/>
                </a:solidFill>
                <a:latin typeface="Calibri"/>
              </a:rPr>
              <a:t>(supporting)</a:t>
            </a:r>
          </a:p>
        </p:txBody>
      </p:sp>
      <p:sp>
        <p:nvSpPr>
          <p:cNvPr id="37" name="Rounded Rectangle 36"/>
          <p:cNvSpPr/>
          <p:nvPr/>
        </p:nvSpPr>
        <p:spPr>
          <a:xfrm>
            <a:off x="8229600" y="1463040"/>
            <a:ext cx="3502152" cy="5120640"/>
          </a:xfrm>
          <a:prstGeom prst="roundRect">
            <a:avLst>
              <a:gd name="adj" fmla="val 10000"/>
            </a:avLst>
          </a:prstGeom>
          <a:solidFill>
            <a:srgbClr val="FFFFFF"/>
          </a:solidFill>
          <a:ln w="19050">
            <a:solidFill>
              <a:srgbClr val="9F123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8" name="TextBox 37"/>
          <p:cNvSpPr txBox="1"/>
          <p:nvPr/>
        </p:nvSpPr>
        <p:spPr>
          <a:xfrm>
            <a:off x="8412480" y="1600200"/>
            <a:ext cx="3291840" cy="365760"/>
          </a:xfrm>
          <a:prstGeom prst="rect">
            <a:avLst/>
          </a:prstGeom>
          <a:noFill/>
        </p:spPr>
        <p:txBody>
          <a:bodyPr wrap="square" lIns="45720" rIns="45720" tIns="18288" bIns="18288" anchor="t">
            <a:spAutoFit/>
          </a:bodyPr>
          <a:lstStyle/>
          <a:p>
            <a:pPr algn="l"/>
            <a:r>
              <a:rPr sz="1200" b="1" i="0">
                <a:solidFill>
                  <a:srgbClr val="9F1239"/>
                </a:solidFill>
                <a:latin typeface="Calibri"/>
              </a:rPr>
              <a:t>NON-FUNCTIONAL (NFRs)</a:t>
            </a:r>
          </a:p>
        </p:txBody>
      </p:sp>
      <p:sp>
        <p:nvSpPr>
          <p:cNvPr id="39" name="Rounded Rectangle 38"/>
          <p:cNvSpPr/>
          <p:nvPr/>
        </p:nvSpPr>
        <p:spPr>
          <a:xfrm>
            <a:off x="8412480" y="2011680"/>
            <a:ext cx="3108960" cy="868680"/>
          </a:xfrm>
          <a:prstGeom prst="roundRect">
            <a:avLst>
              <a:gd name="adj" fmla="val 10000"/>
            </a:avLst>
          </a:prstGeom>
          <a:solidFill>
            <a:srgbClr val="F4F6FB"/>
          </a:solidFill>
          <a:ln w="10160">
            <a:solidFill>
              <a:srgbClr val="9F123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0" name="TextBox 39"/>
          <p:cNvSpPr txBox="1"/>
          <p:nvPr/>
        </p:nvSpPr>
        <p:spPr>
          <a:xfrm>
            <a:off x="8503920" y="2066544"/>
            <a:ext cx="2011680" cy="274320"/>
          </a:xfrm>
          <a:prstGeom prst="rect">
            <a:avLst/>
          </a:prstGeom>
          <a:noFill/>
        </p:spPr>
        <p:txBody>
          <a:bodyPr wrap="square" lIns="45720" rIns="45720" tIns="18288" bIns="18288" anchor="t">
            <a:spAutoFit/>
          </a:bodyPr>
          <a:lstStyle/>
          <a:p>
            <a:pPr algn="l"/>
            <a:r>
              <a:rPr sz="1000" b="1" i="0">
                <a:solidFill>
                  <a:srgbClr val="9F1239"/>
                </a:solidFill>
                <a:latin typeface="Calibri"/>
              </a:rPr>
              <a:t>NFR1</a:t>
            </a:r>
          </a:p>
        </p:txBody>
      </p:sp>
      <p:sp>
        <p:nvSpPr>
          <p:cNvPr id="41" name="TextBox 40"/>
          <p:cNvSpPr txBox="1"/>
          <p:nvPr/>
        </p:nvSpPr>
        <p:spPr>
          <a:xfrm>
            <a:off x="9875520" y="2066544"/>
            <a:ext cx="1554480" cy="274320"/>
          </a:xfrm>
          <a:prstGeom prst="rect">
            <a:avLst/>
          </a:prstGeom>
          <a:noFill/>
        </p:spPr>
        <p:txBody>
          <a:bodyPr wrap="square" lIns="45720" rIns="45720" tIns="18288" bIns="18288" anchor="t">
            <a:spAutoFit/>
          </a:bodyPr>
          <a:lstStyle/>
          <a:p>
            <a:pPr algn="r"/>
            <a:r>
              <a:rPr sz="900" b="1" i="1">
                <a:solidFill>
                  <a:srgbClr val="6B7280"/>
                </a:solidFill>
                <a:latin typeface="Calibri"/>
              </a:rPr>
              <a:t>Performance</a:t>
            </a:r>
          </a:p>
        </p:txBody>
      </p:sp>
      <p:sp>
        <p:nvSpPr>
          <p:cNvPr id="42" name="TextBox 41"/>
          <p:cNvSpPr txBox="1"/>
          <p:nvPr/>
        </p:nvSpPr>
        <p:spPr>
          <a:xfrm>
            <a:off x="8503920" y="2331720"/>
            <a:ext cx="2926080" cy="548640"/>
          </a:xfrm>
          <a:prstGeom prst="rect">
            <a:avLst/>
          </a:prstGeom>
          <a:noFill/>
        </p:spPr>
        <p:txBody>
          <a:bodyPr wrap="square" lIns="45720" rIns="45720" tIns="18288" bIns="18288" anchor="t">
            <a:spAutoFit/>
          </a:bodyPr>
          <a:lstStyle/>
          <a:p>
            <a:pPr algn="l"/>
            <a:r>
              <a:rPr sz="1000" b="0" i="0">
                <a:solidFill>
                  <a:srgbClr val="1F2937"/>
                </a:solidFill>
                <a:latin typeface="Calibri"/>
              </a:rPr>
              <a:t>Response ≤ 5 s for UI inputs.</a:t>
            </a:r>
          </a:p>
        </p:txBody>
      </p:sp>
      <p:sp>
        <p:nvSpPr>
          <p:cNvPr id="43" name="Rounded Rectangle 42"/>
          <p:cNvSpPr/>
          <p:nvPr/>
        </p:nvSpPr>
        <p:spPr>
          <a:xfrm>
            <a:off x="8412480" y="2971800"/>
            <a:ext cx="3108960" cy="868680"/>
          </a:xfrm>
          <a:prstGeom prst="roundRect">
            <a:avLst>
              <a:gd name="adj" fmla="val 10000"/>
            </a:avLst>
          </a:prstGeom>
          <a:solidFill>
            <a:srgbClr val="F4F6FB"/>
          </a:solidFill>
          <a:ln w="10160">
            <a:solidFill>
              <a:srgbClr val="9F123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4" name="TextBox 43"/>
          <p:cNvSpPr txBox="1"/>
          <p:nvPr/>
        </p:nvSpPr>
        <p:spPr>
          <a:xfrm>
            <a:off x="8503920" y="3026664"/>
            <a:ext cx="2011680" cy="274320"/>
          </a:xfrm>
          <a:prstGeom prst="rect">
            <a:avLst/>
          </a:prstGeom>
          <a:noFill/>
        </p:spPr>
        <p:txBody>
          <a:bodyPr wrap="square" lIns="45720" rIns="45720" tIns="18288" bIns="18288" anchor="t">
            <a:spAutoFit/>
          </a:bodyPr>
          <a:lstStyle/>
          <a:p>
            <a:pPr algn="l"/>
            <a:r>
              <a:rPr sz="1000" b="1" i="0">
                <a:solidFill>
                  <a:srgbClr val="9F1239"/>
                </a:solidFill>
                <a:latin typeface="Calibri"/>
              </a:rPr>
              <a:t>NFR2</a:t>
            </a:r>
          </a:p>
        </p:txBody>
      </p:sp>
      <p:sp>
        <p:nvSpPr>
          <p:cNvPr id="45" name="TextBox 44"/>
          <p:cNvSpPr txBox="1"/>
          <p:nvPr/>
        </p:nvSpPr>
        <p:spPr>
          <a:xfrm>
            <a:off x="9875520" y="3026664"/>
            <a:ext cx="1554480" cy="274320"/>
          </a:xfrm>
          <a:prstGeom prst="rect">
            <a:avLst/>
          </a:prstGeom>
          <a:noFill/>
        </p:spPr>
        <p:txBody>
          <a:bodyPr wrap="square" lIns="45720" rIns="45720" tIns="18288" bIns="18288" anchor="t">
            <a:spAutoFit/>
          </a:bodyPr>
          <a:lstStyle/>
          <a:p>
            <a:pPr algn="r"/>
            <a:r>
              <a:rPr sz="900" b="1" i="1">
                <a:solidFill>
                  <a:srgbClr val="6B7280"/>
                </a:solidFill>
                <a:latin typeface="Calibri"/>
              </a:rPr>
              <a:t>Usability</a:t>
            </a:r>
          </a:p>
        </p:txBody>
      </p:sp>
      <p:sp>
        <p:nvSpPr>
          <p:cNvPr id="46" name="TextBox 45"/>
          <p:cNvSpPr txBox="1"/>
          <p:nvPr/>
        </p:nvSpPr>
        <p:spPr>
          <a:xfrm>
            <a:off x="8503920" y="3291840"/>
            <a:ext cx="2926080" cy="548640"/>
          </a:xfrm>
          <a:prstGeom prst="rect">
            <a:avLst/>
          </a:prstGeom>
          <a:noFill/>
        </p:spPr>
        <p:txBody>
          <a:bodyPr wrap="square" lIns="45720" rIns="45720" tIns="18288" bIns="18288" anchor="t">
            <a:spAutoFit/>
          </a:bodyPr>
          <a:lstStyle/>
          <a:p>
            <a:pPr algn="l"/>
            <a:r>
              <a:rPr sz="1000" b="0" i="0">
                <a:solidFill>
                  <a:srgbClr val="1F2937"/>
                </a:solidFill>
                <a:latin typeface="Calibri"/>
              </a:rPr>
              <a:t>New user learns help feature in ≤ 10 min.</a:t>
            </a:r>
          </a:p>
        </p:txBody>
      </p:sp>
      <p:sp>
        <p:nvSpPr>
          <p:cNvPr id="47" name="Rounded Rectangle 46"/>
          <p:cNvSpPr/>
          <p:nvPr/>
        </p:nvSpPr>
        <p:spPr>
          <a:xfrm>
            <a:off x="8412480" y="3931920"/>
            <a:ext cx="3108960" cy="868680"/>
          </a:xfrm>
          <a:prstGeom prst="roundRect">
            <a:avLst>
              <a:gd name="adj" fmla="val 10000"/>
            </a:avLst>
          </a:prstGeom>
          <a:solidFill>
            <a:srgbClr val="F4F6FB"/>
          </a:solidFill>
          <a:ln w="10160">
            <a:solidFill>
              <a:srgbClr val="9F123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8" name="TextBox 47"/>
          <p:cNvSpPr txBox="1"/>
          <p:nvPr/>
        </p:nvSpPr>
        <p:spPr>
          <a:xfrm>
            <a:off x="8503920" y="3986783"/>
            <a:ext cx="2011680" cy="274320"/>
          </a:xfrm>
          <a:prstGeom prst="rect">
            <a:avLst/>
          </a:prstGeom>
          <a:noFill/>
        </p:spPr>
        <p:txBody>
          <a:bodyPr wrap="square" lIns="45720" rIns="45720" tIns="18288" bIns="18288" anchor="t">
            <a:spAutoFit/>
          </a:bodyPr>
          <a:lstStyle/>
          <a:p>
            <a:pPr algn="l"/>
            <a:r>
              <a:rPr sz="1000" b="1" i="0">
                <a:solidFill>
                  <a:srgbClr val="9F1239"/>
                </a:solidFill>
                <a:latin typeface="Calibri"/>
              </a:rPr>
              <a:t>NFR3</a:t>
            </a:r>
          </a:p>
        </p:txBody>
      </p:sp>
      <p:sp>
        <p:nvSpPr>
          <p:cNvPr id="49" name="TextBox 48"/>
          <p:cNvSpPr txBox="1"/>
          <p:nvPr/>
        </p:nvSpPr>
        <p:spPr>
          <a:xfrm>
            <a:off x="9875520" y="3986783"/>
            <a:ext cx="1554480" cy="274320"/>
          </a:xfrm>
          <a:prstGeom prst="rect">
            <a:avLst/>
          </a:prstGeom>
          <a:noFill/>
        </p:spPr>
        <p:txBody>
          <a:bodyPr wrap="square" lIns="45720" rIns="45720" tIns="18288" bIns="18288" anchor="t">
            <a:spAutoFit/>
          </a:bodyPr>
          <a:lstStyle/>
          <a:p>
            <a:pPr algn="r"/>
            <a:r>
              <a:rPr sz="900" b="1" i="1">
                <a:solidFill>
                  <a:srgbClr val="6B7280"/>
                </a:solidFill>
                <a:latin typeface="Calibri"/>
              </a:rPr>
              <a:t>Security</a:t>
            </a:r>
          </a:p>
        </p:txBody>
      </p:sp>
      <p:sp>
        <p:nvSpPr>
          <p:cNvPr id="50" name="TextBox 49"/>
          <p:cNvSpPr txBox="1"/>
          <p:nvPr/>
        </p:nvSpPr>
        <p:spPr>
          <a:xfrm>
            <a:off x="8503920" y="4251959"/>
            <a:ext cx="2926080" cy="548640"/>
          </a:xfrm>
          <a:prstGeom prst="rect">
            <a:avLst/>
          </a:prstGeom>
          <a:noFill/>
        </p:spPr>
        <p:txBody>
          <a:bodyPr wrap="square" lIns="45720" rIns="45720" tIns="18288" bIns="18288" anchor="t">
            <a:spAutoFit/>
          </a:bodyPr>
          <a:lstStyle/>
          <a:p>
            <a:pPr algn="l"/>
            <a:r>
              <a:rPr sz="1000" b="0" i="0">
                <a:solidFill>
                  <a:srgbClr val="1F2937"/>
                </a:solidFill>
                <a:latin typeface="Calibri"/>
              </a:rPr>
              <a:t>AudioRecording stored only on user's account, encrypted in transit.</a:t>
            </a:r>
          </a:p>
        </p:txBody>
      </p:sp>
      <p:sp>
        <p:nvSpPr>
          <p:cNvPr id="51" name="Rounded Rectangle 50"/>
          <p:cNvSpPr/>
          <p:nvPr/>
        </p:nvSpPr>
        <p:spPr>
          <a:xfrm>
            <a:off x="8412480" y="4892040"/>
            <a:ext cx="3108960" cy="868680"/>
          </a:xfrm>
          <a:prstGeom prst="roundRect">
            <a:avLst>
              <a:gd name="adj" fmla="val 10000"/>
            </a:avLst>
          </a:prstGeom>
          <a:solidFill>
            <a:srgbClr val="F4F6FB"/>
          </a:solidFill>
          <a:ln w="10160">
            <a:solidFill>
              <a:srgbClr val="9F123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2" name="TextBox 51"/>
          <p:cNvSpPr txBox="1"/>
          <p:nvPr/>
        </p:nvSpPr>
        <p:spPr>
          <a:xfrm>
            <a:off x="8503920" y="4946903"/>
            <a:ext cx="2011680" cy="274320"/>
          </a:xfrm>
          <a:prstGeom prst="rect">
            <a:avLst/>
          </a:prstGeom>
          <a:noFill/>
        </p:spPr>
        <p:txBody>
          <a:bodyPr wrap="square" lIns="45720" rIns="45720" tIns="18288" bIns="18288" anchor="t">
            <a:spAutoFit/>
          </a:bodyPr>
          <a:lstStyle/>
          <a:p>
            <a:pPr algn="l"/>
            <a:r>
              <a:rPr sz="1000" b="1" i="0">
                <a:solidFill>
                  <a:srgbClr val="9F1239"/>
                </a:solidFill>
                <a:latin typeface="Calibri"/>
              </a:rPr>
              <a:t>NFR4</a:t>
            </a:r>
          </a:p>
        </p:txBody>
      </p:sp>
      <p:sp>
        <p:nvSpPr>
          <p:cNvPr id="53" name="TextBox 52"/>
          <p:cNvSpPr txBox="1"/>
          <p:nvPr/>
        </p:nvSpPr>
        <p:spPr>
          <a:xfrm>
            <a:off x="9875520" y="4946903"/>
            <a:ext cx="1554480" cy="274320"/>
          </a:xfrm>
          <a:prstGeom prst="rect">
            <a:avLst/>
          </a:prstGeom>
          <a:noFill/>
        </p:spPr>
        <p:txBody>
          <a:bodyPr wrap="square" lIns="45720" rIns="45720" tIns="18288" bIns="18288" anchor="t">
            <a:spAutoFit/>
          </a:bodyPr>
          <a:lstStyle/>
          <a:p>
            <a:pPr algn="r"/>
            <a:r>
              <a:rPr sz="900" b="1" i="1">
                <a:solidFill>
                  <a:srgbClr val="6B7280"/>
                </a:solidFill>
                <a:latin typeface="Calibri"/>
              </a:rPr>
              <a:t>Reliability</a:t>
            </a:r>
          </a:p>
        </p:txBody>
      </p:sp>
      <p:sp>
        <p:nvSpPr>
          <p:cNvPr id="54" name="TextBox 53"/>
          <p:cNvSpPr txBox="1"/>
          <p:nvPr/>
        </p:nvSpPr>
        <p:spPr>
          <a:xfrm>
            <a:off x="8503920" y="5212079"/>
            <a:ext cx="2926080" cy="548640"/>
          </a:xfrm>
          <a:prstGeom prst="rect">
            <a:avLst/>
          </a:prstGeom>
          <a:noFill/>
        </p:spPr>
        <p:txBody>
          <a:bodyPr wrap="square" lIns="45720" rIns="45720" tIns="18288" bIns="18288" anchor="t">
            <a:spAutoFit/>
          </a:bodyPr>
          <a:lstStyle/>
          <a:p>
            <a:pPr algn="l"/>
            <a:r>
              <a:rPr sz="1000" b="0" i="0">
                <a:solidFill>
                  <a:srgbClr val="1F2937"/>
                </a:solidFill>
                <a:latin typeface="Calibri"/>
              </a:rPr>
              <a:t>Graceful degradation when AIAnalysisService is down.</a:t>
            </a:r>
          </a:p>
        </p:txBody>
      </p:sp>
      <p:sp>
        <p:nvSpPr>
          <p:cNvPr id="55" name="Rounded Rectangle 54"/>
          <p:cNvSpPr/>
          <p:nvPr/>
        </p:nvSpPr>
        <p:spPr>
          <a:xfrm>
            <a:off x="8412480" y="5852159"/>
            <a:ext cx="3108960" cy="868680"/>
          </a:xfrm>
          <a:prstGeom prst="roundRect">
            <a:avLst>
              <a:gd name="adj" fmla="val 10000"/>
            </a:avLst>
          </a:prstGeom>
          <a:solidFill>
            <a:srgbClr val="F4F6FB"/>
          </a:solidFill>
          <a:ln w="10160">
            <a:solidFill>
              <a:srgbClr val="9F123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6" name="TextBox 55"/>
          <p:cNvSpPr txBox="1"/>
          <p:nvPr/>
        </p:nvSpPr>
        <p:spPr>
          <a:xfrm>
            <a:off x="8503920" y="5907023"/>
            <a:ext cx="2011680" cy="274320"/>
          </a:xfrm>
          <a:prstGeom prst="rect">
            <a:avLst/>
          </a:prstGeom>
          <a:noFill/>
        </p:spPr>
        <p:txBody>
          <a:bodyPr wrap="square" lIns="45720" rIns="45720" tIns="18288" bIns="18288" anchor="t">
            <a:spAutoFit/>
          </a:bodyPr>
          <a:lstStyle/>
          <a:p>
            <a:pPr algn="l"/>
            <a:r>
              <a:rPr sz="1000" b="1" i="0">
                <a:solidFill>
                  <a:srgbClr val="9F1239"/>
                </a:solidFill>
                <a:latin typeface="Calibri"/>
              </a:rPr>
              <a:t>NFR5</a:t>
            </a:r>
          </a:p>
        </p:txBody>
      </p:sp>
      <p:sp>
        <p:nvSpPr>
          <p:cNvPr id="57" name="TextBox 56"/>
          <p:cNvSpPr txBox="1"/>
          <p:nvPr/>
        </p:nvSpPr>
        <p:spPr>
          <a:xfrm>
            <a:off x="9875520" y="5907023"/>
            <a:ext cx="1554480" cy="274320"/>
          </a:xfrm>
          <a:prstGeom prst="rect">
            <a:avLst/>
          </a:prstGeom>
          <a:noFill/>
        </p:spPr>
        <p:txBody>
          <a:bodyPr wrap="square" lIns="45720" rIns="45720" tIns="18288" bIns="18288" anchor="t">
            <a:spAutoFit/>
          </a:bodyPr>
          <a:lstStyle/>
          <a:p>
            <a:pPr algn="r"/>
            <a:r>
              <a:rPr sz="900" b="1" i="1">
                <a:solidFill>
                  <a:srgbClr val="6B7280"/>
                </a:solidFill>
                <a:latin typeface="Calibri"/>
              </a:rPr>
              <a:t>Accessibility</a:t>
            </a:r>
          </a:p>
        </p:txBody>
      </p:sp>
      <p:sp>
        <p:nvSpPr>
          <p:cNvPr id="58" name="TextBox 57"/>
          <p:cNvSpPr txBox="1"/>
          <p:nvPr/>
        </p:nvSpPr>
        <p:spPr>
          <a:xfrm>
            <a:off x="8503920" y="6172199"/>
            <a:ext cx="2926080" cy="548640"/>
          </a:xfrm>
          <a:prstGeom prst="rect">
            <a:avLst/>
          </a:prstGeom>
          <a:noFill/>
        </p:spPr>
        <p:txBody>
          <a:bodyPr wrap="square" lIns="45720" rIns="45720" tIns="18288" bIns="18288" anchor="t">
            <a:spAutoFit/>
          </a:bodyPr>
          <a:lstStyle/>
          <a:p>
            <a:pPr algn="l"/>
            <a:r>
              <a:rPr sz="1000" b="0" i="0">
                <a:solidFill>
                  <a:srgbClr val="1F2937"/>
                </a:solidFill>
                <a:latin typeface="Calibri"/>
              </a:rPr>
              <a:t>UI meets WCAG 2.1 AA contrast ratios.</a:t>
            </a:r>
          </a:p>
        </p:txBody>
      </p:sp>
      <p:sp>
        <p:nvSpPr>
          <p:cNvPr id="59" name="TextBox 58"/>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2. Requirements Analysis</a:t>
            </a:r>
          </a:p>
        </p:txBody>
      </p:sp>
      <p:sp>
        <p:nvSpPr>
          <p:cNvPr id="60" name="TextBox 59"/>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2.4  Sprint 1  —  Core prompt + recording path (UC1, UC2 happy path)</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2 — Requirements Analysis</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1371600"/>
            <a:ext cx="11247120" cy="365760"/>
          </a:xfrm>
          <a:prstGeom prst="rect">
            <a:avLst/>
          </a:prstGeom>
          <a:noFill/>
        </p:spPr>
        <p:txBody>
          <a:bodyPr wrap="square" lIns="45720" rIns="45720" tIns="18288" bIns="18288" anchor="t">
            <a:spAutoFit/>
          </a:bodyPr>
          <a:lstStyle/>
          <a:p>
            <a:pPr algn="l"/>
            <a:r>
              <a:rPr sz="1300" b="1" i="0">
                <a:solidFill>
                  <a:srgbClr val="1E2761"/>
                </a:solidFill>
                <a:latin typeface="Calibri"/>
              </a:rPr>
              <a:t>Sprint 1 Requirements  (min 3 NFRs)</a:t>
            </a:r>
          </a:p>
        </p:txBody>
      </p:sp>
      <p:sp>
        <p:nvSpPr>
          <p:cNvPr id="6" name="Rounded Rectangle 5"/>
          <p:cNvSpPr/>
          <p:nvPr/>
        </p:nvSpPr>
        <p:spPr>
          <a:xfrm>
            <a:off x="457200" y="1783080"/>
            <a:ext cx="822960" cy="292608"/>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000" b="1">
                <a:solidFill>
                  <a:srgbClr val="FFFFFF"/>
                </a:solidFill>
                <a:latin typeface="Calibri"/>
              </a:rPr>
              <a:t>FR1</a:t>
            </a:r>
          </a:p>
        </p:txBody>
      </p:sp>
      <p:sp>
        <p:nvSpPr>
          <p:cNvPr id="7" name="TextBox 6"/>
          <p:cNvSpPr txBox="1"/>
          <p:nvPr/>
        </p:nvSpPr>
        <p:spPr>
          <a:xfrm>
            <a:off x="1371600" y="1783080"/>
            <a:ext cx="4754880" cy="292608"/>
          </a:xfrm>
          <a:prstGeom prst="rect">
            <a:avLst/>
          </a:prstGeom>
          <a:noFill/>
        </p:spPr>
        <p:txBody>
          <a:bodyPr wrap="square" lIns="45720" rIns="45720" tIns="18288" bIns="18288" anchor="ctr">
            <a:spAutoFit/>
          </a:bodyPr>
          <a:lstStyle/>
          <a:p>
            <a:pPr algn="l"/>
            <a:r>
              <a:rPr sz="1000" b="0" i="0">
                <a:solidFill>
                  <a:srgbClr val="1F2937"/>
                </a:solidFill>
                <a:latin typeface="Calibri"/>
              </a:rPr>
              <a:t>Generate random speaking prompt</a:t>
            </a:r>
          </a:p>
        </p:txBody>
      </p:sp>
      <p:sp>
        <p:nvSpPr>
          <p:cNvPr id="8" name="Rounded Rectangle 7"/>
          <p:cNvSpPr/>
          <p:nvPr/>
        </p:nvSpPr>
        <p:spPr>
          <a:xfrm>
            <a:off x="6217920" y="1783080"/>
            <a:ext cx="822960" cy="292608"/>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000" b="1">
                <a:solidFill>
                  <a:srgbClr val="FFFFFF"/>
                </a:solidFill>
                <a:latin typeface="Calibri"/>
              </a:rPr>
              <a:t>FR2</a:t>
            </a:r>
          </a:p>
        </p:txBody>
      </p:sp>
      <p:sp>
        <p:nvSpPr>
          <p:cNvPr id="9" name="TextBox 8"/>
          <p:cNvSpPr txBox="1"/>
          <p:nvPr/>
        </p:nvSpPr>
        <p:spPr>
          <a:xfrm>
            <a:off x="7132320" y="1783080"/>
            <a:ext cx="4754880" cy="292608"/>
          </a:xfrm>
          <a:prstGeom prst="rect">
            <a:avLst/>
          </a:prstGeom>
          <a:noFill/>
        </p:spPr>
        <p:txBody>
          <a:bodyPr wrap="square" lIns="45720" rIns="45720" tIns="18288" bIns="18288" anchor="ctr">
            <a:spAutoFit/>
          </a:bodyPr>
          <a:lstStyle/>
          <a:p>
            <a:pPr algn="l"/>
            <a:r>
              <a:rPr sz="1000" b="0" i="0">
                <a:solidFill>
                  <a:srgbClr val="1F2937"/>
                </a:solidFill>
                <a:latin typeface="Calibri"/>
              </a:rPr>
              <a:t>Start impromptu speaking exercise</a:t>
            </a:r>
          </a:p>
        </p:txBody>
      </p:sp>
      <p:sp>
        <p:nvSpPr>
          <p:cNvPr id="10" name="Rounded Rectangle 9"/>
          <p:cNvSpPr/>
          <p:nvPr/>
        </p:nvSpPr>
        <p:spPr>
          <a:xfrm>
            <a:off x="457200" y="2148840"/>
            <a:ext cx="822960" cy="292608"/>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000" b="1">
                <a:solidFill>
                  <a:srgbClr val="FFFFFF"/>
                </a:solidFill>
                <a:latin typeface="Calibri"/>
              </a:rPr>
              <a:t>FR7</a:t>
            </a:r>
          </a:p>
        </p:txBody>
      </p:sp>
      <p:sp>
        <p:nvSpPr>
          <p:cNvPr id="11" name="TextBox 10"/>
          <p:cNvSpPr txBox="1"/>
          <p:nvPr/>
        </p:nvSpPr>
        <p:spPr>
          <a:xfrm>
            <a:off x="1371600" y="2148840"/>
            <a:ext cx="4754880" cy="292608"/>
          </a:xfrm>
          <a:prstGeom prst="rect">
            <a:avLst/>
          </a:prstGeom>
          <a:noFill/>
        </p:spPr>
        <p:txBody>
          <a:bodyPr wrap="square" lIns="45720" rIns="45720" tIns="18288" bIns="18288" anchor="ctr">
            <a:spAutoFit/>
          </a:bodyPr>
          <a:lstStyle/>
          <a:p>
            <a:pPr algn="l"/>
            <a:r>
              <a:rPr sz="1000" b="0" i="0">
                <a:solidFill>
                  <a:srgbClr val="1F2937"/>
                </a:solidFill>
                <a:latin typeface="Calibri"/>
              </a:rPr>
              <a:t>Create account</a:t>
            </a:r>
          </a:p>
        </p:txBody>
      </p:sp>
      <p:sp>
        <p:nvSpPr>
          <p:cNvPr id="12" name="Rounded Rectangle 11"/>
          <p:cNvSpPr/>
          <p:nvPr/>
        </p:nvSpPr>
        <p:spPr>
          <a:xfrm>
            <a:off x="6217920" y="2148840"/>
            <a:ext cx="822960" cy="292608"/>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000" b="1">
                <a:solidFill>
                  <a:srgbClr val="FFFFFF"/>
                </a:solidFill>
                <a:latin typeface="Calibri"/>
              </a:rPr>
              <a:t>NFR1</a:t>
            </a:r>
          </a:p>
        </p:txBody>
      </p:sp>
      <p:sp>
        <p:nvSpPr>
          <p:cNvPr id="13" name="TextBox 12"/>
          <p:cNvSpPr txBox="1"/>
          <p:nvPr/>
        </p:nvSpPr>
        <p:spPr>
          <a:xfrm>
            <a:off x="7132320" y="2148840"/>
            <a:ext cx="4754880" cy="292608"/>
          </a:xfrm>
          <a:prstGeom prst="rect">
            <a:avLst/>
          </a:prstGeom>
          <a:noFill/>
        </p:spPr>
        <p:txBody>
          <a:bodyPr wrap="square" lIns="45720" rIns="45720" tIns="18288" bIns="18288" anchor="ctr">
            <a:spAutoFit/>
          </a:bodyPr>
          <a:lstStyle/>
          <a:p>
            <a:pPr algn="l"/>
            <a:r>
              <a:rPr sz="1000" b="0" i="0">
                <a:solidFill>
                  <a:srgbClr val="1F2937"/>
                </a:solidFill>
                <a:latin typeface="Calibri"/>
              </a:rPr>
              <a:t>Response ≤ 5s</a:t>
            </a:r>
          </a:p>
        </p:txBody>
      </p:sp>
      <p:sp>
        <p:nvSpPr>
          <p:cNvPr id="14" name="Rounded Rectangle 13"/>
          <p:cNvSpPr/>
          <p:nvPr/>
        </p:nvSpPr>
        <p:spPr>
          <a:xfrm>
            <a:off x="457200" y="2514600"/>
            <a:ext cx="822960" cy="292608"/>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000" b="1">
                <a:solidFill>
                  <a:srgbClr val="FFFFFF"/>
                </a:solidFill>
                <a:latin typeface="Calibri"/>
              </a:rPr>
              <a:t>NFR2</a:t>
            </a:r>
          </a:p>
        </p:txBody>
      </p:sp>
      <p:sp>
        <p:nvSpPr>
          <p:cNvPr id="15" name="TextBox 14"/>
          <p:cNvSpPr txBox="1"/>
          <p:nvPr/>
        </p:nvSpPr>
        <p:spPr>
          <a:xfrm>
            <a:off x="1371600" y="2514600"/>
            <a:ext cx="4754880" cy="292608"/>
          </a:xfrm>
          <a:prstGeom prst="rect">
            <a:avLst/>
          </a:prstGeom>
          <a:noFill/>
        </p:spPr>
        <p:txBody>
          <a:bodyPr wrap="square" lIns="45720" rIns="45720" tIns="18288" bIns="18288" anchor="ctr">
            <a:spAutoFit/>
          </a:bodyPr>
          <a:lstStyle/>
          <a:p>
            <a:pPr algn="l"/>
            <a:r>
              <a:rPr sz="1000" b="0" i="0">
                <a:solidFill>
                  <a:srgbClr val="1F2937"/>
                </a:solidFill>
                <a:latin typeface="Calibri"/>
              </a:rPr>
              <a:t>Help learnable in 10 min</a:t>
            </a:r>
          </a:p>
        </p:txBody>
      </p:sp>
      <p:sp>
        <p:nvSpPr>
          <p:cNvPr id="16" name="Rounded Rectangle 15"/>
          <p:cNvSpPr/>
          <p:nvPr/>
        </p:nvSpPr>
        <p:spPr>
          <a:xfrm>
            <a:off x="6217920" y="2514600"/>
            <a:ext cx="822960" cy="292608"/>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000" b="1">
                <a:solidFill>
                  <a:srgbClr val="FFFFFF"/>
                </a:solidFill>
                <a:latin typeface="Calibri"/>
              </a:rPr>
              <a:t>NFR3</a:t>
            </a:r>
          </a:p>
        </p:txBody>
      </p:sp>
      <p:sp>
        <p:nvSpPr>
          <p:cNvPr id="17" name="TextBox 16"/>
          <p:cNvSpPr txBox="1"/>
          <p:nvPr/>
        </p:nvSpPr>
        <p:spPr>
          <a:xfrm>
            <a:off x="7132320" y="2514600"/>
            <a:ext cx="4754880" cy="292608"/>
          </a:xfrm>
          <a:prstGeom prst="rect">
            <a:avLst/>
          </a:prstGeom>
          <a:noFill/>
        </p:spPr>
        <p:txBody>
          <a:bodyPr wrap="square" lIns="45720" rIns="45720" tIns="18288" bIns="18288" anchor="ctr">
            <a:spAutoFit/>
          </a:bodyPr>
          <a:lstStyle/>
          <a:p>
            <a:pPr algn="l"/>
            <a:r>
              <a:rPr sz="1000" b="0" i="0">
                <a:solidFill>
                  <a:srgbClr val="1F2937"/>
                </a:solidFill>
                <a:latin typeface="Calibri"/>
              </a:rPr>
              <a:t>Audio stored only on user's account</a:t>
            </a:r>
          </a:p>
        </p:txBody>
      </p:sp>
      <p:sp>
        <p:nvSpPr>
          <p:cNvPr id="18" name="TextBox 17"/>
          <p:cNvSpPr txBox="1"/>
          <p:nvPr/>
        </p:nvSpPr>
        <p:spPr>
          <a:xfrm>
            <a:off x="457200" y="3383280"/>
            <a:ext cx="11247120" cy="274320"/>
          </a:xfrm>
          <a:prstGeom prst="rect">
            <a:avLst/>
          </a:prstGeom>
          <a:noFill/>
        </p:spPr>
        <p:txBody>
          <a:bodyPr wrap="square" lIns="45720" rIns="45720" tIns="18288" bIns="18288" anchor="t">
            <a:spAutoFit/>
          </a:bodyPr>
          <a:lstStyle/>
          <a:p>
            <a:pPr algn="l"/>
            <a:r>
              <a:rPr sz="1300" b="1" i="0">
                <a:solidFill>
                  <a:srgbClr val="1E2761"/>
                </a:solidFill>
                <a:latin typeface="Calibri"/>
              </a:rPr>
              <a:t>Feature / input / output table</a:t>
            </a:r>
          </a:p>
        </p:txBody>
      </p:sp>
      <p:sp>
        <p:nvSpPr>
          <p:cNvPr id="19" name="Rectangle 18"/>
          <p:cNvSpPr/>
          <p:nvPr/>
        </p:nvSpPr>
        <p:spPr>
          <a:xfrm>
            <a:off x="457200" y="3657600"/>
            <a:ext cx="731520" cy="365760"/>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100" b="1">
                <a:solidFill>
                  <a:srgbClr val="FFFFFF"/>
                </a:solidFill>
                <a:latin typeface="Calibri"/>
              </a:rPr>
              <a:t>ID</a:t>
            </a:r>
          </a:p>
        </p:txBody>
      </p:sp>
      <p:sp>
        <p:nvSpPr>
          <p:cNvPr id="20" name="Rectangle 19"/>
          <p:cNvSpPr/>
          <p:nvPr/>
        </p:nvSpPr>
        <p:spPr>
          <a:xfrm>
            <a:off x="1188720" y="3657600"/>
            <a:ext cx="3200400" cy="365760"/>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100" b="1">
                <a:solidFill>
                  <a:srgbClr val="FFFFFF"/>
                </a:solidFill>
                <a:latin typeface="Calibri"/>
              </a:rPr>
              <a:t>Feature</a:t>
            </a:r>
          </a:p>
        </p:txBody>
      </p:sp>
      <p:sp>
        <p:nvSpPr>
          <p:cNvPr id="21" name="Rectangle 20"/>
          <p:cNvSpPr/>
          <p:nvPr/>
        </p:nvSpPr>
        <p:spPr>
          <a:xfrm>
            <a:off x="4389120" y="3657600"/>
            <a:ext cx="4114800" cy="365760"/>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100" b="1">
                <a:solidFill>
                  <a:srgbClr val="FFFFFF"/>
                </a:solidFill>
                <a:latin typeface="Calibri"/>
              </a:rPr>
              <a:t>Input Operations (sequence + data)</a:t>
            </a:r>
          </a:p>
        </p:txBody>
      </p:sp>
      <p:sp>
        <p:nvSpPr>
          <p:cNvPr id="22" name="Rectangle 21"/>
          <p:cNvSpPr/>
          <p:nvPr/>
        </p:nvSpPr>
        <p:spPr>
          <a:xfrm>
            <a:off x="8503920" y="3657600"/>
            <a:ext cx="3657600" cy="365760"/>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100" b="1">
                <a:solidFill>
                  <a:srgbClr val="FFFFFF"/>
                </a:solidFill>
                <a:latin typeface="Calibri"/>
              </a:rPr>
              <a:t>Expected Output</a:t>
            </a:r>
          </a:p>
        </p:txBody>
      </p:sp>
      <p:sp>
        <p:nvSpPr>
          <p:cNvPr id="23" name="Rectangle 22"/>
          <p:cNvSpPr/>
          <p:nvPr/>
        </p:nvSpPr>
        <p:spPr>
          <a:xfrm>
            <a:off x="457200" y="4023360"/>
            <a:ext cx="731520" cy="82296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1">
                <a:solidFill>
                  <a:srgbClr val="1F2937"/>
                </a:solidFill>
                <a:latin typeface="Calibri"/>
              </a:rPr>
              <a:t>F1</a:t>
            </a:r>
          </a:p>
        </p:txBody>
      </p:sp>
      <p:sp>
        <p:nvSpPr>
          <p:cNvPr id="24" name="Rectangle 23"/>
          <p:cNvSpPr/>
          <p:nvPr/>
        </p:nvSpPr>
        <p:spPr>
          <a:xfrm>
            <a:off x="1188720" y="4023360"/>
            <a:ext cx="3200400" cy="82296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0">
                <a:solidFill>
                  <a:srgbClr val="1F2937"/>
                </a:solidFill>
                <a:latin typeface="Calibri"/>
              </a:rPr>
              <a:t>Generate Prompt — random topic</a:t>
            </a:r>
          </a:p>
        </p:txBody>
      </p:sp>
      <p:sp>
        <p:nvSpPr>
          <p:cNvPr id="25" name="Rectangle 24"/>
          <p:cNvSpPr/>
          <p:nvPr/>
        </p:nvSpPr>
        <p:spPr>
          <a:xfrm>
            <a:off x="4389120" y="4023360"/>
            <a:ext cx="4114800" cy="82296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0">
                <a:solidFill>
                  <a:srgbClr val="1F2937"/>
                </a:solidFill>
                <a:latin typeface="Calibri"/>
              </a:rPr>
              <a:t>1. Click "Generate Prompt" on TrainerView.</a:t>
            </a:r>
          </a:p>
        </p:txBody>
      </p:sp>
      <p:sp>
        <p:nvSpPr>
          <p:cNvPr id="26" name="Rectangle 25"/>
          <p:cNvSpPr/>
          <p:nvPr/>
        </p:nvSpPr>
        <p:spPr>
          <a:xfrm>
            <a:off x="8503920" y="4023360"/>
            <a:ext cx="3657600" cy="82296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0">
                <a:solidFill>
                  <a:srgbClr val="1F2937"/>
                </a:solidFill>
                <a:latin typeface="Calibri"/>
              </a:rPr>
              <a:t>Prompt topic displayed (≤ 2 s).</a:t>
            </a:r>
          </a:p>
        </p:txBody>
      </p:sp>
      <p:sp>
        <p:nvSpPr>
          <p:cNvPr id="27" name="Rectangle 26"/>
          <p:cNvSpPr/>
          <p:nvPr/>
        </p:nvSpPr>
        <p:spPr>
          <a:xfrm>
            <a:off x="457200" y="4846320"/>
            <a:ext cx="731520" cy="82296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1">
                <a:solidFill>
                  <a:srgbClr val="1F2937"/>
                </a:solidFill>
                <a:latin typeface="Calibri"/>
              </a:rPr>
              <a:t>F2</a:t>
            </a:r>
          </a:p>
        </p:txBody>
      </p:sp>
      <p:sp>
        <p:nvSpPr>
          <p:cNvPr id="28" name="Rectangle 27"/>
          <p:cNvSpPr/>
          <p:nvPr/>
        </p:nvSpPr>
        <p:spPr>
          <a:xfrm>
            <a:off x="1188720" y="4846320"/>
            <a:ext cx="3200400" cy="82296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0">
                <a:solidFill>
                  <a:srgbClr val="1F2937"/>
                </a:solidFill>
                <a:latin typeface="Calibri"/>
              </a:rPr>
              <a:t>Record Speech — 30–60 s of audio</a:t>
            </a:r>
          </a:p>
        </p:txBody>
      </p:sp>
      <p:sp>
        <p:nvSpPr>
          <p:cNvPr id="29" name="Rectangle 28"/>
          <p:cNvSpPr/>
          <p:nvPr/>
        </p:nvSpPr>
        <p:spPr>
          <a:xfrm>
            <a:off x="4389120" y="4846320"/>
            <a:ext cx="4114800" cy="82296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0">
                <a:solidFill>
                  <a:srgbClr val="1F2937"/>
                </a:solidFill>
                <a:latin typeface="Calibri"/>
              </a:rPr>
              <a:t>1. Click Start Recording.</a:t>
            </a:r>
          </a:p>
          <a:p>
            <a:pPr algn="l"/>
            <a:r>
              <a:rPr sz="1000" b="0">
                <a:solidFill>
                  <a:srgbClr val="1F2937"/>
                </a:solidFill>
                <a:latin typeface="Calibri"/>
              </a:rPr>
              <a:t>2. Speak.</a:t>
            </a:r>
          </a:p>
          <a:p>
            <a:pPr algn="l"/>
            <a:r>
              <a:rPr sz="1000" b="0">
                <a:solidFill>
                  <a:srgbClr val="1F2937"/>
                </a:solidFill>
                <a:latin typeface="Calibri"/>
              </a:rPr>
              <a:t>3. Click Stop.</a:t>
            </a:r>
          </a:p>
        </p:txBody>
      </p:sp>
      <p:sp>
        <p:nvSpPr>
          <p:cNvPr id="30" name="Rectangle 29"/>
          <p:cNvSpPr/>
          <p:nvPr/>
        </p:nvSpPr>
        <p:spPr>
          <a:xfrm>
            <a:off x="8503920" y="4846320"/>
            <a:ext cx="3657600" cy="82296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0">
                <a:solidFill>
                  <a:srgbClr val="1F2937"/>
                </a:solidFill>
                <a:latin typeface="Calibri"/>
              </a:rPr>
              <a:t>Live transcript appears during recording; after stop, an AudioRecording + TranscriptSegments saved.</a:t>
            </a:r>
          </a:p>
        </p:txBody>
      </p:sp>
      <p:sp>
        <p:nvSpPr>
          <p:cNvPr id="31" name="Rectangle 30"/>
          <p:cNvSpPr/>
          <p:nvPr/>
        </p:nvSpPr>
        <p:spPr>
          <a:xfrm>
            <a:off x="457200" y="5669280"/>
            <a:ext cx="731520" cy="82296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1">
                <a:solidFill>
                  <a:srgbClr val="1F2937"/>
                </a:solidFill>
                <a:latin typeface="Calibri"/>
              </a:rPr>
              <a:t>F3</a:t>
            </a:r>
          </a:p>
        </p:txBody>
      </p:sp>
      <p:sp>
        <p:nvSpPr>
          <p:cNvPr id="32" name="Rectangle 31"/>
          <p:cNvSpPr/>
          <p:nvPr/>
        </p:nvSpPr>
        <p:spPr>
          <a:xfrm>
            <a:off x="1188720" y="5669280"/>
            <a:ext cx="3200400" cy="82296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0">
                <a:solidFill>
                  <a:srgbClr val="1F2937"/>
                </a:solidFill>
                <a:latin typeface="Calibri"/>
              </a:rPr>
              <a:t>Create Account</a:t>
            </a:r>
          </a:p>
        </p:txBody>
      </p:sp>
      <p:sp>
        <p:nvSpPr>
          <p:cNvPr id="33" name="Rectangle 32"/>
          <p:cNvSpPr/>
          <p:nvPr/>
        </p:nvSpPr>
        <p:spPr>
          <a:xfrm>
            <a:off x="4389120" y="5669280"/>
            <a:ext cx="4114800" cy="82296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0">
                <a:solidFill>
                  <a:srgbClr val="1F2937"/>
                </a:solidFill>
                <a:latin typeface="Calibri"/>
              </a:rPr>
              <a:t>1. Click Sign up.</a:t>
            </a:r>
          </a:p>
          <a:p>
            <a:pPr algn="l"/>
            <a:r>
              <a:rPr sz="1000" b="0">
                <a:solidFill>
                  <a:srgbClr val="1F2937"/>
                </a:solidFill>
                <a:latin typeface="Calibri"/>
              </a:rPr>
              <a:t>2. Enter email + password.</a:t>
            </a:r>
          </a:p>
          <a:p>
            <a:pPr algn="l"/>
            <a:r>
              <a:rPr sz="1000" b="0">
                <a:solidFill>
                  <a:srgbClr val="1F2937"/>
                </a:solidFill>
                <a:latin typeface="Calibri"/>
              </a:rPr>
              <a:t>3. Click Create.</a:t>
            </a:r>
          </a:p>
        </p:txBody>
      </p:sp>
      <p:sp>
        <p:nvSpPr>
          <p:cNvPr id="34" name="Rectangle 33"/>
          <p:cNvSpPr/>
          <p:nvPr/>
        </p:nvSpPr>
        <p:spPr>
          <a:xfrm>
            <a:off x="8503920" y="5669280"/>
            <a:ext cx="3657600" cy="82296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0">
                <a:solidFill>
                  <a:srgbClr val="1F2937"/>
                </a:solidFill>
                <a:latin typeface="Calibri"/>
              </a:rPr>
              <a:t>Account stored; user logged in.</a:t>
            </a:r>
          </a:p>
        </p:txBody>
      </p:sp>
      <p:sp>
        <p:nvSpPr>
          <p:cNvPr id="35" name="TextBox 34"/>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2. Requirements Analysis</a:t>
            </a:r>
          </a:p>
        </p:txBody>
      </p:sp>
      <p:sp>
        <p:nvSpPr>
          <p:cNvPr id="36" name="TextBox 35"/>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2.4  Sprint 2  —  Analysis and dashboard (UC3)</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2 — Requirements Analysis</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1371600"/>
            <a:ext cx="11247120" cy="365760"/>
          </a:xfrm>
          <a:prstGeom prst="rect">
            <a:avLst/>
          </a:prstGeom>
          <a:noFill/>
        </p:spPr>
        <p:txBody>
          <a:bodyPr wrap="square" lIns="45720" rIns="45720" tIns="18288" bIns="18288" anchor="t">
            <a:spAutoFit/>
          </a:bodyPr>
          <a:lstStyle/>
          <a:p>
            <a:pPr algn="l"/>
            <a:r>
              <a:rPr sz="1300" b="1" i="0">
                <a:solidFill>
                  <a:srgbClr val="1E2761"/>
                </a:solidFill>
                <a:latin typeface="Calibri"/>
              </a:rPr>
              <a:t>Sprint 2 Requirements  (min 3 NFRs)</a:t>
            </a:r>
          </a:p>
        </p:txBody>
      </p:sp>
      <p:sp>
        <p:nvSpPr>
          <p:cNvPr id="6" name="Rounded Rectangle 5"/>
          <p:cNvSpPr/>
          <p:nvPr/>
        </p:nvSpPr>
        <p:spPr>
          <a:xfrm>
            <a:off x="457200" y="1783080"/>
            <a:ext cx="822960" cy="292608"/>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000" b="1">
                <a:solidFill>
                  <a:srgbClr val="FFFFFF"/>
                </a:solidFill>
                <a:latin typeface="Calibri"/>
              </a:rPr>
              <a:t>FR3</a:t>
            </a:r>
          </a:p>
        </p:txBody>
      </p:sp>
      <p:sp>
        <p:nvSpPr>
          <p:cNvPr id="7" name="TextBox 6"/>
          <p:cNvSpPr txBox="1"/>
          <p:nvPr/>
        </p:nvSpPr>
        <p:spPr>
          <a:xfrm>
            <a:off x="1371600" y="1783080"/>
            <a:ext cx="4754880" cy="292608"/>
          </a:xfrm>
          <a:prstGeom prst="rect">
            <a:avLst/>
          </a:prstGeom>
          <a:noFill/>
        </p:spPr>
        <p:txBody>
          <a:bodyPr wrap="square" lIns="45720" rIns="45720" tIns="18288" bIns="18288" anchor="ctr">
            <a:spAutoFit/>
          </a:bodyPr>
          <a:lstStyle/>
          <a:p>
            <a:pPr algn="l"/>
            <a:r>
              <a:rPr sz="1000" b="0" i="0">
                <a:solidFill>
                  <a:srgbClr val="1F2937"/>
                </a:solidFill>
                <a:latin typeface="Calibri"/>
              </a:rPr>
              <a:t>Filler-word detection</a:t>
            </a:r>
          </a:p>
        </p:txBody>
      </p:sp>
      <p:sp>
        <p:nvSpPr>
          <p:cNvPr id="8" name="Rounded Rectangle 7"/>
          <p:cNvSpPr/>
          <p:nvPr/>
        </p:nvSpPr>
        <p:spPr>
          <a:xfrm>
            <a:off x="6217920" y="1783080"/>
            <a:ext cx="822960" cy="292608"/>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000" b="1">
                <a:solidFill>
                  <a:srgbClr val="FFFFFF"/>
                </a:solidFill>
                <a:latin typeface="Calibri"/>
              </a:rPr>
              <a:t>FR5</a:t>
            </a:r>
          </a:p>
        </p:txBody>
      </p:sp>
      <p:sp>
        <p:nvSpPr>
          <p:cNvPr id="9" name="TextBox 8"/>
          <p:cNvSpPr txBox="1"/>
          <p:nvPr/>
        </p:nvSpPr>
        <p:spPr>
          <a:xfrm>
            <a:off x="7132320" y="1783080"/>
            <a:ext cx="4754880" cy="292608"/>
          </a:xfrm>
          <a:prstGeom prst="rect">
            <a:avLst/>
          </a:prstGeom>
          <a:noFill/>
        </p:spPr>
        <p:txBody>
          <a:bodyPr wrap="square" lIns="45720" rIns="45720" tIns="18288" bIns="18288" anchor="ctr">
            <a:spAutoFit/>
          </a:bodyPr>
          <a:lstStyle/>
          <a:p>
            <a:pPr algn="l"/>
            <a:r>
              <a:rPr sz="1000" b="0" i="0">
                <a:solidFill>
                  <a:srgbClr val="1F2937"/>
                </a:solidFill>
                <a:latin typeface="Calibri"/>
              </a:rPr>
              <a:t>Dashboard — progress over time</a:t>
            </a:r>
          </a:p>
        </p:txBody>
      </p:sp>
      <p:sp>
        <p:nvSpPr>
          <p:cNvPr id="10" name="Rounded Rectangle 9"/>
          <p:cNvSpPr/>
          <p:nvPr/>
        </p:nvSpPr>
        <p:spPr>
          <a:xfrm>
            <a:off x="457200" y="2148840"/>
            <a:ext cx="822960" cy="292608"/>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000" b="1">
                <a:solidFill>
                  <a:srgbClr val="FFFFFF"/>
                </a:solidFill>
                <a:latin typeface="Calibri"/>
              </a:rPr>
              <a:t>FR8</a:t>
            </a:r>
          </a:p>
        </p:txBody>
      </p:sp>
      <p:sp>
        <p:nvSpPr>
          <p:cNvPr id="11" name="TextBox 10"/>
          <p:cNvSpPr txBox="1"/>
          <p:nvPr/>
        </p:nvSpPr>
        <p:spPr>
          <a:xfrm>
            <a:off x="1371600" y="2148840"/>
            <a:ext cx="4754880" cy="292608"/>
          </a:xfrm>
          <a:prstGeom prst="rect">
            <a:avLst/>
          </a:prstGeom>
          <a:noFill/>
        </p:spPr>
        <p:txBody>
          <a:bodyPr wrap="square" lIns="45720" rIns="45720" tIns="18288" bIns="18288" anchor="ctr">
            <a:spAutoFit/>
          </a:bodyPr>
          <a:lstStyle/>
          <a:p>
            <a:pPr algn="l"/>
            <a:r>
              <a:rPr sz="1000" b="0" i="0">
                <a:solidFill>
                  <a:srgbClr val="1F2937"/>
                </a:solidFill>
                <a:latin typeface="Calibri"/>
              </a:rPr>
              <a:t>Topic-relevance analysis</a:t>
            </a:r>
          </a:p>
        </p:txBody>
      </p:sp>
      <p:sp>
        <p:nvSpPr>
          <p:cNvPr id="12" name="Rounded Rectangle 11"/>
          <p:cNvSpPr/>
          <p:nvPr/>
        </p:nvSpPr>
        <p:spPr>
          <a:xfrm>
            <a:off x="6217920" y="2148840"/>
            <a:ext cx="822960" cy="292608"/>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000" b="1">
                <a:solidFill>
                  <a:srgbClr val="FFFFFF"/>
                </a:solidFill>
                <a:latin typeface="Calibri"/>
              </a:rPr>
              <a:t>NFR1</a:t>
            </a:r>
          </a:p>
        </p:txBody>
      </p:sp>
      <p:sp>
        <p:nvSpPr>
          <p:cNvPr id="13" name="TextBox 12"/>
          <p:cNvSpPr txBox="1"/>
          <p:nvPr/>
        </p:nvSpPr>
        <p:spPr>
          <a:xfrm>
            <a:off x="7132320" y="2148840"/>
            <a:ext cx="4754880" cy="292608"/>
          </a:xfrm>
          <a:prstGeom prst="rect">
            <a:avLst/>
          </a:prstGeom>
          <a:noFill/>
        </p:spPr>
        <p:txBody>
          <a:bodyPr wrap="square" lIns="45720" rIns="45720" tIns="18288" bIns="18288" anchor="ctr">
            <a:spAutoFit/>
          </a:bodyPr>
          <a:lstStyle/>
          <a:p>
            <a:pPr algn="l"/>
            <a:r>
              <a:rPr sz="1000" b="0" i="0">
                <a:solidFill>
                  <a:srgbClr val="1F2937"/>
                </a:solidFill>
                <a:latin typeface="Calibri"/>
              </a:rPr>
              <a:t>Response ≤ 5s</a:t>
            </a:r>
          </a:p>
        </p:txBody>
      </p:sp>
      <p:sp>
        <p:nvSpPr>
          <p:cNvPr id="14" name="Rounded Rectangle 13"/>
          <p:cNvSpPr/>
          <p:nvPr/>
        </p:nvSpPr>
        <p:spPr>
          <a:xfrm>
            <a:off x="457200" y="2514600"/>
            <a:ext cx="822960" cy="292608"/>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000" b="1">
                <a:solidFill>
                  <a:srgbClr val="FFFFFF"/>
                </a:solidFill>
                <a:latin typeface="Calibri"/>
              </a:rPr>
              <a:t>NFR4</a:t>
            </a:r>
          </a:p>
        </p:txBody>
      </p:sp>
      <p:sp>
        <p:nvSpPr>
          <p:cNvPr id="15" name="TextBox 14"/>
          <p:cNvSpPr txBox="1"/>
          <p:nvPr/>
        </p:nvSpPr>
        <p:spPr>
          <a:xfrm>
            <a:off x="1371600" y="2514600"/>
            <a:ext cx="4754880" cy="292608"/>
          </a:xfrm>
          <a:prstGeom prst="rect">
            <a:avLst/>
          </a:prstGeom>
          <a:noFill/>
        </p:spPr>
        <p:txBody>
          <a:bodyPr wrap="square" lIns="45720" rIns="45720" tIns="18288" bIns="18288" anchor="ctr">
            <a:spAutoFit/>
          </a:bodyPr>
          <a:lstStyle/>
          <a:p>
            <a:pPr algn="l"/>
            <a:r>
              <a:rPr sz="1000" b="0" i="0">
                <a:solidFill>
                  <a:srgbClr val="1F2937"/>
                </a:solidFill>
                <a:latin typeface="Calibri"/>
              </a:rPr>
              <a:t>Graceful degradation when AI down</a:t>
            </a:r>
          </a:p>
        </p:txBody>
      </p:sp>
      <p:sp>
        <p:nvSpPr>
          <p:cNvPr id="16" name="Rounded Rectangle 15"/>
          <p:cNvSpPr/>
          <p:nvPr/>
        </p:nvSpPr>
        <p:spPr>
          <a:xfrm>
            <a:off x="6217920" y="2514600"/>
            <a:ext cx="822960" cy="292608"/>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000" b="1">
                <a:solidFill>
                  <a:srgbClr val="FFFFFF"/>
                </a:solidFill>
                <a:latin typeface="Calibri"/>
              </a:rPr>
              <a:t>NFR5</a:t>
            </a:r>
          </a:p>
        </p:txBody>
      </p:sp>
      <p:sp>
        <p:nvSpPr>
          <p:cNvPr id="17" name="TextBox 16"/>
          <p:cNvSpPr txBox="1"/>
          <p:nvPr/>
        </p:nvSpPr>
        <p:spPr>
          <a:xfrm>
            <a:off x="7132320" y="2514600"/>
            <a:ext cx="4754880" cy="292608"/>
          </a:xfrm>
          <a:prstGeom prst="rect">
            <a:avLst/>
          </a:prstGeom>
          <a:noFill/>
        </p:spPr>
        <p:txBody>
          <a:bodyPr wrap="square" lIns="45720" rIns="45720" tIns="18288" bIns="18288" anchor="ctr">
            <a:spAutoFit/>
          </a:bodyPr>
          <a:lstStyle/>
          <a:p>
            <a:pPr algn="l"/>
            <a:r>
              <a:rPr sz="1000" b="0" i="0">
                <a:solidFill>
                  <a:srgbClr val="1F2937"/>
                </a:solidFill>
                <a:latin typeface="Calibri"/>
              </a:rPr>
              <a:t>WCAG 2.1 AA contrast</a:t>
            </a:r>
          </a:p>
        </p:txBody>
      </p:sp>
      <p:sp>
        <p:nvSpPr>
          <p:cNvPr id="18" name="TextBox 17"/>
          <p:cNvSpPr txBox="1"/>
          <p:nvPr/>
        </p:nvSpPr>
        <p:spPr>
          <a:xfrm>
            <a:off x="457200" y="3383280"/>
            <a:ext cx="11247120" cy="274320"/>
          </a:xfrm>
          <a:prstGeom prst="rect">
            <a:avLst/>
          </a:prstGeom>
          <a:noFill/>
        </p:spPr>
        <p:txBody>
          <a:bodyPr wrap="square" lIns="45720" rIns="45720" tIns="18288" bIns="18288" anchor="t">
            <a:spAutoFit/>
          </a:bodyPr>
          <a:lstStyle/>
          <a:p>
            <a:pPr algn="l"/>
            <a:r>
              <a:rPr sz="1300" b="1" i="0">
                <a:solidFill>
                  <a:srgbClr val="1E2761"/>
                </a:solidFill>
                <a:latin typeface="Calibri"/>
              </a:rPr>
              <a:t>Feature / input / output table</a:t>
            </a:r>
          </a:p>
        </p:txBody>
      </p:sp>
      <p:sp>
        <p:nvSpPr>
          <p:cNvPr id="19" name="Rectangle 18"/>
          <p:cNvSpPr/>
          <p:nvPr/>
        </p:nvSpPr>
        <p:spPr>
          <a:xfrm>
            <a:off x="457200" y="3657600"/>
            <a:ext cx="731520" cy="365760"/>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100" b="1">
                <a:solidFill>
                  <a:srgbClr val="FFFFFF"/>
                </a:solidFill>
                <a:latin typeface="Calibri"/>
              </a:rPr>
              <a:t>ID</a:t>
            </a:r>
          </a:p>
        </p:txBody>
      </p:sp>
      <p:sp>
        <p:nvSpPr>
          <p:cNvPr id="20" name="Rectangle 19"/>
          <p:cNvSpPr/>
          <p:nvPr/>
        </p:nvSpPr>
        <p:spPr>
          <a:xfrm>
            <a:off x="1188720" y="3657600"/>
            <a:ext cx="3200400" cy="365760"/>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100" b="1">
                <a:solidFill>
                  <a:srgbClr val="FFFFFF"/>
                </a:solidFill>
                <a:latin typeface="Calibri"/>
              </a:rPr>
              <a:t>Feature</a:t>
            </a:r>
          </a:p>
        </p:txBody>
      </p:sp>
      <p:sp>
        <p:nvSpPr>
          <p:cNvPr id="21" name="Rectangle 20"/>
          <p:cNvSpPr/>
          <p:nvPr/>
        </p:nvSpPr>
        <p:spPr>
          <a:xfrm>
            <a:off x="4389120" y="3657600"/>
            <a:ext cx="4114800" cy="365760"/>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100" b="1">
                <a:solidFill>
                  <a:srgbClr val="FFFFFF"/>
                </a:solidFill>
                <a:latin typeface="Calibri"/>
              </a:rPr>
              <a:t>Input Operations (sequence + data)</a:t>
            </a:r>
          </a:p>
        </p:txBody>
      </p:sp>
      <p:sp>
        <p:nvSpPr>
          <p:cNvPr id="22" name="Rectangle 21"/>
          <p:cNvSpPr/>
          <p:nvPr/>
        </p:nvSpPr>
        <p:spPr>
          <a:xfrm>
            <a:off x="8503920" y="3657600"/>
            <a:ext cx="3657600" cy="365760"/>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100" b="1">
                <a:solidFill>
                  <a:srgbClr val="FFFFFF"/>
                </a:solidFill>
                <a:latin typeface="Calibri"/>
              </a:rPr>
              <a:t>Expected Output</a:t>
            </a:r>
          </a:p>
        </p:txBody>
      </p:sp>
      <p:sp>
        <p:nvSpPr>
          <p:cNvPr id="23" name="Rectangle 22"/>
          <p:cNvSpPr/>
          <p:nvPr/>
        </p:nvSpPr>
        <p:spPr>
          <a:xfrm>
            <a:off x="457200" y="4023360"/>
            <a:ext cx="731520" cy="82296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1">
                <a:solidFill>
                  <a:srgbClr val="1F2937"/>
                </a:solidFill>
                <a:latin typeface="Calibri"/>
              </a:rPr>
              <a:t>F4</a:t>
            </a:r>
          </a:p>
        </p:txBody>
      </p:sp>
      <p:sp>
        <p:nvSpPr>
          <p:cNvPr id="24" name="Rectangle 23"/>
          <p:cNvSpPr/>
          <p:nvPr/>
        </p:nvSpPr>
        <p:spPr>
          <a:xfrm>
            <a:off x="1188720" y="4023360"/>
            <a:ext cx="3200400" cy="82296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0">
                <a:solidFill>
                  <a:srgbClr val="1F2937"/>
                </a:solidFill>
                <a:latin typeface="Calibri"/>
              </a:rPr>
              <a:t>Analyse Recording — run AI analysis</a:t>
            </a:r>
          </a:p>
        </p:txBody>
      </p:sp>
      <p:sp>
        <p:nvSpPr>
          <p:cNvPr id="25" name="Rectangle 24"/>
          <p:cNvSpPr/>
          <p:nvPr/>
        </p:nvSpPr>
        <p:spPr>
          <a:xfrm>
            <a:off x="4389120" y="4023360"/>
            <a:ext cx="4114800" cy="82296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0">
                <a:solidFill>
                  <a:srgbClr val="1F2937"/>
                </a:solidFill>
                <a:latin typeface="Calibri"/>
              </a:rPr>
              <a:t>1. Click Analyse on a recording on DashboardView.</a:t>
            </a:r>
          </a:p>
        </p:txBody>
      </p:sp>
      <p:sp>
        <p:nvSpPr>
          <p:cNvPr id="26" name="Rectangle 25"/>
          <p:cNvSpPr/>
          <p:nvPr/>
        </p:nvSpPr>
        <p:spPr>
          <a:xfrm>
            <a:off x="8503920" y="4023360"/>
            <a:ext cx="3657600" cy="82296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0">
                <a:solidFill>
                  <a:srgbClr val="1F2937"/>
                </a:solidFill>
                <a:latin typeface="Calibri"/>
              </a:rPr>
              <a:t>SpeechAnalysis displayed: filler count, WPM, clarity %, relevance %, feedback text.</a:t>
            </a:r>
          </a:p>
        </p:txBody>
      </p:sp>
      <p:sp>
        <p:nvSpPr>
          <p:cNvPr id="27" name="Rectangle 26"/>
          <p:cNvSpPr/>
          <p:nvPr/>
        </p:nvSpPr>
        <p:spPr>
          <a:xfrm>
            <a:off x="457200" y="4846320"/>
            <a:ext cx="731520" cy="82296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1">
                <a:solidFill>
                  <a:srgbClr val="1F2937"/>
                </a:solidFill>
                <a:latin typeface="Calibri"/>
              </a:rPr>
              <a:t>F5</a:t>
            </a:r>
          </a:p>
        </p:txBody>
      </p:sp>
      <p:sp>
        <p:nvSpPr>
          <p:cNvPr id="28" name="Rectangle 27"/>
          <p:cNvSpPr/>
          <p:nvPr/>
        </p:nvSpPr>
        <p:spPr>
          <a:xfrm>
            <a:off x="1188720" y="4846320"/>
            <a:ext cx="3200400" cy="82296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0">
                <a:solidFill>
                  <a:srgbClr val="1F2937"/>
                </a:solidFill>
                <a:latin typeface="Calibri"/>
              </a:rPr>
              <a:t>View History — past DrillSessions</a:t>
            </a:r>
          </a:p>
        </p:txBody>
      </p:sp>
      <p:sp>
        <p:nvSpPr>
          <p:cNvPr id="29" name="Rectangle 28"/>
          <p:cNvSpPr/>
          <p:nvPr/>
        </p:nvSpPr>
        <p:spPr>
          <a:xfrm>
            <a:off x="4389120" y="4846320"/>
            <a:ext cx="4114800" cy="82296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0">
                <a:solidFill>
                  <a:srgbClr val="1F2937"/>
                </a:solidFill>
                <a:latin typeface="Calibri"/>
              </a:rPr>
              <a:t>1. Navigate to DashboardView.</a:t>
            </a:r>
          </a:p>
        </p:txBody>
      </p:sp>
      <p:sp>
        <p:nvSpPr>
          <p:cNvPr id="30" name="Rectangle 29"/>
          <p:cNvSpPr/>
          <p:nvPr/>
        </p:nvSpPr>
        <p:spPr>
          <a:xfrm>
            <a:off x="8503920" y="4846320"/>
            <a:ext cx="3657600" cy="82296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0">
                <a:solidFill>
                  <a:srgbClr val="1F2937"/>
                </a:solidFill>
                <a:latin typeface="Calibri"/>
              </a:rPr>
              <a:t>Chronological list of past sessions with scores, charts, and streak counter.</a:t>
            </a:r>
          </a:p>
        </p:txBody>
      </p:sp>
      <p:sp>
        <p:nvSpPr>
          <p:cNvPr id="31" name="Rectangle 30"/>
          <p:cNvSpPr/>
          <p:nvPr/>
        </p:nvSpPr>
        <p:spPr>
          <a:xfrm>
            <a:off x="457200" y="5669280"/>
            <a:ext cx="731520" cy="82296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1">
                <a:solidFill>
                  <a:srgbClr val="1F2937"/>
                </a:solidFill>
                <a:latin typeface="Calibri"/>
              </a:rPr>
              <a:t>F6</a:t>
            </a:r>
          </a:p>
        </p:txBody>
      </p:sp>
      <p:sp>
        <p:nvSpPr>
          <p:cNvPr id="32" name="Rectangle 31"/>
          <p:cNvSpPr/>
          <p:nvPr/>
        </p:nvSpPr>
        <p:spPr>
          <a:xfrm>
            <a:off x="1188720" y="5669280"/>
            <a:ext cx="3200400" cy="82296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0">
                <a:solidFill>
                  <a:srgbClr val="1F2937"/>
                </a:solidFill>
                <a:latin typeface="Calibri"/>
              </a:rPr>
              <a:t>Change Password</a:t>
            </a:r>
          </a:p>
        </p:txBody>
      </p:sp>
      <p:sp>
        <p:nvSpPr>
          <p:cNvPr id="33" name="Rectangle 32"/>
          <p:cNvSpPr/>
          <p:nvPr/>
        </p:nvSpPr>
        <p:spPr>
          <a:xfrm>
            <a:off x="4389120" y="5669280"/>
            <a:ext cx="4114800" cy="82296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0">
                <a:solidFill>
                  <a:srgbClr val="1F2937"/>
                </a:solidFill>
                <a:latin typeface="Calibri"/>
              </a:rPr>
              <a:t>1. Click Change Password on settings.</a:t>
            </a:r>
          </a:p>
          <a:p>
            <a:pPr algn="l"/>
            <a:r>
              <a:rPr sz="1000" b="0">
                <a:solidFill>
                  <a:srgbClr val="1F2937"/>
                </a:solidFill>
                <a:latin typeface="Calibri"/>
              </a:rPr>
              <a:t>2. Enter old + new password.</a:t>
            </a:r>
          </a:p>
        </p:txBody>
      </p:sp>
      <p:sp>
        <p:nvSpPr>
          <p:cNvPr id="34" name="Rectangle 33"/>
          <p:cNvSpPr/>
          <p:nvPr/>
        </p:nvSpPr>
        <p:spPr>
          <a:xfrm>
            <a:off x="8503920" y="5669280"/>
            <a:ext cx="3657600" cy="82296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0">
                <a:solidFill>
                  <a:srgbClr val="1F2937"/>
                </a:solidFill>
                <a:latin typeface="Calibri"/>
              </a:rPr>
              <a:t>Password updated; confirmation banner shown.</a:t>
            </a:r>
          </a:p>
        </p:txBody>
      </p:sp>
      <p:sp>
        <p:nvSpPr>
          <p:cNvPr id="35" name="TextBox 34"/>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2. Requirements Analysis</a:t>
            </a:r>
          </a:p>
        </p:txBody>
      </p:sp>
      <p:sp>
        <p:nvSpPr>
          <p:cNvPr id="36" name="TextBox 35"/>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2.4  Sprint 3  —  Teleprompter and account cleanup</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2 — Requirements Analysis</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1371600"/>
            <a:ext cx="11247120" cy="365760"/>
          </a:xfrm>
          <a:prstGeom prst="rect">
            <a:avLst/>
          </a:prstGeom>
          <a:noFill/>
        </p:spPr>
        <p:txBody>
          <a:bodyPr wrap="square" lIns="45720" rIns="45720" tIns="18288" bIns="18288" anchor="t">
            <a:spAutoFit/>
          </a:bodyPr>
          <a:lstStyle/>
          <a:p>
            <a:pPr algn="l"/>
            <a:r>
              <a:rPr sz="1300" b="1" i="0">
                <a:solidFill>
                  <a:srgbClr val="1E2761"/>
                </a:solidFill>
                <a:latin typeface="Calibri"/>
              </a:rPr>
              <a:t>Sprint 3 Requirements  (min 3 NFRs)</a:t>
            </a:r>
          </a:p>
        </p:txBody>
      </p:sp>
      <p:sp>
        <p:nvSpPr>
          <p:cNvPr id="6" name="Rounded Rectangle 5"/>
          <p:cNvSpPr/>
          <p:nvPr/>
        </p:nvSpPr>
        <p:spPr>
          <a:xfrm>
            <a:off x="457200" y="1783080"/>
            <a:ext cx="822960" cy="292608"/>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000" b="1">
                <a:solidFill>
                  <a:srgbClr val="FFFFFF"/>
                </a:solidFill>
                <a:latin typeface="Calibri"/>
              </a:rPr>
              <a:t>FR6</a:t>
            </a:r>
          </a:p>
        </p:txBody>
      </p:sp>
      <p:sp>
        <p:nvSpPr>
          <p:cNvPr id="7" name="TextBox 6"/>
          <p:cNvSpPr txBox="1"/>
          <p:nvPr/>
        </p:nvSpPr>
        <p:spPr>
          <a:xfrm>
            <a:off x="1371600" y="1783080"/>
            <a:ext cx="4754880" cy="292608"/>
          </a:xfrm>
          <a:prstGeom prst="rect">
            <a:avLst/>
          </a:prstGeom>
          <a:noFill/>
        </p:spPr>
        <p:txBody>
          <a:bodyPr wrap="square" lIns="45720" rIns="45720" tIns="18288" bIns="18288" anchor="ctr">
            <a:spAutoFit/>
          </a:bodyPr>
          <a:lstStyle/>
          <a:p>
            <a:pPr algn="l"/>
            <a:r>
              <a:rPr sz="1000" b="0" i="0">
                <a:solidFill>
                  <a:srgbClr val="1F2937"/>
                </a:solidFill>
                <a:latin typeface="Calibri"/>
              </a:rPr>
              <a:t>Teleprompter scrolling</a:t>
            </a:r>
          </a:p>
        </p:txBody>
      </p:sp>
      <p:sp>
        <p:nvSpPr>
          <p:cNvPr id="8" name="Rounded Rectangle 7"/>
          <p:cNvSpPr/>
          <p:nvPr/>
        </p:nvSpPr>
        <p:spPr>
          <a:xfrm>
            <a:off x="6217920" y="1783080"/>
            <a:ext cx="822960" cy="292608"/>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000" b="1">
                <a:solidFill>
                  <a:srgbClr val="FFFFFF"/>
                </a:solidFill>
                <a:latin typeface="Calibri"/>
              </a:rPr>
              <a:t>FR9</a:t>
            </a:r>
          </a:p>
        </p:txBody>
      </p:sp>
      <p:sp>
        <p:nvSpPr>
          <p:cNvPr id="9" name="TextBox 8"/>
          <p:cNvSpPr txBox="1"/>
          <p:nvPr/>
        </p:nvSpPr>
        <p:spPr>
          <a:xfrm>
            <a:off x="7132320" y="1783080"/>
            <a:ext cx="4754880" cy="292608"/>
          </a:xfrm>
          <a:prstGeom prst="rect">
            <a:avLst/>
          </a:prstGeom>
          <a:noFill/>
        </p:spPr>
        <p:txBody>
          <a:bodyPr wrap="square" lIns="45720" rIns="45720" tIns="18288" bIns="18288" anchor="ctr">
            <a:spAutoFit/>
          </a:bodyPr>
          <a:lstStyle/>
          <a:p>
            <a:pPr algn="l"/>
            <a:r>
              <a:rPr sz="1000" b="0" i="0">
                <a:solidFill>
                  <a:srgbClr val="1F2937"/>
                </a:solidFill>
                <a:latin typeface="Calibri"/>
              </a:rPr>
              <a:t>Delete account</a:t>
            </a:r>
          </a:p>
        </p:txBody>
      </p:sp>
      <p:sp>
        <p:nvSpPr>
          <p:cNvPr id="10" name="Rounded Rectangle 9"/>
          <p:cNvSpPr/>
          <p:nvPr/>
        </p:nvSpPr>
        <p:spPr>
          <a:xfrm>
            <a:off x="457200" y="2148840"/>
            <a:ext cx="822960" cy="292608"/>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000" b="1">
                <a:solidFill>
                  <a:srgbClr val="FFFFFF"/>
                </a:solidFill>
                <a:latin typeface="Calibri"/>
              </a:rPr>
              <a:t>NFR1</a:t>
            </a:r>
          </a:p>
        </p:txBody>
      </p:sp>
      <p:sp>
        <p:nvSpPr>
          <p:cNvPr id="11" name="TextBox 10"/>
          <p:cNvSpPr txBox="1"/>
          <p:nvPr/>
        </p:nvSpPr>
        <p:spPr>
          <a:xfrm>
            <a:off x="1371600" y="2148840"/>
            <a:ext cx="4754880" cy="292608"/>
          </a:xfrm>
          <a:prstGeom prst="rect">
            <a:avLst/>
          </a:prstGeom>
          <a:noFill/>
        </p:spPr>
        <p:txBody>
          <a:bodyPr wrap="square" lIns="45720" rIns="45720" tIns="18288" bIns="18288" anchor="ctr">
            <a:spAutoFit/>
          </a:bodyPr>
          <a:lstStyle/>
          <a:p>
            <a:pPr algn="l"/>
            <a:r>
              <a:rPr sz="1000" b="0" i="0">
                <a:solidFill>
                  <a:srgbClr val="1F2937"/>
                </a:solidFill>
                <a:latin typeface="Calibri"/>
              </a:rPr>
              <a:t>Response ≤ 5s</a:t>
            </a:r>
          </a:p>
        </p:txBody>
      </p:sp>
      <p:sp>
        <p:nvSpPr>
          <p:cNvPr id="12" name="Rounded Rectangle 11"/>
          <p:cNvSpPr/>
          <p:nvPr/>
        </p:nvSpPr>
        <p:spPr>
          <a:xfrm>
            <a:off x="6217920" y="2148840"/>
            <a:ext cx="822960" cy="292608"/>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000" b="1">
                <a:solidFill>
                  <a:srgbClr val="FFFFFF"/>
                </a:solidFill>
                <a:latin typeface="Calibri"/>
              </a:rPr>
              <a:t>NFR2</a:t>
            </a:r>
          </a:p>
        </p:txBody>
      </p:sp>
      <p:sp>
        <p:nvSpPr>
          <p:cNvPr id="13" name="TextBox 12"/>
          <p:cNvSpPr txBox="1"/>
          <p:nvPr/>
        </p:nvSpPr>
        <p:spPr>
          <a:xfrm>
            <a:off x="7132320" y="2148840"/>
            <a:ext cx="4754880" cy="292608"/>
          </a:xfrm>
          <a:prstGeom prst="rect">
            <a:avLst/>
          </a:prstGeom>
          <a:noFill/>
        </p:spPr>
        <p:txBody>
          <a:bodyPr wrap="square" lIns="45720" rIns="45720" tIns="18288" bIns="18288" anchor="ctr">
            <a:spAutoFit/>
          </a:bodyPr>
          <a:lstStyle/>
          <a:p>
            <a:pPr algn="l"/>
            <a:r>
              <a:rPr sz="1000" b="0" i="0">
                <a:solidFill>
                  <a:srgbClr val="1F2937"/>
                </a:solidFill>
                <a:latin typeface="Calibri"/>
              </a:rPr>
              <a:t>Learnability 10 min</a:t>
            </a:r>
          </a:p>
        </p:txBody>
      </p:sp>
      <p:sp>
        <p:nvSpPr>
          <p:cNvPr id="14" name="Rounded Rectangle 13"/>
          <p:cNvSpPr/>
          <p:nvPr/>
        </p:nvSpPr>
        <p:spPr>
          <a:xfrm>
            <a:off x="457200" y="2514600"/>
            <a:ext cx="822960" cy="292608"/>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000" b="1">
                <a:solidFill>
                  <a:srgbClr val="FFFFFF"/>
                </a:solidFill>
                <a:latin typeface="Calibri"/>
              </a:rPr>
              <a:t>NFR3</a:t>
            </a:r>
          </a:p>
        </p:txBody>
      </p:sp>
      <p:sp>
        <p:nvSpPr>
          <p:cNvPr id="15" name="TextBox 14"/>
          <p:cNvSpPr txBox="1"/>
          <p:nvPr/>
        </p:nvSpPr>
        <p:spPr>
          <a:xfrm>
            <a:off x="1371600" y="2514600"/>
            <a:ext cx="4754880" cy="292608"/>
          </a:xfrm>
          <a:prstGeom prst="rect">
            <a:avLst/>
          </a:prstGeom>
          <a:noFill/>
        </p:spPr>
        <p:txBody>
          <a:bodyPr wrap="square" lIns="45720" rIns="45720" tIns="18288" bIns="18288" anchor="ctr">
            <a:spAutoFit/>
          </a:bodyPr>
          <a:lstStyle/>
          <a:p>
            <a:pPr algn="l"/>
            <a:r>
              <a:rPr sz="1000" b="0" i="0">
                <a:solidFill>
                  <a:srgbClr val="1F2937"/>
                </a:solidFill>
                <a:latin typeface="Calibri"/>
              </a:rPr>
              <a:t>Audio only on user's account</a:t>
            </a:r>
          </a:p>
        </p:txBody>
      </p:sp>
      <p:sp>
        <p:nvSpPr>
          <p:cNvPr id="16" name="TextBox 15"/>
          <p:cNvSpPr txBox="1"/>
          <p:nvPr/>
        </p:nvSpPr>
        <p:spPr>
          <a:xfrm>
            <a:off x="457200" y="3383280"/>
            <a:ext cx="11247120" cy="274320"/>
          </a:xfrm>
          <a:prstGeom prst="rect">
            <a:avLst/>
          </a:prstGeom>
          <a:noFill/>
        </p:spPr>
        <p:txBody>
          <a:bodyPr wrap="square" lIns="45720" rIns="45720" tIns="18288" bIns="18288" anchor="t">
            <a:spAutoFit/>
          </a:bodyPr>
          <a:lstStyle/>
          <a:p>
            <a:pPr algn="l"/>
            <a:r>
              <a:rPr sz="1300" b="1" i="0">
                <a:solidFill>
                  <a:srgbClr val="1E2761"/>
                </a:solidFill>
                <a:latin typeface="Calibri"/>
              </a:rPr>
              <a:t>Feature / input / output table</a:t>
            </a:r>
          </a:p>
        </p:txBody>
      </p:sp>
      <p:sp>
        <p:nvSpPr>
          <p:cNvPr id="17" name="Rectangle 16"/>
          <p:cNvSpPr/>
          <p:nvPr/>
        </p:nvSpPr>
        <p:spPr>
          <a:xfrm>
            <a:off x="457200" y="3657600"/>
            <a:ext cx="731520" cy="365760"/>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100" b="1">
                <a:solidFill>
                  <a:srgbClr val="FFFFFF"/>
                </a:solidFill>
                <a:latin typeface="Calibri"/>
              </a:rPr>
              <a:t>ID</a:t>
            </a:r>
          </a:p>
        </p:txBody>
      </p:sp>
      <p:sp>
        <p:nvSpPr>
          <p:cNvPr id="18" name="Rectangle 17"/>
          <p:cNvSpPr/>
          <p:nvPr/>
        </p:nvSpPr>
        <p:spPr>
          <a:xfrm>
            <a:off x="1188720" y="3657600"/>
            <a:ext cx="3200400" cy="365760"/>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100" b="1">
                <a:solidFill>
                  <a:srgbClr val="FFFFFF"/>
                </a:solidFill>
                <a:latin typeface="Calibri"/>
              </a:rPr>
              <a:t>Feature</a:t>
            </a:r>
          </a:p>
        </p:txBody>
      </p:sp>
      <p:sp>
        <p:nvSpPr>
          <p:cNvPr id="19" name="Rectangle 18"/>
          <p:cNvSpPr/>
          <p:nvPr/>
        </p:nvSpPr>
        <p:spPr>
          <a:xfrm>
            <a:off x="4389120" y="3657600"/>
            <a:ext cx="4114800" cy="365760"/>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100" b="1">
                <a:solidFill>
                  <a:srgbClr val="FFFFFF"/>
                </a:solidFill>
                <a:latin typeface="Calibri"/>
              </a:rPr>
              <a:t>Input Operations (sequence + data)</a:t>
            </a:r>
          </a:p>
        </p:txBody>
      </p:sp>
      <p:sp>
        <p:nvSpPr>
          <p:cNvPr id="20" name="Rectangle 19"/>
          <p:cNvSpPr/>
          <p:nvPr/>
        </p:nvSpPr>
        <p:spPr>
          <a:xfrm>
            <a:off x="8503920" y="3657600"/>
            <a:ext cx="3657600" cy="365760"/>
          </a:xfrm>
          <a:prstGeom prst="rect">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18288" bIns="18288" wrap="square"/>
          <a:lstStyle/>
          <a:p>
            <a:pPr algn="l"/>
            <a:r>
              <a:rPr sz="1100" b="1">
                <a:solidFill>
                  <a:srgbClr val="FFFFFF"/>
                </a:solidFill>
                <a:latin typeface="Calibri"/>
              </a:rPr>
              <a:t>Expected Output</a:t>
            </a:r>
          </a:p>
        </p:txBody>
      </p:sp>
      <p:sp>
        <p:nvSpPr>
          <p:cNvPr id="21" name="Rectangle 20"/>
          <p:cNvSpPr/>
          <p:nvPr/>
        </p:nvSpPr>
        <p:spPr>
          <a:xfrm>
            <a:off x="457200" y="4023360"/>
            <a:ext cx="731520" cy="82296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1">
                <a:solidFill>
                  <a:srgbClr val="1F2937"/>
                </a:solidFill>
                <a:latin typeface="Calibri"/>
              </a:rPr>
              <a:t>F7</a:t>
            </a:r>
          </a:p>
        </p:txBody>
      </p:sp>
      <p:sp>
        <p:nvSpPr>
          <p:cNvPr id="22" name="Rectangle 21"/>
          <p:cNvSpPr/>
          <p:nvPr/>
        </p:nvSpPr>
        <p:spPr>
          <a:xfrm>
            <a:off x="1188720" y="4023360"/>
            <a:ext cx="3200400" cy="82296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0">
                <a:solidFill>
                  <a:srgbClr val="1F2937"/>
                </a:solidFill>
                <a:latin typeface="Calibri"/>
              </a:rPr>
              <a:t>Teleprompter Mode — practise from a script</a:t>
            </a:r>
          </a:p>
        </p:txBody>
      </p:sp>
      <p:sp>
        <p:nvSpPr>
          <p:cNvPr id="23" name="Rectangle 22"/>
          <p:cNvSpPr/>
          <p:nvPr/>
        </p:nvSpPr>
        <p:spPr>
          <a:xfrm>
            <a:off x="4389120" y="4023360"/>
            <a:ext cx="4114800" cy="82296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0">
                <a:solidFill>
                  <a:srgbClr val="1F2937"/>
                </a:solidFill>
                <a:latin typeface="Calibri"/>
              </a:rPr>
              <a:t>1. Open TeleprompterView.</a:t>
            </a:r>
          </a:p>
          <a:p>
            <a:pPr algn="l"/>
            <a:r>
              <a:rPr sz="1000" b="0">
                <a:solidFill>
                  <a:srgbClr val="1F2937"/>
                </a:solidFill>
                <a:latin typeface="Calibri"/>
              </a:rPr>
              <a:t>2. Paste script.</a:t>
            </a:r>
          </a:p>
          <a:p>
            <a:pPr algn="l"/>
            <a:r>
              <a:rPr sz="1000" b="0">
                <a:solidFill>
                  <a:srgbClr val="1F2937"/>
                </a:solidFill>
                <a:latin typeface="Calibri"/>
              </a:rPr>
              <a:t>3. Pick WPM.</a:t>
            </a:r>
          </a:p>
          <a:p>
            <a:pPr algn="l"/>
            <a:r>
              <a:rPr sz="1000" b="0">
                <a:solidFill>
                  <a:srgbClr val="1F2937"/>
                </a:solidFill>
                <a:latin typeface="Calibri"/>
              </a:rPr>
              <a:t>4. Click Start.</a:t>
            </a:r>
          </a:p>
        </p:txBody>
      </p:sp>
      <p:sp>
        <p:nvSpPr>
          <p:cNvPr id="24" name="Rectangle 23"/>
          <p:cNvSpPr/>
          <p:nvPr/>
        </p:nvSpPr>
        <p:spPr>
          <a:xfrm>
            <a:off x="8503920" y="4023360"/>
            <a:ext cx="3657600" cy="822960"/>
          </a:xfrm>
          <a:prstGeom prst="rect">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0">
                <a:solidFill>
                  <a:srgbClr val="1F2937"/>
                </a:solidFill>
                <a:latin typeface="Calibri"/>
              </a:rPr>
              <a:t>Script scrolls at chosen WPM; live transcript shows pacing accuracy.</a:t>
            </a:r>
          </a:p>
        </p:txBody>
      </p:sp>
      <p:sp>
        <p:nvSpPr>
          <p:cNvPr id="25" name="Rectangle 24"/>
          <p:cNvSpPr/>
          <p:nvPr/>
        </p:nvSpPr>
        <p:spPr>
          <a:xfrm>
            <a:off x="457200" y="4846320"/>
            <a:ext cx="731520" cy="82296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1">
                <a:solidFill>
                  <a:srgbClr val="1F2937"/>
                </a:solidFill>
                <a:latin typeface="Calibri"/>
              </a:rPr>
              <a:t>F8</a:t>
            </a:r>
          </a:p>
        </p:txBody>
      </p:sp>
      <p:sp>
        <p:nvSpPr>
          <p:cNvPr id="26" name="Rectangle 25"/>
          <p:cNvSpPr/>
          <p:nvPr/>
        </p:nvSpPr>
        <p:spPr>
          <a:xfrm>
            <a:off x="1188720" y="4846320"/>
            <a:ext cx="3200400" cy="82296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0">
                <a:solidFill>
                  <a:srgbClr val="1F2937"/>
                </a:solidFill>
                <a:latin typeface="Calibri"/>
              </a:rPr>
              <a:t>Delete Account</a:t>
            </a:r>
          </a:p>
        </p:txBody>
      </p:sp>
      <p:sp>
        <p:nvSpPr>
          <p:cNvPr id="27" name="Rectangle 26"/>
          <p:cNvSpPr/>
          <p:nvPr/>
        </p:nvSpPr>
        <p:spPr>
          <a:xfrm>
            <a:off x="4389120" y="4846320"/>
            <a:ext cx="4114800" cy="82296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0">
                <a:solidFill>
                  <a:srgbClr val="1F2937"/>
                </a:solidFill>
                <a:latin typeface="Calibri"/>
              </a:rPr>
              <a:t>1. Click Delete Account on settings.</a:t>
            </a:r>
          </a:p>
          <a:p>
            <a:pPr algn="l"/>
            <a:r>
              <a:rPr sz="1000" b="0">
                <a:solidFill>
                  <a:srgbClr val="1F2937"/>
                </a:solidFill>
                <a:latin typeface="Calibri"/>
              </a:rPr>
              <a:t>2. Confirm.</a:t>
            </a:r>
          </a:p>
        </p:txBody>
      </p:sp>
      <p:sp>
        <p:nvSpPr>
          <p:cNvPr id="28" name="Rectangle 27"/>
          <p:cNvSpPr/>
          <p:nvPr/>
        </p:nvSpPr>
        <p:spPr>
          <a:xfrm>
            <a:off x="8503920" y="4846320"/>
            <a:ext cx="3657600" cy="822960"/>
          </a:xfrm>
          <a:prstGeom prst="rect">
            <a:avLst/>
          </a:prstGeom>
          <a:solidFill>
            <a:srgbClr val="F4F6FB"/>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lIns="73152" rIns="45720" bIns="18288" wrap="square"/>
          <a:lstStyle/>
          <a:p>
            <a:pPr algn="l"/>
            <a:r>
              <a:rPr sz="1000" b="0">
                <a:solidFill>
                  <a:srgbClr val="1F2937"/>
                </a:solidFill>
                <a:latin typeface="Calibri"/>
              </a:rPr>
              <a:t>Account + all DrillSessions deleted; user logged out.</a:t>
            </a:r>
          </a:p>
        </p:txBody>
      </p:sp>
      <p:sp>
        <p:nvSpPr>
          <p:cNvPr id="29" name="TextBox 28"/>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2. Requirements Analysis</a:t>
            </a:r>
          </a:p>
        </p:txBody>
      </p:sp>
      <p:sp>
        <p:nvSpPr>
          <p:cNvPr id="30" name="TextBox 29"/>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377440"/>
            <a:ext cx="11247120" cy="1097280"/>
          </a:xfrm>
          <a:prstGeom prst="rect">
            <a:avLst/>
          </a:prstGeom>
          <a:noFill/>
        </p:spPr>
        <p:txBody>
          <a:bodyPr wrap="square" lIns="45720" rIns="45720" tIns="18288" bIns="18288" anchor="t">
            <a:spAutoFit/>
          </a:bodyPr>
          <a:lstStyle/>
          <a:p>
            <a:pPr algn="l"/>
            <a:r>
              <a:rPr sz="2200" b="0" i="1">
                <a:solidFill>
                  <a:srgbClr val="CADCFC"/>
                </a:solidFill>
                <a:latin typeface="Calibri"/>
              </a:rPr>
              <a:t>Section 3</a:t>
            </a:r>
          </a:p>
        </p:txBody>
      </p:sp>
      <p:sp>
        <p:nvSpPr>
          <p:cNvPr id="3" name="TextBox 2"/>
          <p:cNvSpPr txBox="1"/>
          <p:nvPr/>
        </p:nvSpPr>
        <p:spPr>
          <a:xfrm>
            <a:off x="457200" y="2834640"/>
            <a:ext cx="11247120" cy="1371600"/>
          </a:xfrm>
          <a:prstGeom prst="rect">
            <a:avLst/>
          </a:prstGeom>
          <a:noFill/>
        </p:spPr>
        <p:txBody>
          <a:bodyPr wrap="square" lIns="45720" rIns="45720" tIns="18288" bIns="18288" anchor="t">
            <a:spAutoFit/>
          </a:bodyPr>
          <a:lstStyle/>
          <a:p>
            <a:pPr algn="l"/>
            <a:r>
              <a:rPr sz="5400" b="1" i="0">
                <a:solidFill>
                  <a:srgbClr val="FFFFFF"/>
                </a:solidFill>
                <a:latin typeface="Calibri"/>
              </a:rPr>
              <a:t>Architecture &amp; OO Design</a:t>
            </a:r>
          </a:p>
        </p:txBody>
      </p:sp>
      <p:sp>
        <p:nvSpPr>
          <p:cNvPr id="4" name="Rectangle 3"/>
          <p:cNvSpPr/>
          <p:nvPr/>
        </p:nvSpPr>
        <p:spPr>
          <a:xfrm>
            <a:off x="457200" y="4389120"/>
            <a:ext cx="1371600" cy="73152"/>
          </a:xfrm>
          <a:prstGeom prst="rect">
            <a:avLst/>
          </a:prstGeom>
          <a:solidFill>
            <a:srgbClr val="F59E0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 name="TextBox 4"/>
          <p:cNvSpPr txBox="1"/>
          <p:nvPr/>
        </p:nvSpPr>
        <p:spPr>
          <a:xfrm>
            <a:off x="457200" y="4572000"/>
            <a:ext cx="11247120" cy="457200"/>
          </a:xfrm>
          <a:prstGeom prst="rect">
            <a:avLst/>
          </a:prstGeom>
          <a:noFill/>
        </p:spPr>
        <p:txBody>
          <a:bodyPr wrap="square" lIns="45720" rIns="45720" tIns="18288" bIns="18288" anchor="t">
            <a:spAutoFit/>
          </a:bodyPr>
          <a:lstStyle/>
          <a:p>
            <a:pPr algn="l"/>
            <a:r>
              <a:rPr sz="2000" b="1" i="0">
                <a:solidFill>
                  <a:srgbClr val="F59E0B"/>
                </a:solidFill>
                <a:latin typeface="Calibri"/>
              </a:rPr>
              <a:t>25% of the mark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3.1  Architecture Style</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3 — Architecture &amp; OO Design</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57200" y="1463040"/>
            <a:ext cx="5577840" cy="4937760"/>
          </a:xfrm>
          <a:prstGeom prst="roundRect">
            <a:avLst>
              <a:gd name="adj" fmla="val 10000"/>
            </a:avLst>
          </a:prstGeom>
          <a:solidFill>
            <a:srgbClr val="DBEAFE"/>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 name="TextBox 5"/>
          <p:cNvSpPr txBox="1"/>
          <p:nvPr/>
        </p:nvSpPr>
        <p:spPr>
          <a:xfrm>
            <a:off x="731520" y="1645920"/>
            <a:ext cx="5029200" cy="457200"/>
          </a:xfrm>
          <a:prstGeom prst="rect">
            <a:avLst/>
          </a:prstGeom>
          <a:noFill/>
        </p:spPr>
        <p:txBody>
          <a:bodyPr wrap="square" lIns="45720" rIns="45720" tIns="18288" bIns="18288" anchor="t">
            <a:spAutoFit/>
          </a:bodyPr>
          <a:lstStyle/>
          <a:p>
            <a:pPr algn="l"/>
            <a:r>
              <a:rPr sz="1100" b="1" i="0">
                <a:solidFill>
                  <a:srgbClr val="1E40AF"/>
                </a:solidFill>
                <a:latin typeface="Calibri"/>
              </a:rPr>
              <a:t>OO STRUCTURE</a:t>
            </a:r>
          </a:p>
        </p:txBody>
      </p:sp>
      <p:sp>
        <p:nvSpPr>
          <p:cNvPr id="7" name="TextBox 6"/>
          <p:cNvSpPr txBox="1"/>
          <p:nvPr/>
        </p:nvSpPr>
        <p:spPr>
          <a:xfrm>
            <a:off x="731520" y="1965960"/>
            <a:ext cx="5029200" cy="640080"/>
          </a:xfrm>
          <a:prstGeom prst="rect">
            <a:avLst/>
          </a:prstGeom>
          <a:noFill/>
        </p:spPr>
        <p:txBody>
          <a:bodyPr wrap="square" lIns="45720" rIns="45720" tIns="18288" bIns="18288" anchor="t">
            <a:spAutoFit/>
          </a:bodyPr>
          <a:lstStyle/>
          <a:p>
            <a:pPr algn="l"/>
            <a:r>
              <a:rPr sz="2600" b="1" i="0">
                <a:solidFill>
                  <a:srgbClr val="1E40AF"/>
                </a:solidFill>
                <a:latin typeface="Calibri"/>
              </a:rPr>
              <a:t>Model–View–Controller</a:t>
            </a:r>
          </a:p>
        </p:txBody>
      </p:sp>
      <p:sp>
        <p:nvSpPr>
          <p:cNvPr id="8" name="TextBox 7"/>
          <p:cNvSpPr txBox="1"/>
          <p:nvPr/>
        </p:nvSpPr>
        <p:spPr>
          <a:xfrm>
            <a:off x="731520" y="2834640"/>
            <a:ext cx="5029200" cy="3383280"/>
          </a:xfrm>
          <a:prstGeom prst="rect">
            <a:avLst/>
          </a:prstGeom>
          <a:noFill/>
        </p:spPr>
        <p:txBody>
          <a:bodyPr wrap="square" lIns="45720" rIns="45720" tIns="18288" bIns="18288" anchor="t">
            <a:spAutoFit/>
          </a:bodyPr>
          <a:lstStyle/>
          <a:p>
            <a:pPr algn="l"/>
            <a:r>
              <a:rPr sz="1200" b="0" i="0">
                <a:solidFill>
                  <a:srgbClr val="1F2937"/>
                </a:solidFill>
                <a:latin typeface="Calibri"/>
              </a:rPr>
              <a:t>Every class belongs to one layer.</a:t>
            </a:r>
          </a:p>
          <a:p>
            <a:pPr algn="l"/>
            <a:r>
              <a:rPr sz="1200" b="0" i="0">
                <a:solidFill>
                  <a:srgbClr val="1F2937"/>
                </a:solidFill>
                <a:latin typeface="Calibri"/>
              </a:rPr>
              <a:t/>
            </a:r>
          </a:p>
          <a:p>
            <a:pPr algn="l"/>
            <a:r>
              <a:rPr sz="1200" b="0" i="0">
                <a:solidFill>
                  <a:srgbClr val="1F2937"/>
                </a:solidFill>
                <a:latin typeface="Calibri"/>
              </a:rPr>
              <a:t>• Views render UI and raise events</a:t>
            </a:r>
          </a:p>
          <a:p>
            <a:pPr algn="l"/>
            <a:r>
              <a:rPr sz="1200" b="0" i="0">
                <a:solidFill>
                  <a:srgbClr val="1F2937"/>
                </a:solidFill>
                <a:latin typeface="Calibri"/>
              </a:rPr>
              <a:t>• Controllers orchestrate; no UI, no DB</a:t>
            </a:r>
          </a:p>
          <a:p>
            <a:pPr algn="l"/>
            <a:r>
              <a:rPr sz="1200" b="0" i="0">
                <a:solidFill>
                  <a:srgbClr val="1F2937"/>
                </a:solidFill>
                <a:latin typeface="Calibri"/>
              </a:rPr>
              <a:t>• Models are plain data</a:t>
            </a:r>
          </a:p>
          <a:p>
            <a:pPr algn="l"/>
            <a:r>
              <a:rPr sz="1200" b="0" i="0">
                <a:solidFill>
                  <a:srgbClr val="1F2937"/>
                </a:solidFill>
                <a:latin typeface="Calibri"/>
              </a:rPr>
              <a:t>• External services wrap anything that leaves the process</a:t>
            </a:r>
          </a:p>
          <a:p>
            <a:pPr algn="l"/>
            <a:r>
              <a:rPr sz="1200" b="0" i="0">
                <a:solidFill>
                  <a:srgbClr val="1F2937"/>
                </a:solidFill>
                <a:latin typeface="Calibri"/>
              </a:rPr>
              <a:t/>
            </a:r>
          </a:p>
          <a:p>
            <a:pPr algn="l"/>
            <a:r>
              <a:rPr sz="1200" b="0" i="0">
                <a:solidFill>
                  <a:srgbClr val="1F2937"/>
                </a:solidFill>
                <a:latin typeface="Calibri"/>
              </a:rPr>
              <a:t>Rules enforced:</a:t>
            </a:r>
          </a:p>
          <a:p>
            <a:pPr algn="l"/>
            <a:r>
              <a:rPr sz="1200" b="0" i="0">
                <a:solidFill>
                  <a:srgbClr val="1F2937"/>
                </a:solidFill>
                <a:latin typeface="Calibri"/>
              </a:rPr>
              <a:t>1. No View imports a Model directly</a:t>
            </a:r>
          </a:p>
          <a:p>
            <a:pPr algn="l"/>
            <a:r>
              <a:rPr sz="1200" b="0" i="0">
                <a:solidFill>
                  <a:srgbClr val="1F2937"/>
                </a:solidFill>
                <a:latin typeface="Calibri"/>
              </a:rPr>
              <a:t>2. No Controller renders UI</a:t>
            </a:r>
          </a:p>
          <a:p>
            <a:pPr algn="l"/>
            <a:r>
              <a:rPr sz="1200" b="0" i="0">
                <a:solidFill>
                  <a:srgbClr val="1F2937"/>
                </a:solidFill>
                <a:latin typeface="Calibri"/>
              </a:rPr>
              <a:t>3. No View / Model calls an external service — only Controllers do</a:t>
            </a:r>
          </a:p>
          <a:p>
            <a:pPr algn="l"/>
            <a:r>
              <a:rPr sz="1200" b="0" i="0">
                <a:solidFill>
                  <a:srgbClr val="1F2937"/>
                </a:solidFill>
                <a:latin typeface="Calibri"/>
              </a:rPr>
              <a:t>4. Models have no behaviour that crosses layers</a:t>
            </a:r>
          </a:p>
        </p:txBody>
      </p:sp>
      <p:sp>
        <p:nvSpPr>
          <p:cNvPr id="9" name="Rounded Rectangle 8"/>
          <p:cNvSpPr/>
          <p:nvPr/>
        </p:nvSpPr>
        <p:spPr>
          <a:xfrm>
            <a:off x="6126480" y="1463040"/>
            <a:ext cx="5577840" cy="4937760"/>
          </a:xfrm>
          <a:prstGeom prst="roundRect">
            <a:avLst>
              <a:gd name="adj" fmla="val 10000"/>
            </a:avLst>
          </a:prstGeom>
          <a:solidFill>
            <a:srgbClr val="D1FAE5"/>
          </a:solidFill>
          <a:ln w="19050">
            <a:solidFill>
              <a:srgbClr val="065F46"/>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0" name="TextBox 9"/>
          <p:cNvSpPr txBox="1"/>
          <p:nvPr/>
        </p:nvSpPr>
        <p:spPr>
          <a:xfrm>
            <a:off x="6400800" y="1645920"/>
            <a:ext cx="5029200" cy="457200"/>
          </a:xfrm>
          <a:prstGeom prst="rect">
            <a:avLst/>
          </a:prstGeom>
          <a:noFill/>
        </p:spPr>
        <p:txBody>
          <a:bodyPr wrap="square" lIns="45720" rIns="45720" tIns="18288" bIns="18288" anchor="t">
            <a:spAutoFit/>
          </a:bodyPr>
          <a:lstStyle/>
          <a:p>
            <a:pPr algn="l"/>
            <a:r>
              <a:rPr sz="1100" b="1" i="0">
                <a:solidFill>
                  <a:srgbClr val="065F46"/>
                </a:solidFill>
                <a:latin typeface="Calibri"/>
              </a:rPr>
              <a:t>RUNTIME DATA FLOW</a:t>
            </a:r>
          </a:p>
        </p:txBody>
      </p:sp>
      <p:sp>
        <p:nvSpPr>
          <p:cNvPr id="11" name="TextBox 10"/>
          <p:cNvSpPr txBox="1"/>
          <p:nvPr/>
        </p:nvSpPr>
        <p:spPr>
          <a:xfrm>
            <a:off x="6400800" y="1965960"/>
            <a:ext cx="5029200" cy="640080"/>
          </a:xfrm>
          <a:prstGeom prst="rect">
            <a:avLst/>
          </a:prstGeom>
          <a:noFill/>
        </p:spPr>
        <p:txBody>
          <a:bodyPr wrap="square" lIns="45720" rIns="45720" tIns="18288" bIns="18288" anchor="t">
            <a:spAutoFit/>
          </a:bodyPr>
          <a:lstStyle/>
          <a:p>
            <a:pPr algn="l"/>
            <a:r>
              <a:rPr sz="2600" b="1" i="0">
                <a:solidFill>
                  <a:srgbClr val="065F46"/>
                </a:solidFill>
                <a:latin typeface="Calibri"/>
              </a:rPr>
              <a:t>Pipe-and-Filter</a:t>
            </a:r>
          </a:p>
        </p:txBody>
      </p:sp>
      <p:sp>
        <p:nvSpPr>
          <p:cNvPr id="12" name="TextBox 11"/>
          <p:cNvSpPr txBox="1"/>
          <p:nvPr/>
        </p:nvSpPr>
        <p:spPr>
          <a:xfrm>
            <a:off x="6400800" y="2834640"/>
            <a:ext cx="5029200" cy="3383280"/>
          </a:xfrm>
          <a:prstGeom prst="rect">
            <a:avLst/>
          </a:prstGeom>
          <a:noFill/>
        </p:spPr>
        <p:txBody>
          <a:bodyPr wrap="square" lIns="45720" rIns="45720" tIns="18288" bIns="18288" anchor="t">
            <a:spAutoFit/>
          </a:bodyPr>
          <a:lstStyle/>
          <a:p>
            <a:pPr algn="l"/>
            <a:r>
              <a:rPr sz="1200" b="0" i="0">
                <a:solidFill>
                  <a:srgbClr val="1F2937"/>
                </a:solidFill>
                <a:latin typeface="Calibri"/>
              </a:rPr>
              <a:t>Voice data moves through a chain of filters. Each filter does ONE transform.</a:t>
            </a:r>
          </a:p>
          <a:p>
            <a:pPr algn="l"/>
            <a:r>
              <a:rPr sz="1200" b="0" i="0">
                <a:solidFill>
                  <a:srgbClr val="1F2937"/>
                </a:solidFill>
                <a:latin typeface="Calibri"/>
              </a:rPr>
              <a:t/>
            </a:r>
          </a:p>
          <a:p>
            <a:pPr algn="l"/>
            <a:r>
              <a:rPr sz="1200" b="0" i="0">
                <a:solidFill>
                  <a:srgbClr val="1F2937"/>
                </a:solidFill>
                <a:latin typeface="Calibri"/>
              </a:rPr>
              <a:t>audio → speech → transcript → filler detection → metrics → AI scoring → feedback</a:t>
            </a:r>
          </a:p>
          <a:p>
            <a:pPr algn="l"/>
            <a:r>
              <a:rPr sz="1200" b="0" i="0">
                <a:solidFill>
                  <a:srgbClr val="1F2937"/>
                </a:solidFill>
                <a:latin typeface="Calibri"/>
              </a:rPr>
              <a:t/>
            </a:r>
          </a:p>
          <a:p>
            <a:pPr algn="l"/>
            <a:r>
              <a:rPr sz="1200" b="0" i="0">
                <a:solidFill>
                  <a:srgbClr val="1F2937"/>
                </a:solidFill>
                <a:latin typeface="Calibri"/>
              </a:rPr>
              <a:t>Goals achieved:</a:t>
            </a:r>
          </a:p>
          <a:p>
            <a:pPr algn="l"/>
            <a:r>
              <a:rPr sz="1200" b="0" i="0">
                <a:solidFill>
                  <a:srgbClr val="1F2937"/>
                </a:solidFill>
                <a:latin typeface="Calibri"/>
              </a:rPr>
              <a:t>• Re-use — SpeechRecognitionService is used by Trainer and Teleprompter</a:t>
            </a:r>
          </a:p>
          <a:p>
            <a:pPr algn="l"/>
            <a:r>
              <a:rPr sz="1200" b="0" i="0">
                <a:solidFill>
                  <a:srgbClr val="1F2937"/>
                </a:solidFill>
                <a:latin typeface="Calibri"/>
              </a:rPr>
              <a:t>• Incremental — live transcript and filler highlighting while user speaks</a:t>
            </a:r>
          </a:p>
          <a:p>
            <a:pPr algn="l"/>
            <a:r>
              <a:rPr sz="1200" b="0" i="0">
                <a:solidFill>
                  <a:srgbClr val="1F2937"/>
                </a:solidFill>
                <a:latin typeface="Calibri"/>
              </a:rPr>
              <a:t>• Parallelism — filler detection and transcript store run independently</a:t>
            </a:r>
          </a:p>
          <a:p>
            <a:pPr algn="l"/>
            <a:r>
              <a:rPr sz="1200" b="0" i="0">
                <a:solidFill>
                  <a:srgbClr val="1F2937"/>
                </a:solidFill>
                <a:latin typeface="Calibri"/>
              </a:rPr>
              <a:t>• Separation of concerns — swap Gemini Flash for a different model without touching the UI</a:t>
            </a:r>
          </a:p>
        </p:txBody>
      </p:sp>
      <p:sp>
        <p:nvSpPr>
          <p:cNvPr id="13" name="TextBox 12"/>
          <p:cNvSpPr txBox="1"/>
          <p:nvPr/>
        </p:nvSpPr>
        <p:spPr>
          <a:xfrm>
            <a:off x="457200" y="6446520"/>
            <a:ext cx="11247120" cy="274320"/>
          </a:xfrm>
          <a:prstGeom prst="rect">
            <a:avLst/>
          </a:prstGeom>
          <a:noFill/>
        </p:spPr>
        <p:txBody>
          <a:bodyPr wrap="square" lIns="45720" rIns="45720" tIns="18288" bIns="18288" anchor="t">
            <a:spAutoFit/>
          </a:bodyPr>
          <a:lstStyle/>
          <a:p>
            <a:pPr algn="ctr"/>
            <a:r>
              <a:rPr sz="1100" b="1" i="1">
                <a:solidFill>
                  <a:srgbClr val="1E2761"/>
                </a:solidFill>
                <a:latin typeface="Calibri"/>
              </a:rPr>
              <a:t>MVC = who owns what  |  Pipe-and-Filter = how data moves.  The External service layer of the class diagram IS the filter chain.</a:t>
            </a:r>
          </a:p>
        </p:txBody>
      </p:sp>
      <p:sp>
        <p:nvSpPr>
          <p:cNvPr id="14" name="TextBox 13"/>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3. Architecture &amp; OO Design</a:t>
            </a:r>
          </a:p>
        </p:txBody>
      </p:sp>
      <p:sp>
        <p:nvSpPr>
          <p:cNvPr id="15" name="TextBox 14"/>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3.2  Architecture Diagram — Pipe and Filter</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3 — Architecture &amp; OO Design</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57200" y="2971800"/>
            <a:ext cx="1188720" cy="914400"/>
          </a:xfrm>
          <a:prstGeom prst="roundRect">
            <a:avLst>
              <a:gd name="adj" fmla="val 10000"/>
            </a:avLst>
          </a:prstGeom>
          <a:solidFill>
            <a:srgbClr val="FEF3C7"/>
          </a:solidFill>
          <a:ln w="1905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92400E"/>
                </a:solidFill>
                <a:latin typeface="Calibri"/>
              </a:rPr>
              <a:t>🎤</a:t>
            </a:r>
          </a:p>
          <a:p>
            <a:pPr algn="ctr"/>
            <a:r>
              <a:rPr sz="1100" b="1">
                <a:solidFill>
                  <a:srgbClr val="92400E"/>
                </a:solidFill>
                <a:latin typeface="Calibri"/>
              </a:rPr>
              <a:t>Audio In</a:t>
            </a:r>
          </a:p>
        </p:txBody>
      </p:sp>
      <p:sp>
        <p:nvSpPr>
          <p:cNvPr id="6" name="Rounded Rectangle 5"/>
          <p:cNvSpPr/>
          <p:nvPr/>
        </p:nvSpPr>
        <p:spPr>
          <a:xfrm>
            <a:off x="1874519" y="2971800"/>
            <a:ext cx="1234440" cy="914400"/>
          </a:xfrm>
          <a:prstGeom prst="roundRect">
            <a:avLst>
              <a:gd name="adj" fmla="val 10000"/>
            </a:avLst>
          </a:prstGeom>
          <a:solidFill>
            <a:srgbClr val="DBEAFE"/>
          </a:solidFill>
          <a:ln w="15875">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000" b="1">
                <a:solidFill>
                  <a:srgbClr val="1E40AF"/>
                </a:solidFill>
                <a:latin typeface="Calibri"/>
              </a:rPr>
              <a:t>Audio</a:t>
            </a:r>
          </a:p>
          <a:p>
            <a:pPr algn="ctr"/>
            <a:r>
              <a:rPr sz="1000" b="1">
                <a:solidFill>
                  <a:srgbClr val="1E40AF"/>
                </a:solidFill>
                <a:latin typeface="Calibri"/>
              </a:rPr>
              <a:t>Capture</a:t>
            </a:r>
          </a:p>
        </p:txBody>
      </p:sp>
      <p:sp>
        <p:nvSpPr>
          <p:cNvPr id="7" name="TextBox 6"/>
          <p:cNvSpPr txBox="1"/>
          <p:nvPr/>
        </p:nvSpPr>
        <p:spPr>
          <a:xfrm>
            <a:off x="1874519" y="3913632"/>
            <a:ext cx="1234440" cy="274320"/>
          </a:xfrm>
          <a:prstGeom prst="rect">
            <a:avLst/>
          </a:prstGeom>
          <a:noFill/>
        </p:spPr>
        <p:txBody>
          <a:bodyPr wrap="square" lIns="45720" rIns="45720" tIns="18288" bIns="18288" anchor="t">
            <a:spAutoFit/>
          </a:bodyPr>
          <a:lstStyle/>
          <a:p>
            <a:pPr algn="ctr"/>
            <a:r>
              <a:rPr sz="800" b="0" i="1">
                <a:solidFill>
                  <a:srgbClr val="6B7280"/>
                </a:solidFill>
                <a:latin typeface="Calibri"/>
              </a:rPr>
              <a:t>MicrophoneService</a:t>
            </a:r>
          </a:p>
        </p:txBody>
      </p:sp>
      <p:sp>
        <p:nvSpPr>
          <p:cNvPr id="8" name="Rounded Rectangle 7"/>
          <p:cNvSpPr/>
          <p:nvPr/>
        </p:nvSpPr>
        <p:spPr>
          <a:xfrm>
            <a:off x="3218688" y="2971800"/>
            <a:ext cx="1234440" cy="914400"/>
          </a:xfrm>
          <a:prstGeom prst="roundRect">
            <a:avLst>
              <a:gd name="adj" fmla="val 10000"/>
            </a:avLst>
          </a:prstGeom>
          <a:solidFill>
            <a:srgbClr val="DBEAFE"/>
          </a:solidFill>
          <a:ln w="15875">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000" b="1">
                <a:solidFill>
                  <a:srgbClr val="1E40AF"/>
                </a:solidFill>
                <a:latin typeface="Calibri"/>
              </a:rPr>
              <a:t>Speech</a:t>
            </a:r>
          </a:p>
          <a:p>
            <a:pPr algn="ctr"/>
            <a:r>
              <a:rPr sz="1000" b="1">
                <a:solidFill>
                  <a:srgbClr val="1E40AF"/>
                </a:solidFill>
                <a:latin typeface="Calibri"/>
              </a:rPr>
              <a:t>Recognition</a:t>
            </a:r>
          </a:p>
        </p:txBody>
      </p:sp>
      <p:sp>
        <p:nvSpPr>
          <p:cNvPr id="9" name="TextBox 8"/>
          <p:cNvSpPr txBox="1"/>
          <p:nvPr/>
        </p:nvSpPr>
        <p:spPr>
          <a:xfrm>
            <a:off x="3218688" y="3913632"/>
            <a:ext cx="1234440" cy="274320"/>
          </a:xfrm>
          <a:prstGeom prst="rect">
            <a:avLst/>
          </a:prstGeom>
          <a:noFill/>
        </p:spPr>
        <p:txBody>
          <a:bodyPr wrap="square" lIns="45720" rIns="45720" tIns="18288" bIns="18288" anchor="t">
            <a:spAutoFit/>
          </a:bodyPr>
          <a:lstStyle/>
          <a:p>
            <a:pPr algn="ctr"/>
            <a:r>
              <a:rPr sz="800" b="0" i="1">
                <a:solidFill>
                  <a:srgbClr val="6B7280"/>
                </a:solidFill>
                <a:latin typeface="Calibri"/>
              </a:rPr>
              <a:t>SpeechRecognitionService</a:t>
            </a:r>
          </a:p>
        </p:txBody>
      </p:sp>
      <p:sp>
        <p:nvSpPr>
          <p:cNvPr id="10" name="Rounded Rectangle 9"/>
          <p:cNvSpPr/>
          <p:nvPr/>
        </p:nvSpPr>
        <p:spPr>
          <a:xfrm>
            <a:off x="4562856" y="2971800"/>
            <a:ext cx="1234440" cy="914400"/>
          </a:xfrm>
          <a:prstGeom prst="roundRect">
            <a:avLst>
              <a:gd name="adj" fmla="val 10000"/>
            </a:avLst>
          </a:prstGeom>
          <a:solidFill>
            <a:srgbClr val="DBEAFE"/>
          </a:solidFill>
          <a:ln w="15875">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000" b="1">
                <a:solidFill>
                  <a:srgbClr val="1E40AF"/>
                </a:solidFill>
                <a:latin typeface="Calibri"/>
              </a:rPr>
              <a:t>Text</a:t>
            </a:r>
          </a:p>
          <a:p>
            <a:pPr algn="ctr"/>
            <a:r>
              <a:rPr sz="1000" b="1">
                <a:solidFill>
                  <a:srgbClr val="1E40AF"/>
                </a:solidFill>
                <a:latin typeface="Calibri"/>
              </a:rPr>
              <a:t>Normaliser</a:t>
            </a:r>
          </a:p>
        </p:txBody>
      </p:sp>
      <p:sp>
        <p:nvSpPr>
          <p:cNvPr id="11" name="TextBox 10"/>
          <p:cNvSpPr txBox="1"/>
          <p:nvPr/>
        </p:nvSpPr>
        <p:spPr>
          <a:xfrm>
            <a:off x="4562856" y="3913632"/>
            <a:ext cx="1234440" cy="274320"/>
          </a:xfrm>
          <a:prstGeom prst="rect">
            <a:avLst/>
          </a:prstGeom>
          <a:noFill/>
        </p:spPr>
        <p:txBody>
          <a:bodyPr wrap="square" lIns="45720" rIns="45720" tIns="18288" bIns="18288" anchor="t">
            <a:spAutoFit/>
          </a:bodyPr>
          <a:lstStyle/>
          <a:p>
            <a:pPr algn="ctr"/>
            <a:r>
              <a:rPr sz="800" b="0" i="1">
                <a:solidFill>
                  <a:srgbClr val="6B7280"/>
                </a:solidFill>
                <a:latin typeface="Calibri"/>
              </a:rPr>
              <a:t>RecordingController</a:t>
            </a:r>
          </a:p>
        </p:txBody>
      </p:sp>
      <p:sp>
        <p:nvSpPr>
          <p:cNvPr id="12" name="Rounded Rectangle 11"/>
          <p:cNvSpPr/>
          <p:nvPr/>
        </p:nvSpPr>
        <p:spPr>
          <a:xfrm>
            <a:off x="5907024" y="2971800"/>
            <a:ext cx="1234440" cy="914400"/>
          </a:xfrm>
          <a:prstGeom prst="roundRect">
            <a:avLst>
              <a:gd name="adj" fmla="val 10000"/>
            </a:avLst>
          </a:prstGeom>
          <a:solidFill>
            <a:srgbClr val="DBEAFE"/>
          </a:solidFill>
          <a:ln w="15875">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000" b="1">
                <a:solidFill>
                  <a:srgbClr val="1E40AF"/>
                </a:solidFill>
                <a:latin typeface="Calibri"/>
              </a:rPr>
              <a:t>Filler</a:t>
            </a:r>
          </a:p>
          <a:p>
            <a:pPr algn="ctr"/>
            <a:r>
              <a:rPr sz="1000" b="1">
                <a:solidFill>
                  <a:srgbClr val="1E40AF"/>
                </a:solidFill>
                <a:latin typeface="Calibri"/>
              </a:rPr>
              <a:t>Detector</a:t>
            </a:r>
          </a:p>
        </p:txBody>
      </p:sp>
      <p:sp>
        <p:nvSpPr>
          <p:cNvPr id="13" name="TextBox 12"/>
          <p:cNvSpPr txBox="1"/>
          <p:nvPr/>
        </p:nvSpPr>
        <p:spPr>
          <a:xfrm>
            <a:off x="5907024" y="3913632"/>
            <a:ext cx="1234440" cy="274320"/>
          </a:xfrm>
          <a:prstGeom prst="rect">
            <a:avLst/>
          </a:prstGeom>
          <a:noFill/>
        </p:spPr>
        <p:txBody>
          <a:bodyPr wrap="square" lIns="45720" rIns="45720" tIns="18288" bIns="18288" anchor="t">
            <a:spAutoFit/>
          </a:bodyPr>
          <a:lstStyle/>
          <a:p>
            <a:pPr algn="ctr"/>
            <a:r>
              <a:rPr sz="800" b="0" i="1">
                <a:solidFill>
                  <a:srgbClr val="6B7280"/>
                </a:solidFill>
                <a:latin typeface="Calibri"/>
              </a:rPr>
              <a:t>AnalysisController</a:t>
            </a:r>
          </a:p>
        </p:txBody>
      </p:sp>
      <p:sp>
        <p:nvSpPr>
          <p:cNvPr id="14" name="Rounded Rectangle 13"/>
          <p:cNvSpPr/>
          <p:nvPr/>
        </p:nvSpPr>
        <p:spPr>
          <a:xfrm>
            <a:off x="7251192" y="2971800"/>
            <a:ext cx="1234440" cy="914400"/>
          </a:xfrm>
          <a:prstGeom prst="roundRect">
            <a:avLst>
              <a:gd name="adj" fmla="val 10000"/>
            </a:avLst>
          </a:prstGeom>
          <a:solidFill>
            <a:srgbClr val="DBEAFE"/>
          </a:solidFill>
          <a:ln w="15875">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000" b="1">
                <a:solidFill>
                  <a:srgbClr val="1E40AF"/>
                </a:solidFill>
                <a:latin typeface="Calibri"/>
              </a:rPr>
              <a:t>Metrics</a:t>
            </a:r>
          </a:p>
          <a:p>
            <a:pPr algn="ctr"/>
            <a:r>
              <a:rPr sz="1000" b="1">
                <a:solidFill>
                  <a:srgbClr val="1E40AF"/>
                </a:solidFill>
                <a:latin typeface="Calibri"/>
              </a:rPr>
              <a:t>Aggregator</a:t>
            </a:r>
          </a:p>
        </p:txBody>
      </p:sp>
      <p:sp>
        <p:nvSpPr>
          <p:cNvPr id="15" name="TextBox 14"/>
          <p:cNvSpPr txBox="1"/>
          <p:nvPr/>
        </p:nvSpPr>
        <p:spPr>
          <a:xfrm>
            <a:off x="7251192" y="3913632"/>
            <a:ext cx="1234440" cy="274320"/>
          </a:xfrm>
          <a:prstGeom prst="rect">
            <a:avLst/>
          </a:prstGeom>
          <a:noFill/>
        </p:spPr>
        <p:txBody>
          <a:bodyPr wrap="square" lIns="45720" rIns="45720" tIns="18288" bIns="18288" anchor="t">
            <a:spAutoFit/>
          </a:bodyPr>
          <a:lstStyle/>
          <a:p>
            <a:pPr algn="ctr"/>
            <a:r>
              <a:rPr sz="800" b="0" i="1">
                <a:solidFill>
                  <a:srgbClr val="6B7280"/>
                </a:solidFill>
                <a:latin typeface="Calibri"/>
              </a:rPr>
              <a:t>AnalysisController</a:t>
            </a:r>
          </a:p>
        </p:txBody>
      </p:sp>
      <p:sp>
        <p:nvSpPr>
          <p:cNvPr id="16" name="Rounded Rectangle 15"/>
          <p:cNvSpPr/>
          <p:nvPr/>
        </p:nvSpPr>
        <p:spPr>
          <a:xfrm>
            <a:off x="8595360" y="2971800"/>
            <a:ext cx="1234440" cy="914400"/>
          </a:xfrm>
          <a:prstGeom prst="roundRect">
            <a:avLst>
              <a:gd name="adj" fmla="val 10000"/>
            </a:avLst>
          </a:prstGeom>
          <a:solidFill>
            <a:srgbClr val="DBEAFE"/>
          </a:solidFill>
          <a:ln w="15875">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000" b="1">
                <a:solidFill>
                  <a:srgbClr val="1E40AF"/>
                </a:solidFill>
                <a:latin typeface="Calibri"/>
              </a:rPr>
              <a:t>AI</a:t>
            </a:r>
          </a:p>
          <a:p>
            <a:pPr algn="ctr"/>
            <a:r>
              <a:rPr sz="1000" b="1">
                <a:solidFill>
                  <a:srgbClr val="1E40AF"/>
                </a:solidFill>
                <a:latin typeface="Calibri"/>
              </a:rPr>
              <a:t>Analysis</a:t>
            </a:r>
          </a:p>
        </p:txBody>
      </p:sp>
      <p:sp>
        <p:nvSpPr>
          <p:cNvPr id="17" name="TextBox 16"/>
          <p:cNvSpPr txBox="1"/>
          <p:nvPr/>
        </p:nvSpPr>
        <p:spPr>
          <a:xfrm>
            <a:off x="8595360" y="3913632"/>
            <a:ext cx="1234440" cy="274320"/>
          </a:xfrm>
          <a:prstGeom prst="rect">
            <a:avLst/>
          </a:prstGeom>
          <a:noFill/>
        </p:spPr>
        <p:txBody>
          <a:bodyPr wrap="square" lIns="45720" rIns="45720" tIns="18288" bIns="18288" anchor="t">
            <a:spAutoFit/>
          </a:bodyPr>
          <a:lstStyle/>
          <a:p>
            <a:pPr algn="ctr"/>
            <a:r>
              <a:rPr sz="800" b="0" i="1">
                <a:solidFill>
                  <a:srgbClr val="6B7280"/>
                </a:solidFill>
                <a:latin typeface="Calibri"/>
              </a:rPr>
              <a:t>AIAnalysisService</a:t>
            </a:r>
          </a:p>
        </p:txBody>
      </p:sp>
      <p:sp>
        <p:nvSpPr>
          <p:cNvPr id="18" name="Rounded Rectangle 17"/>
          <p:cNvSpPr/>
          <p:nvPr/>
        </p:nvSpPr>
        <p:spPr>
          <a:xfrm>
            <a:off x="9939528" y="2971800"/>
            <a:ext cx="1234440" cy="914400"/>
          </a:xfrm>
          <a:prstGeom prst="roundRect">
            <a:avLst>
              <a:gd name="adj" fmla="val 10000"/>
            </a:avLst>
          </a:prstGeom>
          <a:solidFill>
            <a:srgbClr val="DBEAFE"/>
          </a:solidFill>
          <a:ln w="15875">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000" b="1">
                <a:solidFill>
                  <a:srgbClr val="1E40AF"/>
                </a:solidFill>
                <a:latin typeface="Calibri"/>
              </a:rPr>
              <a:t>Feedback</a:t>
            </a:r>
          </a:p>
          <a:p>
            <a:pPr algn="ctr"/>
            <a:r>
              <a:rPr sz="1000" b="1">
                <a:solidFill>
                  <a:srgbClr val="1E40AF"/>
                </a:solidFill>
                <a:latin typeface="Calibri"/>
              </a:rPr>
              <a:t>Formatter</a:t>
            </a:r>
          </a:p>
        </p:txBody>
      </p:sp>
      <p:sp>
        <p:nvSpPr>
          <p:cNvPr id="19" name="TextBox 18"/>
          <p:cNvSpPr txBox="1"/>
          <p:nvPr/>
        </p:nvSpPr>
        <p:spPr>
          <a:xfrm>
            <a:off x="9939528" y="3913632"/>
            <a:ext cx="1234440" cy="274320"/>
          </a:xfrm>
          <a:prstGeom prst="rect">
            <a:avLst/>
          </a:prstGeom>
          <a:noFill/>
        </p:spPr>
        <p:txBody>
          <a:bodyPr wrap="square" lIns="45720" rIns="45720" tIns="18288" bIns="18288" anchor="t">
            <a:spAutoFit/>
          </a:bodyPr>
          <a:lstStyle/>
          <a:p>
            <a:pPr algn="ctr"/>
            <a:r>
              <a:rPr sz="800" b="0" i="1">
                <a:solidFill>
                  <a:srgbClr val="6B7280"/>
                </a:solidFill>
                <a:latin typeface="Calibri"/>
              </a:rPr>
              <a:t>AnalysisController</a:t>
            </a:r>
          </a:p>
        </p:txBody>
      </p:sp>
      <p:sp>
        <p:nvSpPr>
          <p:cNvPr id="20" name="Rounded Rectangle 19"/>
          <p:cNvSpPr/>
          <p:nvPr/>
        </p:nvSpPr>
        <p:spPr>
          <a:xfrm>
            <a:off x="11283696" y="2971800"/>
            <a:ext cx="1188720" cy="914400"/>
          </a:xfrm>
          <a:prstGeom prst="roundRect">
            <a:avLst>
              <a:gd name="adj" fmla="val 10000"/>
            </a:avLst>
          </a:prstGeom>
          <a:solidFill>
            <a:srgbClr val="D1FAE5"/>
          </a:solidFill>
          <a:ln w="19050">
            <a:solidFill>
              <a:srgbClr val="065F46"/>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000" b="1">
                <a:solidFill>
                  <a:srgbClr val="065F46"/>
                </a:solidFill>
                <a:latin typeface="Calibri"/>
              </a:rPr>
              <a:t>UI Display</a:t>
            </a:r>
          </a:p>
          <a:p>
            <a:pPr algn="ctr"/>
            <a:r>
              <a:rPr sz="1000" b="1">
                <a:solidFill>
                  <a:srgbClr val="065F46"/>
                </a:solidFill>
                <a:latin typeface="Calibri"/>
              </a:rPr>
              <a:t>Trainer /</a:t>
            </a:r>
          </a:p>
          <a:p>
            <a:pPr algn="ctr"/>
            <a:r>
              <a:rPr sz="1000" b="1">
                <a:solidFill>
                  <a:srgbClr val="065F46"/>
                </a:solidFill>
                <a:latin typeface="Calibri"/>
              </a:rPr>
              <a:t>Dashboard</a:t>
            </a:r>
          </a:p>
        </p:txBody>
      </p:sp>
      <p:cxnSp>
        <p:nvCxnSpPr>
          <p:cNvPr id="21" name="Connector 20"/>
          <p:cNvCxnSpPr/>
          <p:nvPr/>
        </p:nvCxnSpPr>
        <p:spPr>
          <a:xfrm>
            <a:off x="1645920" y="3429000"/>
            <a:ext cx="228599" cy="0"/>
          </a:xfrm>
          <a:prstGeom prst="line">
            <a:avLst/>
          </a:prstGeom>
          <a:ln w="25400">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108960" y="3429000"/>
            <a:ext cx="109728" cy="0"/>
          </a:xfrm>
          <a:prstGeom prst="line">
            <a:avLst/>
          </a:prstGeom>
          <a:ln w="25400">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453128" y="3429000"/>
            <a:ext cx="109728" cy="0"/>
          </a:xfrm>
          <a:prstGeom prst="line">
            <a:avLst/>
          </a:prstGeom>
          <a:ln w="25400">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797296" y="3429000"/>
            <a:ext cx="109728" cy="0"/>
          </a:xfrm>
          <a:prstGeom prst="line">
            <a:avLst/>
          </a:prstGeom>
          <a:ln w="25400">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141464" y="3429000"/>
            <a:ext cx="109728" cy="0"/>
          </a:xfrm>
          <a:prstGeom prst="line">
            <a:avLst/>
          </a:prstGeom>
          <a:ln w="25400">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85632" y="3429000"/>
            <a:ext cx="109728" cy="0"/>
          </a:xfrm>
          <a:prstGeom prst="line">
            <a:avLst/>
          </a:prstGeom>
          <a:ln w="25400">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829800" y="3429000"/>
            <a:ext cx="109728" cy="0"/>
          </a:xfrm>
          <a:prstGeom prst="line">
            <a:avLst/>
          </a:prstGeom>
          <a:ln w="25400">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173968" y="3429000"/>
            <a:ext cx="109728" cy="0"/>
          </a:xfrm>
          <a:prstGeom prst="line">
            <a:avLst/>
          </a:prstGeom>
          <a:ln w="25400">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840480" y="2286000"/>
            <a:ext cx="2743200" cy="320040"/>
          </a:xfrm>
          <a:prstGeom prst="rect">
            <a:avLst/>
          </a:prstGeom>
          <a:noFill/>
        </p:spPr>
        <p:txBody>
          <a:bodyPr wrap="square" lIns="45720" rIns="45720" tIns="18288" bIns="18288" anchor="t">
            <a:spAutoFit/>
          </a:bodyPr>
          <a:lstStyle/>
          <a:p>
            <a:pPr algn="ctr"/>
            <a:r>
              <a:rPr sz="1000" b="0" i="1">
                <a:solidFill>
                  <a:srgbClr val="6B7280"/>
                </a:solidFill>
                <a:latin typeface="Calibri"/>
              </a:rPr>
              <a:t>live transcript branch →</a:t>
            </a:r>
          </a:p>
        </p:txBody>
      </p:sp>
      <p:cxnSp>
        <p:nvCxnSpPr>
          <p:cNvPr id="30" name="Connector 29"/>
          <p:cNvCxnSpPr/>
          <p:nvPr/>
        </p:nvCxnSpPr>
        <p:spPr>
          <a:xfrm>
            <a:off x="4663440" y="2971800"/>
            <a:ext cx="7214616" cy="0"/>
          </a:xfrm>
          <a:prstGeom prst="line">
            <a:avLst/>
          </a:prstGeom>
          <a:ln w="12700">
            <a:solidFill>
              <a:srgbClr val="6B7280"/>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5029200" y="5029200"/>
            <a:ext cx="2286000" cy="777240"/>
          </a:xfrm>
          <a:prstGeom prst="roundRect">
            <a:avLst>
              <a:gd name="adj" fmla="val 10000"/>
            </a:avLst>
          </a:prstGeom>
          <a:solidFill>
            <a:srgbClr val="FCE7F3"/>
          </a:solidFill>
          <a:ln w="19050">
            <a:solidFill>
              <a:srgbClr val="9F123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9F1239"/>
                </a:solidFill>
                <a:latin typeface="Calibri"/>
              </a:rPr>
              <a:t>🗄  DataRepository (Supabase)</a:t>
            </a:r>
          </a:p>
        </p:txBody>
      </p:sp>
      <p:cxnSp>
        <p:nvCxnSpPr>
          <p:cNvPr id="32" name="Connector 31"/>
          <p:cNvCxnSpPr/>
          <p:nvPr/>
        </p:nvCxnSpPr>
        <p:spPr>
          <a:xfrm>
            <a:off x="4114800" y="3886200"/>
            <a:ext cx="1097280" cy="1143000"/>
          </a:xfrm>
          <a:prstGeom prst="line">
            <a:avLst/>
          </a:prstGeom>
          <a:ln w="15875">
            <a:solidFill>
              <a:srgbClr val="9F123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023360" y="3977639"/>
            <a:ext cx="1280160" cy="274320"/>
          </a:xfrm>
          <a:prstGeom prst="rect">
            <a:avLst/>
          </a:prstGeom>
          <a:noFill/>
        </p:spPr>
        <p:txBody>
          <a:bodyPr wrap="square" lIns="45720" rIns="45720" tIns="18288" bIns="18288" anchor="t">
            <a:spAutoFit/>
          </a:bodyPr>
          <a:lstStyle/>
          <a:p>
            <a:pPr algn="l"/>
            <a:r>
              <a:rPr sz="900" b="0" i="1">
                <a:solidFill>
                  <a:srgbClr val="6B7280"/>
                </a:solidFill>
                <a:latin typeface="Calibri"/>
              </a:rPr>
              <a:t>write transcript</a:t>
            </a:r>
          </a:p>
        </p:txBody>
      </p:sp>
      <p:cxnSp>
        <p:nvCxnSpPr>
          <p:cNvPr id="34" name="Connector 33"/>
          <p:cNvCxnSpPr/>
          <p:nvPr/>
        </p:nvCxnSpPr>
        <p:spPr>
          <a:xfrm flipH="1">
            <a:off x="7132320" y="3886200"/>
            <a:ext cx="731520" cy="1143000"/>
          </a:xfrm>
          <a:prstGeom prst="line">
            <a:avLst/>
          </a:prstGeom>
          <a:ln w="15875">
            <a:solidFill>
              <a:srgbClr val="9F123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858000" y="3977639"/>
            <a:ext cx="1645920" cy="274320"/>
          </a:xfrm>
          <a:prstGeom prst="rect">
            <a:avLst/>
          </a:prstGeom>
          <a:noFill/>
        </p:spPr>
        <p:txBody>
          <a:bodyPr wrap="square" lIns="45720" rIns="45720" tIns="18288" bIns="18288" anchor="t">
            <a:spAutoFit/>
          </a:bodyPr>
          <a:lstStyle/>
          <a:p>
            <a:pPr algn="l"/>
            <a:r>
              <a:rPr sz="900" b="0" i="1">
                <a:solidFill>
                  <a:srgbClr val="6B7280"/>
                </a:solidFill>
                <a:latin typeface="Calibri"/>
              </a:rPr>
              <a:t>write DrillSession</a:t>
            </a:r>
          </a:p>
        </p:txBody>
      </p:sp>
      <p:cxnSp>
        <p:nvCxnSpPr>
          <p:cNvPr id="36" name="Connector 35"/>
          <p:cNvCxnSpPr/>
          <p:nvPr/>
        </p:nvCxnSpPr>
        <p:spPr>
          <a:xfrm flipV="1">
            <a:off x="7315200" y="3886200"/>
            <a:ext cx="4562856" cy="1143000"/>
          </a:xfrm>
          <a:prstGeom prst="line">
            <a:avLst/>
          </a:prstGeom>
          <a:ln w="15875">
            <a:solidFill>
              <a:srgbClr val="9F123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863840" y="4572000"/>
            <a:ext cx="2286000" cy="274320"/>
          </a:xfrm>
          <a:prstGeom prst="rect">
            <a:avLst/>
          </a:prstGeom>
          <a:noFill/>
        </p:spPr>
        <p:txBody>
          <a:bodyPr wrap="square" lIns="45720" rIns="45720" tIns="18288" bIns="18288" anchor="t">
            <a:spAutoFit/>
          </a:bodyPr>
          <a:lstStyle/>
          <a:p>
            <a:pPr algn="ctr"/>
            <a:r>
              <a:rPr sz="900" b="0" i="1">
                <a:solidFill>
                  <a:srgbClr val="6B7280"/>
                </a:solidFill>
                <a:latin typeface="Calibri"/>
              </a:rPr>
              <a:t>read history →</a:t>
            </a:r>
          </a:p>
        </p:txBody>
      </p:sp>
      <p:sp>
        <p:nvSpPr>
          <p:cNvPr id="38" name="TextBox 37"/>
          <p:cNvSpPr txBox="1"/>
          <p:nvPr/>
        </p:nvSpPr>
        <p:spPr>
          <a:xfrm>
            <a:off x="457200" y="6035040"/>
            <a:ext cx="11247120" cy="320040"/>
          </a:xfrm>
          <a:prstGeom prst="rect">
            <a:avLst/>
          </a:prstGeom>
          <a:noFill/>
        </p:spPr>
        <p:txBody>
          <a:bodyPr wrap="square" lIns="45720" rIns="45720" tIns="18288" bIns="18288" anchor="t">
            <a:spAutoFit/>
          </a:bodyPr>
          <a:lstStyle/>
          <a:p>
            <a:pPr algn="ctr"/>
            <a:r>
              <a:rPr sz="1100" b="0" i="1">
                <a:solidFill>
                  <a:srgbClr val="6B7280"/>
                </a:solidFill>
                <a:latin typeface="Calibri"/>
              </a:rPr>
              <a:t>Each filter performs one transform and passes the result forward.  DataRepository sits outside the flow (a known P&amp;F limitation: shared stores are drawn as off-pipeline blocks).</a:t>
            </a:r>
          </a:p>
        </p:txBody>
      </p:sp>
      <p:sp>
        <p:nvSpPr>
          <p:cNvPr id="39" name="TextBox 38"/>
          <p:cNvSpPr txBox="1"/>
          <p:nvPr/>
        </p:nvSpPr>
        <p:spPr>
          <a:xfrm>
            <a:off x="457200" y="1371600"/>
            <a:ext cx="11247120" cy="274320"/>
          </a:xfrm>
          <a:prstGeom prst="rect">
            <a:avLst/>
          </a:prstGeom>
          <a:noFill/>
        </p:spPr>
        <p:txBody>
          <a:bodyPr wrap="square" lIns="45720" rIns="45720" tIns="18288" bIns="18288" anchor="t">
            <a:spAutoFit/>
          </a:bodyPr>
          <a:lstStyle/>
          <a:p>
            <a:pPr algn="l"/>
            <a:r>
              <a:rPr sz="1100" b="0" i="1">
                <a:solidFill>
                  <a:srgbClr val="6B7280"/>
                </a:solidFill>
                <a:latin typeface="Calibri"/>
              </a:rPr>
              <a:t>Italic labels below each filter show which class (from the class diagram) plays that filter role.</a:t>
            </a:r>
          </a:p>
        </p:txBody>
      </p:sp>
      <p:sp>
        <p:nvSpPr>
          <p:cNvPr id="40" name="TextBox 39"/>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3. Architecture &amp; OO Design</a:t>
            </a:r>
          </a:p>
        </p:txBody>
      </p:sp>
      <p:sp>
        <p:nvSpPr>
          <p:cNvPr id="41" name="TextBox 40"/>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3.3  Class Diagram  (MVC)</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3 — Architecture &amp; OO Design  |  every association has a label and multiplicities on both ends</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28600" y="1417320"/>
            <a:ext cx="11731752" cy="1143000"/>
          </a:xfrm>
          <a:prstGeom prst="rect">
            <a:avLst/>
          </a:prstGeom>
          <a:solidFill>
            <a:srgbClr val="DBEAFE"/>
          </a:solidFill>
          <a:ln w="12700">
            <a:solidFill>
              <a:srgbClr val="DBEAFE"/>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 name="TextBox 5"/>
          <p:cNvSpPr txBox="1"/>
          <p:nvPr/>
        </p:nvSpPr>
        <p:spPr>
          <a:xfrm>
            <a:off x="274320" y="1435608"/>
            <a:ext cx="1097280" cy="228600"/>
          </a:xfrm>
          <a:prstGeom prst="rect">
            <a:avLst/>
          </a:prstGeom>
          <a:noFill/>
        </p:spPr>
        <p:txBody>
          <a:bodyPr wrap="square" lIns="45720" rIns="45720" tIns="18288" bIns="18288" anchor="t">
            <a:spAutoFit/>
          </a:bodyPr>
          <a:lstStyle/>
          <a:p>
            <a:pPr algn="l"/>
            <a:r>
              <a:rPr sz="900" b="1" i="0">
                <a:solidFill>
                  <a:srgbClr val="1E40AF"/>
                </a:solidFill>
                <a:latin typeface="Calibri"/>
              </a:rPr>
              <a:t>VIEWS</a:t>
            </a:r>
          </a:p>
        </p:txBody>
      </p:sp>
      <p:sp>
        <p:nvSpPr>
          <p:cNvPr id="7" name="Rectangle 6"/>
          <p:cNvSpPr/>
          <p:nvPr/>
        </p:nvSpPr>
        <p:spPr>
          <a:xfrm>
            <a:off x="228600" y="2606040"/>
            <a:ext cx="11731752" cy="960120"/>
          </a:xfrm>
          <a:prstGeom prst="rect">
            <a:avLst/>
          </a:prstGeom>
          <a:solidFill>
            <a:srgbClr val="FEF3C7"/>
          </a:solidFill>
          <a:ln w="12700">
            <a:solidFill>
              <a:srgbClr val="FEF3C7"/>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8" name="TextBox 7"/>
          <p:cNvSpPr txBox="1"/>
          <p:nvPr/>
        </p:nvSpPr>
        <p:spPr>
          <a:xfrm>
            <a:off x="274320" y="2624328"/>
            <a:ext cx="1097280" cy="228600"/>
          </a:xfrm>
          <a:prstGeom prst="rect">
            <a:avLst/>
          </a:prstGeom>
          <a:noFill/>
        </p:spPr>
        <p:txBody>
          <a:bodyPr wrap="square" lIns="45720" rIns="45720" tIns="18288" bIns="18288" anchor="t">
            <a:spAutoFit/>
          </a:bodyPr>
          <a:lstStyle/>
          <a:p>
            <a:pPr algn="l"/>
            <a:r>
              <a:rPr sz="900" b="1" i="0">
                <a:solidFill>
                  <a:srgbClr val="92400E"/>
                </a:solidFill>
                <a:latin typeface="Calibri"/>
              </a:rPr>
              <a:t>CONTROLLERS</a:t>
            </a:r>
          </a:p>
        </p:txBody>
      </p:sp>
      <p:sp>
        <p:nvSpPr>
          <p:cNvPr id="9" name="Rectangle 8"/>
          <p:cNvSpPr/>
          <p:nvPr/>
        </p:nvSpPr>
        <p:spPr>
          <a:xfrm>
            <a:off x="228600" y="3657600"/>
            <a:ext cx="11731752" cy="960120"/>
          </a:xfrm>
          <a:prstGeom prst="rect">
            <a:avLst/>
          </a:prstGeom>
          <a:solidFill>
            <a:srgbClr val="D1FAE5"/>
          </a:solidFill>
          <a:ln w="12700">
            <a:solidFill>
              <a:srgbClr val="D1FAE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0" name="TextBox 9"/>
          <p:cNvSpPr txBox="1"/>
          <p:nvPr/>
        </p:nvSpPr>
        <p:spPr>
          <a:xfrm>
            <a:off x="274320" y="3675887"/>
            <a:ext cx="1097280" cy="228600"/>
          </a:xfrm>
          <a:prstGeom prst="rect">
            <a:avLst/>
          </a:prstGeom>
          <a:noFill/>
        </p:spPr>
        <p:txBody>
          <a:bodyPr wrap="square" lIns="45720" rIns="45720" tIns="18288" bIns="18288" anchor="t">
            <a:spAutoFit/>
          </a:bodyPr>
          <a:lstStyle/>
          <a:p>
            <a:pPr algn="l"/>
            <a:r>
              <a:rPr sz="900" b="1" i="0">
                <a:solidFill>
                  <a:srgbClr val="065F46"/>
                </a:solidFill>
                <a:latin typeface="Calibri"/>
              </a:rPr>
              <a:t>MODELS</a:t>
            </a:r>
          </a:p>
        </p:txBody>
      </p:sp>
      <p:sp>
        <p:nvSpPr>
          <p:cNvPr id="11" name="Rectangle 10"/>
          <p:cNvSpPr/>
          <p:nvPr/>
        </p:nvSpPr>
        <p:spPr>
          <a:xfrm>
            <a:off x="228600" y="4709160"/>
            <a:ext cx="11731752" cy="1097280"/>
          </a:xfrm>
          <a:prstGeom prst="rect">
            <a:avLst/>
          </a:prstGeom>
          <a:solidFill>
            <a:srgbClr val="FCE7F3"/>
          </a:solidFill>
          <a:ln w="12700">
            <a:solidFill>
              <a:srgbClr val="FCE7F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2" name="TextBox 11"/>
          <p:cNvSpPr txBox="1"/>
          <p:nvPr/>
        </p:nvSpPr>
        <p:spPr>
          <a:xfrm>
            <a:off x="274320" y="4727448"/>
            <a:ext cx="1097280" cy="228600"/>
          </a:xfrm>
          <a:prstGeom prst="rect">
            <a:avLst/>
          </a:prstGeom>
          <a:noFill/>
        </p:spPr>
        <p:txBody>
          <a:bodyPr wrap="square" lIns="45720" rIns="45720" tIns="18288" bIns="18288" anchor="t">
            <a:spAutoFit/>
          </a:bodyPr>
          <a:lstStyle/>
          <a:p>
            <a:pPr algn="l"/>
            <a:r>
              <a:rPr sz="900" b="1" i="0">
                <a:solidFill>
                  <a:srgbClr val="9F1239"/>
                </a:solidFill>
                <a:latin typeface="Calibri"/>
              </a:rPr>
              <a:t>EXTERNAL</a:t>
            </a:r>
          </a:p>
        </p:txBody>
      </p:sp>
      <p:sp>
        <p:nvSpPr>
          <p:cNvPr id="13" name="Rectangle 12"/>
          <p:cNvSpPr/>
          <p:nvPr/>
        </p:nvSpPr>
        <p:spPr>
          <a:xfrm>
            <a:off x="457200" y="1463040"/>
            <a:ext cx="1554480" cy="822960"/>
          </a:xfrm>
          <a:prstGeom prst="rect">
            <a:avLst/>
          </a:prstGeom>
          <a:solidFill>
            <a:srgbClr val="DBEAFE"/>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i="1">
                <a:solidFill>
                  <a:srgbClr val="1E40AF"/>
                </a:solidFill>
                <a:latin typeface="Calibri"/>
              </a:rPr>
              <a:t>«View»</a:t>
            </a:r>
          </a:p>
          <a:p>
            <a:pPr algn="ctr"/>
            <a:r>
              <a:rPr sz="1100" b="1">
                <a:solidFill>
                  <a:srgbClr val="1F2937"/>
                </a:solidFill>
                <a:latin typeface="Calibri"/>
              </a:rPr>
              <a:t>AppLayoutView</a:t>
            </a:r>
          </a:p>
        </p:txBody>
      </p:sp>
      <p:sp>
        <p:nvSpPr>
          <p:cNvPr id="14" name="Rectangle 13"/>
          <p:cNvSpPr/>
          <p:nvPr/>
        </p:nvSpPr>
        <p:spPr>
          <a:xfrm>
            <a:off x="2194560" y="1463040"/>
            <a:ext cx="1828800" cy="822960"/>
          </a:xfrm>
          <a:prstGeom prst="rect">
            <a:avLst/>
          </a:prstGeom>
          <a:solidFill>
            <a:srgbClr val="DBEAFE"/>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i="1">
                <a:solidFill>
                  <a:srgbClr val="1E40AF"/>
                </a:solidFill>
                <a:latin typeface="Calibri"/>
              </a:rPr>
              <a:t>«View»</a:t>
            </a:r>
          </a:p>
          <a:p>
            <a:pPr algn="ctr"/>
            <a:r>
              <a:rPr sz="1100" b="1">
                <a:solidFill>
                  <a:srgbClr val="1F2937"/>
                </a:solidFill>
                <a:latin typeface="Calibri"/>
              </a:rPr>
              <a:t>TrainerView</a:t>
            </a:r>
          </a:p>
        </p:txBody>
      </p:sp>
      <p:sp>
        <p:nvSpPr>
          <p:cNvPr id="15" name="Rectangle 14"/>
          <p:cNvSpPr/>
          <p:nvPr/>
        </p:nvSpPr>
        <p:spPr>
          <a:xfrm>
            <a:off x="4206240" y="1463040"/>
            <a:ext cx="1737360" cy="822960"/>
          </a:xfrm>
          <a:prstGeom prst="rect">
            <a:avLst/>
          </a:prstGeom>
          <a:solidFill>
            <a:srgbClr val="DBEAFE"/>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i="1">
                <a:solidFill>
                  <a:srgbClr val="1E40AF"/>
                </a:solidFill>
                <a:latin typeface="Calibri"/>
              </a:rPr>
              <a:t>«View»</a:t>
            </a:r>
          </a:p>
          <a:p>
            <a:pPr algn="ctr"/>
            <a:r>
              <a:rPr sz="1100" b="1">
                <a:solidFill>
                  <a:srgbClr val="1F2937"/>
                </a:solidFill>
                <a:latin typeface="Calibri"/>
              </a:rPr>
              <a:t>TeleprompterView</a:t>
            </a:r>
          </a:p>
        </p:txBody>
      </p:sp>
      <p:sp>
        <p:nvSpPr>
          <p:cNvPr id="16" name="Rectangle 15"/>
          <p:cNvSpPr/>
          <p:nvPr/>
        </p:nvSpPr>
        <p:spPr>
          <a:xfrm>
            <a:off x="6126480" y="1463040"/>
            <a:ext cx="1737360" cy="822960"/>
          </a:xfrm>
          <a:prstGeom prst="rect">
            <a:avLst/>
          </a:prstGeom>
          <a:solidFill>
            <a:srgbClr val="DBEAFE"/>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i="1">
                <a:solidFill>
                  <a:srgbClr val="1E40AF"/>
                </a:solidFill>
                <a:latin typeface="Calibri"/>
              </a:rPr>
              <a:t>«View»</a:t>
            </a:r>
          </a:p>
          <a:p>
            <a:pPr algn="ctr"/>
            <a:r>
              <a:rPr sz="1100" b="1">
                <a:solidFill>
                  <a:srgbClr val="1F2937"/>
                </a:solidFill>
                <a:latin typeface="Calibri"/>
              </a:rPr>
              <a:t>MicroLessonsView</a:t>
            </a:r>
          </a:p>
        </p:txBody>
      </p:sp>
      <p:sp>
        <p:nvSpPr>
          <p:cNvPr id="17" name="Rectangle 16"/>
          <p:cNvSpPr/>
          <p:nvPr/>
        </p:nvSpPr>
        <p:spPr>
          <a:xfrm>
            <a:off x="8046720" y="1463040"/>
            <a:ext cx="1828800" cy="822960"/>
          </a:xfrm>
          <a:prstGeom prst="rect">
            <a:avLst/>
          </a:prstGeom>
          <a:solidFill>
            <a:srgbClr val="DBEAFE"/>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i="1">
                <a:solidFill>
                  <a:srgbClr val="1E40AF"/>
                </a:solidFill>
                <a:latin typeface="Calibri"/>
              </a:rPr>
              <a:t>«View»</a:t>
            </a:r>
          </a:p>
          <a:p>
            <a:pPr algn="ctr"/>
            <a:r>
              <a:rPr sz="1100" b="1">
                <a:solidFill>
                  <a:srgbClr val="1F2937"/>
                </a:solidFill>
                <a:latin typeface="Calibri"/>
              </a:rPr>
              <a:t>DashboardView</a:t>
            </a:r>
          </a:p>
        </p:txBody>
      </p:sp>
      <p:sp>
        <p:nvSpPr>
          <p:cNvPr id="18" name="Rectangle 17"/>
          <p:cNvSpPr/>
          <p:nvPr/>
        </p:nvSpPr>
        <p:spPr>
          <a:xfrm>
            <a:off x="2377440" y="2697480"/>
            <a:ext cx="2011680" cy="731520"/>
          </a:xfrm>
          <a:prstGeom prst="rect">
            <a:avLst/>
          </a:prstGeom>
          <a:solidFill>
            <a:srgbClr val="FEF3C7"/>
          </a:solidFill>
          <a:ln w="1905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i="1">
                <a:solidFill>
                  <a:srgbClr val="92400E"/>
                </a:solidFill>
                <a:latin typeface="Calibri"/>
              </a:rPr>
              <a:t>«Controller»</a:t>
            </a:r>
          </a:p>
          <a:p>
            <a:pPr algn="ctr"/>
            <a:r>
              <a:rPr sz="1100" b="1">
                <a:solidFill>
                  <a:srgbClr val="1F2937"/>
                </a:solidFill>
                <a:latin typeface="Calibri"/>
              </a:rPr>
              <a:t>PromptController</a:t>
            </a:r>
          </a:p>
        </p:txBody>
      </p:sp>
      <p:sp>
        <p:nvSpPr>
          <p:cNvPr id="19" name="Rectangle 18"/>
          <p:cNvSpPr/>
          <p:nvPr/>
        </p:nvSpPr>
        <p:spPr>
          <a:xfrm>
            <a:off x="4937760" y="2697480"/>
            <a:ext cx="2194560" cy="731520"/>
          </a:xfrm>
          <a:prstGeom prst="rect">
            <a:avLst/>
          </a:prstGeom>
          <a:solidFill>
            <a:srgbClr val="FEF3C7"/>
          </a:solidFill>
          <a:ln w="1905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i="1">
                <a:solidFill>
                  <a:srgbClr val="92400E"/>
                </a:solidFill>
                <a:latin typeface="Calibri"/>
              </a:rPr>
              <a:t>«Controller»</a:t>
            </a:r>
          </a:p>
          <a:p>
            <a:pPr algn="ctr"/>
            <a:r>
              <a:rPr sz="1100" b="1">
                <a:solidFill>
                  <a:srgbClr val="1F2937"/>
                </a:solidFill>
                <a:latin typeface="Calibri"/>
              </a:rPr>
              <a:t>RecordingController</a:t>
            </a:r>
          </a:p>
        </p:txBody>
      </p:sp>
      <p:sp>
        <p:nvSpPr>
          <p:cNvPr id="20" name="Rectangle 19"/>
          <p:cNvSpPr/>
          <p:nvPr/>
        </p:nvSpPr>
        <p:spPr>
          <a:xfrm>
            <a:off x="7772400" y="2697480"/>
            <a:ext cx="2103120" cy="731520"/>
          </a:xfrm>
          <a:prstGeom prst="rect">
            <a:avLst/>
          </a:prstGeom>
          <a:solidFill>
            <a:srgbClr val="FEF3C7"/>
          </a:solidFill>
          <a:ln w="1905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i="1">
                <a:solidFill>
                  <a:srgbClr val="92400E"/>
                </a:solidFill>
                <a:latin typeface="Calibri"/>
              </a:rPr>
              <a:t>«Controller»</a:t>
            </a:r>
          </a:p>
          <a:p>
            <a:pPr algn="ctr"/>
            <a:r>
              <a:rPr sz="1100" b="1">
                <a:solidFill>
                  <a:srgbClr val="1F2937"/>
                </a:solidFill>
                <a:latin typeface="Calibri"/>
              </a:rPr>
              <a:t>AnalysisController</a:t>
            </a:r>
          </a:p>
        </p:txBody>
      </p:sp>
      <p:sp>
        <p:nvSpPr>
          <p:cNvPr id="21" name="Rectangle 20"/>
          <p:cNvSpPr/>
          <p:nvPr/>
        </p:nvSpPr>
        <p:spPr>
          <a:xfrm>
            <a:off x="457200" y="3749039"/>
            <a:ext cx="1691640" cy="685800"/>
          </a:xfrm>
          <a:prstGeom prst="rect">
            <a:avLst/>
          </a:prstGeom>
          <a:solidFill>
            <a:srgbClr val="D1FAE5"/>
          </a:solidFill>
          <a:ln w="19050">
            <a:solidFill>
              <a:srgbClr val="065F4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i="1">
                <a:solidFill>
                  <a:srgbClr val="065F46"/>
                </a:solidFill>
                <a:latin typeface="Calibri"/>
              </a:rPr>
              <a:t>«Model»</a:t>
            </a:r>
          </a:p>
          <a:p>
            <a:pPr algn="ctr"/>
            <a:r>
              <a:rPr sz="1100" b="1">
                <a:solidFill>
                  <a:srgbClr val="1F2937"/>
                </a:solidFill>
                <a:latin typeface="Calibri"/>
              </a:rPr>
              <a:t>Prompt</a:t>
            </a:r>
          </a:p>
        </p:txBody>
      </p:sp>
      <p:sp>
        <p:nvSpPr>
          <p:cNvPr id="22" name="Rectangle 21"/>
          <p:cNvSpPr/>
          <p:nvPr/>
        </p:nvSpPr>
        <p:spPr>
          <a:xfrm>
            <a:off x="2377440" y="3749039"/>
            <a:ext cx="2011680" cy="685800"/>
          </a:xfrm>
          <a:prstGeom prst="rect">
            <a:avLst/>
          </a:prstGeom>
          <a:solidFill>
            <a:srgbClr val="D1FAE5"/>
          </a:solidFill>
          <a:ln w="19050">
            <a:solidFill>
              <a:srgbClr val="065F4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i="1">
                <a:solidFill>
                  <a:srgbClr val="065F46"/>
                </a:solidFill>
                <a:latin typeface="Calibri"/>
              </a:rPr>
              <a:t>«Model»</a:t>
            </a:r>
          </a:p>
          <a:p>
            <a:pPr algn="ctr"/>
            <a:r>
              <a:rPr sz="1100" b="1">
                <a:solidFill>
                  <a:srgbClr val="1F2937"/>
                </a:solidFill>
                <a:latin typeface="Calibri"/>
              </a:rPr>
              <a:t>AudioRecording</a:t>
            </a:r>
          </a:p>
        </p:txBody>
      </p:sp>
      <p:sp>
        <p:nvSpPr>
          <p:cNvPr id="23" name="Rectangle 22"/>
          <p:cNvSpPr/>
          <p:nvPr/>
        </p:nvSpPr>
        <p:spPr>
          <a:xfrm>
            <a:off x="4572000" y="3749039"/>
            <a:ext cx="2057400" cy="685800"/>
          </a:xfrm>
          <a:prstGeom prst="rect">
            <a:avLst/>
          </a:prstGeom>
          <a:solidFill>
            <a:srgbClr val="D1FAE5"/>
          </a:solidFill>
          <a:ln w="19050">
            <a:solidFill>
              <a:srgbClr val="065F4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i="1">
                <a:solidFill>
                  <a:srgbClr val="065F46"/>
                </a:solidFill>
                <a:latin typeface="Calibri"/>
              </a:rPr>
              <a:t>«Model»</a:t>
            </a:r>
          </a:p>
          <a:p>
            <a:pPr algn="ctr"/>
            <a:r>
              <a:rPr sz="1100" b="1">
                <a:solidFill>
                  <a:srgbClr val="1F2937"/>
                </a:solidFill>
                <a:latin typeface="Calibri"/>
              </a:rPr>
              <a:t>TranscriptSegment</a:t>
            </a:r>
          </a:p>
        </p:txBody>
      </p:sp>
      <p:sp>
        <p:nvSpPr>
          <p:cNvPr id="24" name="Rectangle 23"/>
          <p:cNvSpPr/>
          <p:nvPr/>
        </p:nvSpPr>
        <p:spPr>
          <a:xfrm>
            <a:off x="6858000" y="3749039"/>
            <a:ext cx="2011680" cy="685800"/>
          </a:xfrm>
          <a:prstGeom prst="rect">
            <a:avLst/>
          </a:prstGeom>
          <a:solidFill>
            <a:srgbClr val="D1FAE5"/>
          </a:solidFill>
          <a:ln w="19050">
            <a:solidFill>
              <a:srgbClr val="065F4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i="1">
                <a:solidFill>
                  <a:srgbClr val="065F46"/>
                </a:solidFill>
                <a:latin typeface="Calibri"/>
              </a:rPr>
              <a:t>«Model»</a:t>
            </a:r>
          </a:p>
          <a:p>
            <a:pPr algn="ctr"/>
            <a:r>
              <a:rPr sz="1100" b="1">
                <a:solidFill>
                  <a:srgbClr val="1F2937"/>
                </a:solidFill>
                <a:latin typeface="Calibri"/>
              </a:rPr>
              <a:t>SpeechAnalysis</a:t>
            </a:r>
          </a:p>
        </p:txBody>
      </p:sp>
      <p:sp>
        <p:nvSpPr>
          <p:cNvPr id="25" name="Rectangle 24"/>
          <p:cNvSpPr/>
          <p:nvPr/>
        </p:nvSpPr>
        <p:spPr>
          <a:xfrm>
            <a:off x="9052560" y="3749039"/>
            <a:ext cx="2011680" cy="685800"/>
          </a:xfrm>
          <a:prstGeom prst="rect">
            <a:avLst/>
          </a:prstGeom>
          <a:solidFill>
            <a:srgbClr val="D1FAE5"/>
          </a:solidFill>
          <a:ln w="19050">
            <a:solidFill>
              <a:srgbClr val="065F4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i="1">
                <a:solidFill>
                  <a:srgbClr val="065F46"/>
                </a:solidFill>
                <a:latin typeface="Calibri"/>
              </a:rPr>
              <a:t>«Model»</a:t>
            </a:r>
          </a:p>
          <a:p>
            <a:pPr algn="ctr"/>
            <a:r>
              <a:rPr sz="1100" b="1">
                <a:solidFill>
                  <a:srgbClr val="1F2937"/>
                </a:solidFill>
                <a:latin typeface="Calibri"/>
              </a:rPr>
              <a:t>DrillSession</a:t>
            </a:r>
          </a:p>
        </p:txBody>
      </p:sp>
      <p:sp>
        <p:nvSpPr>
          <p:cNvPr id="26" name="Rectangle 25"/>
          <p:cNvSpPr/>
          <p:nvPr/>
        </p:nvSpPr>
        <p:spPr>
          <a:xfrm>
            <a:off x="457200" y="4846320"/>
            <a:ext cx="2286000" cy="822960"/>
          </a:xfrm>
          <a:prstGeom prst="rect">
            <a:avLst/>
          </a:prstGeom>
          <a:solidFill>
            <a:srgbClr val="FCE7F3"/>
          </a:solidFill>
          <a:ln w="19050">
            <a:solidFill>
              <a:srgbClr val="9F123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i="1">
                <a:solidFill>
                  <a:srgbClr val="9F1239"/>
                </a:solidFill>
                <a:latin typeface="Calibri"/>
              </a:rPr>
              <a:t>«External»</a:t>
            </a:r>
          </a:p>
          <a:p>
            <a:pPr algn="ctr"/>
            <a:r>
              <a:rPr sz="1100" b="1">
                <a:solidFill>
                  <a:srgbClr val="1F2937"/>
                </a:solidFill>
                <a:latin typeface="Calibri"/>
              </a:rPr>
              <a:t>MicrophoneService</a:t>
            </a:r>
          </a:p>
        </p:txBody>
      </p:sp>
      <p:sp>
        <p:nvSpPr>
          <p:cNvPr id="27" name="Rectangle 26"/>
          <p:cNvSpPr/>
          <p:nvPr/>
        </p:nvSpPr>
        <p:spPr>
          <a:xfrm>
            <a:off x="3017520" y="4846320"/>
            <a:ext cx="2743200" cy="822960"/>
          </a:xfrm>
          <a:prstGeom prst="rect">
            <a:avLst/>
          </a:prstGeom>
          <a:solidFill>
            <a:srgbClr val="FCE7F3"/>
          </a:solidFill>
          <a:ln w="19050">
            <a:solidFill>
              <a:srgbClr val="9F123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i="1">
                <a:solidFill>
                  <a:srgbClr val="9F1239"/>
                </a:solidFill>
                <a:latin typeface="Calibri"/>
              </a:rPr>
              <a:t>«External»</a:t>
            </a:r>
          </a:p>
          <a:p>
            <a:pPr algn="ctr"/>
            <a:r>
              <a:rPr sz="1100" b="1">
                <a:solidFill>
                  <a:srgbClr val="1F2937"/>
                </a:solidFill>
                <a:latin typeface="Calibri"/>
              </a:rPr>
              <a:t>SpeechRecognitionService</a:t>
            </a:r>
          </a:p>
        </p:txBody>
      </p:sp>
      <p:sp>
        <p:nvSpPr>
          <p:cNvPr id="28" name="Rectangle 27"/>
          <p:cNvSpPr/>
          <p:nvPr/>
        </p:nvSpPr>
        <p:spPr>
          <a:xfrm>
            <a:off x="6035040" y="4846320"/>
            <a:ext cx="2286000" cy="822960"/>
          </a:xfrm>
          <a:prstGeom prst="rect">
            <a:avLst/>
          </a:prstGeom>
          <a:solidFill>
            <a:srgbClr val="FCE7F3"/>
          </a:solidFill>
          <a:ln w="19050">
            <a:solidFill>
              <a:srgbClr val="9F123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i="1">
                <a:solidFill>
                  <a:srgbClr val="9F1239"/>
                </a:solidFill>
                <a:latin typeface="Calibri"/>
              </a:rPr>
              <a:t>«External»</a:t>
            </a:r>
          </a:p>
          <a:p>
            <a:pPr algn="ctr"/>
            <a:r>
              <a:rPr sz="1100" b="1">
                <a:solidFill>
                  <a:srgbClr val="1F2937"/>
                </a:solidFill>
                <a:latin typeface="Calibri"/>
              </a:rPr>
              <a:t>AIAnalysisService</a:t>
            </a:r>
          </a:p>
        </p:txBody>
      </p:sp>
      <p:sp>
        <p:nvSpPr>
          <p:cNvPr id="29" name="Rectangle 28"/>
          <p:cNvSpPr/>
          <p:nvPr/>
        </p:nvSpPr>
        <p:spPr>
          <a:xfrm>
            <a:off x="8686800" y="4846320"/>
            <a:ext cx="2377440" cy="822960"/>
          </a:xfrm>
          <a:prstGeom prst="rect">
            <a:avLst/>
          </a:prstGeom>
          <a:solidFill>
            <a:srgbClr val="FCE7F3"/>
          </a:solidFill>
          <a:ln w="19050">
            <a:solidFill>
              <a:srgbClr val="9F123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i="1">
                <a:solidFill>
                  <a:srgbClr val="9F1239"/>
                </a:solidFill>
                <a:latin typeface="Calibri"/>
              </a:rPr>
              <a:t>«External»</a:t>
            </a:r>
          </a:p>
          <a:p>
            <a:pPr algn="ctr"/>
            <a:r>
              <a:rPr sz="1100" b="1">
                <a:solidFill>
                  <a:srgbClr val="1F2937"/>
                </a:solidFill>
                <a:latin typeface="Calibri"/>
              </a:rPr>
              <a:t>DataRepository</a:t>
            </a:r>
          </a:p>
        </p:txBody>
      </p:sp>
      <p:cxnSp>
        <p:nvCxnSpPr>
          <p:cNvPr id="30" name="Connector 29"/>
          <p:cNvCxnSpPr/>
          <p:nvPr/>
        </p:nvCxnSpPr>
        <p:spPr>
          <a:xfrm>
            <a:off x="2011680" y="1874520"/>
            <a:ext cx="182880" cy="0"/>
          </a:xfrm>
          <a:prstGeom prst="line">
            <a:avLst/>
          </a:prstGeom>
          <a:ln w="15875">
            <a:solidFill>
              <a:srgbClr val="1E40AF"/>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011680" y="1874520"/>
            <a:ext cx="2194560" cy="0"/>
          </a:xfrm>
          <a:prstGeom prst="line">
            <a:avLst/>
          </a:prstGeom>
          <a:ln w="15875">
            <a:solidFill>
              <a:srgbClr val="1E40AF"/>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011680" y="1874520"/>
            <a:ext cx="4114800" cy="0"/>
          </a:xfrm>
          <a:prstGeom prst="line">
            <a:avLst/>
          </a:prstGeom>
          <a:ln w="15875">
            <a:solidFill>
              <a:srgbClr val="1E40AF"/>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011680" y="1874520"/>
            <a:ext cx="6035040" cy="0"/>
          </a:xfrm>
          <a:prstGeom prst="line">
            <a:avLst/>
          </a:prstGeom>
          <a:ln w="15875">
            <a:solidFill>
              <a:srgbClr val="1E40AF"/>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297680" y="1261872"/>
            <a:ext cx="1463040" cy="228600"/>
          </a:xfrm>
          <a:prstGeom prst="rect">
            <a:avLst/>
          </a:prstGeom>
          <a:noFill/>
        </p:spPr>
        <p:txBody>
          <a:bodyPr wrap="none" lIns="18288" rIns="18288" tIns="0" bIns="0">
            <a:spAutoFit/>
          </a:bodyPr>
          <a:lstStyle/>
          <a:p>
            <a:pPr algn="ctr"/>
            <a:r>
              <a:rPr sz="800" i="1">
                <a:solidFill>
                  <a:srgbClr val="1E40AF"/>
                </a:solidFill>
                <a:latin typeface="Calibri"/>
              </a:rPr>
              <a:t>hosts   ◆ 1  ←→  1</a:t>
            </a:r>
          </a:p>
        </p:txBody>
      </p:sp>
      <p:cxnSp>
        <p:nvCxnSpPr>
          <p:cNvPr id="35" name="Connector 34"/>
          <p:cNvCxnSpPr/>
          <p:nvPr/>
        </p:nvCxnSpPr>
        <p:spPr>
          <a:xfrm>
            <a:off x="2834640" y="2286000"/>
            <a:ext cx="548640" cy="411480"/>
          </a:xfrm>
          <a:prstGeom prst="line">
            <a:avLst/>
          </a:prstGeom>
          <a:ln w="15875">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651760" y="2221991"/>
            <a:ext cx="365760" cy="228600"/>
          </a:xfrm>
          <a:prstGeom prst="rect">
            <a:avLst/>
          </a:prstGeom>
          <a:noFill/>
        </p:spPr>
        <p:txBody>
          <a:bodyPr wrap="none" lIns="18288" rIns="18288" tIns="0" bIns="0">
            <a:spAutoFit/>
          </a:bodyPr>
          <a:lstStyle/>
          <a:p>
            <a:pPr algn="ctr"/>
            <a:r>
              <a:rPr sz="800" b="1">
                <a:solidFill>
                  <a:srgbClr val="1E2761"/>
                </a:solidFill>
                <a:latin typeface="Calibri"/>
              </a:rPr>
              <a:t>1</a:t>
            </a:r>
          </a:p>
        </p:txBody>
      </p:sp>
      <p:sp>
        <p:nvSpPr>
          <p:cNvPr id="37" name="TextBox 36"/>
          <p:cNvSpPr txBox="1"/>
          <p:nvPr/>
        </p:nvSpPr>
        <p:spPr>
          <a:xfrm>
            <a:off x="3200400" y="2542032"/>
            <a:ext cx="365760" cy="228600"/>
          </a:xfrm>
          <a:prstGeom prst="rect">
            <a:avLst/>
          </a:prstGeom>
          <a:noFill/>
        </p:spPr>
        <p:txBody>
          <a:bodyPr wrap="none" lIns="18288" rIns="18288" tIns="0" bIns="0">
            <a:spAutoFit/>
          </a:bodyPr>
          <a:lstStyle/>
          <a:p>
            <a:pPr algn="ctr"/>
            <a:r>
              <a:rPr sz="800" b="1">
                <a:solidFill>
                  <a:srgbClr val="1E2761"/>
                </a:solidFill>
                <a:latin typeface="Calibri"/>
              </a:rPr>
              <a:t>1</a:t>
            </a:r>
          </a:p>
        </p:txBody>
      </p:sp>
      <p:sp>
        <p:nvSpPr>
          <p:cNvPr id="38" name="TextBox 37"/>
          <p:cNvSpPr txBox="1"/>
          <p:nvPr/>
        </p:nvSpPr>
        <p:spPr>
          <a:xfrm>
            <a:off x="2331720" y="2382012"/>
            <a:ext cx="731520" cy="228600"/>
          </a:xfrm>
          <a:prstGeom prst="rect">
            <a:avLst/>
          </a:prstGeom>
          <a:noFill/>
        </p:spPr>
        <p:txBody>
          <a:bodyPr wrap="none" lIns="18288" rIns="18288" tIns="0" bIns="0">
            <a:spAutoFit/>
          </a:bodyPr>
          <a:lstStyle/>
          <a:p>
            <a:pPr algn="ctr"/>
            <a:r>
              <a:rPr sz="800" i="1">
                <a:solidFill>
                  <a:srgbClr val="1E2761"/>
                </a:solidFill>
                <a:latin typeface="Calibri"/>
              </a:rPr>
              <a:t>uses</a:t>
            </a:r>
          </a:p>
        </p:txBody>
      </p:sp>
      <p:cxnSp>
        <p:nvCxnSpPr>
          <p:cNvPr id="39" name="Connector 38"/>
          <p:cNvCxnSpPr/>
          <p:nvPr/>
        </p:nvCxnSpPr>
        <p:spPr>
          <a:xfrm>
            <a:off x="3383279" y="2286000"/>
            <a:ext cx="2103121" cy="411480"/>
          </a:xfrm>
          <a:prstGeom prst="line">
            <a:avLst/>
          </a:prstGeom>
          <a:ln w="15875">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389120" y="2290572"/>
            <a:ext cx="731520" cy="228600"/>
          </a:xfrm>
          <a:prstGeom prst="rect">
            <a:avLst/>
          </a:prstGeom>
          <a:noFill/>
        </p:spPr>
        <p:txBody>
          <a:bodyPr wrap="none" lIns="18288" rIns="18288" tIns="0" bIns="0">
            <a:spAutoFit/>
          </a:bodyPr>
          <a:lstStyle/>
          <a:p>
            <a:pPr algn="ctr"/>
            <a:r>
              <a:rPr sz="800" i="1">
                <a:solidFill>
                  <a:srgbClr val="1E2761"/>
                </a:solidFill>
                <a:latin typeface="Calibri"/>
              </a:rPr>
              <a:t>uses</a:t>
            </a:r>
          </a:p>
        </p:txBody>
      </p:sp>
      <p:cxnSp>
        <p:nvCxnSpPr>
          <p:cNvPr id="41" name="Connector 40"/>
          <p:cNvCxnSpPr/>
          <p:nvPr/>
        </p:nvCxnSpPr>
        <p:spPr>
          <a:xfrm flipH="1">
            <a:off x="8823960" y="2286000"/>
            <a:ext cx="137160" cy="411480"/>
          </a:xfrm>
          <a:prstGeom prst="line">
            <a:avLst/>
          </a:prstGeom>
          <a:ln w="15875">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526780" y="2382012"/>
            <a:ext cx="731520" cy="228600"/>
          </a:xfrm>
          <a:prstGeom prst="rect">
            <a:avLst/>
          </a:prstGeom>
          <a:noFill/>
        </p:spPr>
        <p:txBody>
          <a:bodyPr wrap="none" lIns="18288" rIns="18288" tIns="0" bIns="0">
            <a:spAutoFit/>
          </a:bodyPr>
          <a:lstStyle/>
          <a:p>
            <a:pPr algn="ctr"/>
            <a:r>
              <a:rPr sz="800" i="1">
                <a:solidFill>
                  <a:srgbClr val="1E2761"/>
                </a:solidFill>
                <a:latin typeface="Calibri"/>
              </a:rPr>
              <a:t>uses</a:t>
            </a:r>
          </a:p>
        </p:txBody>
      </p:sp>
      <p:cxnSp>
        <p:nvCxnSpPr>
          <p:cNvPr id="43" name="Connector 42"/>
          <p:cNvCxnSpPr/>
          <p:nvPr/>
        </p:nvCxnSpPr>
        <p:spPr>
          <a:xfrm>
            <a:off x="3383280" y="3429000"/>
            <a:ext cx="5943600" cy="1417320"/>
          </a:xfrm>
          <a:prstGeom prst="line">
            <a:avLst/>
          </a:prstGeom>
          <a:ln w="15875">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577840" y="3502152"/>
            <a:ext cx="1645920" cy="228600"/>
          </a:xfrm>
          <a:prstGeom prst="rect">
            <a:avLst/>
          </a:prstGeom>
          <a:noFill/>
        </p:spPr>
        <p:txBody>
          <a:bodyPr wrap="none" lIns="18288" rIns="18288" tIns="0" bIns="0">
            <a:spAutoFit/>
          </a:bodyPr>
          <a:lstStyle/>
          <a:p>
            <a:pPr algn="ctr"/>
            <a:r>
              <a:rPr sz="800" i="1">
                <a:solidFill>
                  <a:srgbClr val="1E2761"/>
                </a:solidFill>
                <a:latin typeface="Calibri"/>
              </a:rPr>
              <a:t>reads prompts via</a:t>
            </a:r>
          </a:p>
        </p:txBody>
      </p:sp>
      <p:cxnSp>
        <p:nvCxnSpPr>
          <p:cNvPr id="45" name="Connector 44"/>
          <p:cNvCxnSpPr/>
          <p:nvPr/>
        </p:nvCxnSpPr>
        <p:spPr>
          <a:xfrm flipH="1">
            <a:off x="1600200" y="3429000"/>
            <a:ext cx="3611880" cy="1417320"/>
          </a:xfrm>
          <a:prstGeom prst="line">
            <a:avLst/>
          </a:prstGeom>
          <a:ln w="15875">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468879" y="4416552"/>
            <a:ext cx="1097280" cy="228600"/>
          </a:xfrm>
          <a:prstGeom prst="rect">
            <a:avLst/>
          </a:prstGeom>
          <a:noFill/>
        </p:spPr>
        <p:txBody>
          <a:bodyPr wrap="none" lIns="18288" rIns="18288" tIns="0" bIns="0">
            <a:spAutoFit/>
          </a:bodyPr>
          <a:lstStyle/>
          <a:p>
            <a:pPr algn="ctr"/>
            <a:r>
              <a:rPr sz="800" i="1">
                <a:solidFill>
                  <a:srgbClr val="1E2761"/>
                </a:solidFill>
                <a:latin typeface="Calibri"/>
              </a:rPr>
              <a:t>activates</a:t>
            </a:r>
          </a:p>
        </p:txBody>
      </p:sp>
      <p:cxnSp>
        <p:nvCxnSpPr>
          <p:cNvPr id="47" name="Connector 46"/>
          <p:cNvCxnSpPr/>
          <p:nvPr/>
        </p:nvCxnSpPr>
        <p:spPr>
          <a:xfrm flipH="1">
            <a:off x="4389120" y="3429000"/>
            <a:ext cx="1645920" cy="1417320"/>
          </a:xfrm>
          <a:prstGeom prst="line">
            <a:avLst/>
          </a:prstGeom>
          <a:ln w="15875">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4251960" y="4370832"/>
            <a:ext cx="1371600" cy="228600"/>
          </a:xfrm>
          <a:prstGeom prst="rect">
            <a:avLst/>
          </a:prstGeom>
          <a:noFill/>
        </p:spPr>
        <p:txBody>
          <a:bodyPr wrap="none" lIns="18288" rIns="18288" tIns="0" bIns="0">
            <a:spAutoFit/>
          </a:bodyPr>
          <a:lstStyle/>
          <a:p>
            <a:pPr algn="ctr"/>
            <a:r>
              <a:rPr sz="800" i="1">
                <a:solidFill>
                  <a:srgbClr val="1E2761"/>
                </a:solidFill>
                <a:latin typeface="Calibri"/>
              </a:rPr>
              <a:t>subscribes to</a:t>
            </a:r>
          </a:p>
        </p:txBody>
      </p:sp>
      <p:cxnSp>
        <p:nvCxnSpPr>
          <p:cNvPr id="49" name="Connector 48"/>
          <p:cNvCxnSpPr/>
          <p:nvPr/>
        </p:nvCxnSpPr>
        <p:spPr>
          <a:xfrm flipH="1">
            <a:off x="7178040" y="3429000"/>
            <a:ext cx="1188720" cy="1417320"/>
          </a:xfrm>
          <a:prstGeom prst="line">
            <a:avLst/>
          </a:prstGeom>
          <a:ln w="15875">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949440" y="4370832"/>
            <a:ext cx="731520" cy="228600"/>
          </a:xfrm>
          <a:prstGeom prst="rect">
            <a:avLst/>
          </a:prstGeom>
          <a:noFill/>
        </p:spPr>
        <p:txBody>
          <a:bodyPr wrap="none" lIns="18288" rIns="18288" tIns="0" bIns="0">
            <a:spAutoFit/>
          </a:bodyPr>
          <a:lstStyle/>
          <a:p>
            <a:pPr algn="ctr"/>
            <a:r>
              <a:rPr sz="800" i="1">
                <a:solidFill>
                  <a:srgbClr val="1E2761"/>
                </a:solidFill>
                <a:latin typeface="Calibri"/>
              </a:rPr>
              <a:t>calls</a:t>
            </a:r>
          </a:p>
        </p:txBody>
      </p:sp>
      <p:cxnSp>
        <p:nvCxnSpPr>
          <p:cNvPr id="51" name="Connector 50"/>
          <p:cNvCxnSpPr/>
          <p:nvPr/>
        </p:nvCxnSpPr>
        <p:spPr>
          <a:xfrm>
            <a:off x="9281160" y="3429000"/>
            <a:ext cx="594360" cy="1417320"/>
          </a:xfrm>
          <a:prstGeom prst="line">
            <a:avLst/>
          </a:prstGeom>
          <a:ln w="15875">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8732520" y="4325112"/>
            <a:ext cx="1371600" cy="228600"/>
          </a:xfrm>
          <a:prstGeom prst="rect">
            <a:avLst/>
          </a:prstGeom>
          <a:noFill/>
        </p:spPr>
        <p:txBody>
          <a:bodyPr wrap="none" lIns="18288" rIns="18288" tIns="0" bIns="0">
            <a:spAutoFit/>
          </a:bodyPr>
          <a:lstStyle/>
          <a:p>
            <a:pPr algn="ctr"/>
            <a:r>
              <a:rPr sz="800" i="1">
                <a:solidFill>
                  <a:srgbClr val="1E2761"/>
                </a:solidFill>
                <a:latin typeface="Calibri"/>
              </a:rPr>
              <a:t>reads/writes</a:t>
            </a:r>
          </a:p>
        </p:txBody>
      </p:sp>
      <p:cxnSp>
        <p:nvCxnSpPr>
          <p:cNvPr id="53" name="Connector 52"/>
          <p:cNvCxnSpPr/>
          <p:nvPr/>
        </p:nvCxnSpPr>
        <p:spPr>
          <a:xfrm>
            <a:off x="4389120" y="4091939"/>
            <a:ext cx="182880" cy="0"/>
          </a:xfrm>
          <a:prstGeom prst="line">
            <a:avLst/>
          </a:prstGeom>
          <a:ln w="19050">
            <a:solidFill>
              <a:srgbClr val="065F46"/>
            </a:solidFill>
          </a:ln>
          <a:effectLst/>
        </p:spPr>
        <p:style>
          <a:lnRef idx="2">
            <a:schemeClr val="accent1"/>
          </a:lnRef>
          <a:fillRef idx="0">
            <a:schemeClr val="accent1"/>
          </a:fillRef>
          <a:effectRef idx="1">
            <a:schemeClr val="accent1"/>
          </a:effectRef>
          <a:fontRef idx="minor">
            <a:schemeClr val="tx1"/>
          </a:fontRef>
        </p:style>
      </p:cxnSp>
      <p:sp>
        <p:nvSpPr>
          <p:cNvPr id="54" name="Diamond 53"/>
          <p:cNvSpPr/>
          <p:nvPr/>
        </p:nvSpPr>
        <p:spPr>
          <a:xfrm>
            <a:off x="4315968" y="4018787"/>
            <a:ext cx="146304" cy="146304"/>
          </a:xfrm>
          <a:prstGeom prst="diamond">
            <a:avLst/>
          </a:prstGeom>
          <a:solidFill>
            <a:srgbClr val="065F46"/>
          </a:solidFill>
          <a:ln w="15875">
            <a:solidFill>
              <a:srgbClr val="065F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297680" y="3845051"/>
            <a:ext cx="365760" cy="228600"/>
          </a:xfrm>
          <a:prstGeom prst="rect">
            <a:avLst/>
          </a:prstGeom>
          <a:noFill/>
        </p:spPr>
        <p:txBody>
          <a:bodyPr wrap="none" lIns="18288" rIns="18288" tIns="0" bIns="0">
            <a:spAutoFit/>
          </a:bodyPr>
          <a:lstStyle/>
          <a:p>
            <a:pPr algn="ctr"/>
            <a:r>
              <a:rPr sz="800" b="1">
                <a:solidFill>
                  <a:srgbClr val="065F46"/>
                </a:solidFill>
                <a:latin typeface="Calibri"/>
              </a:rPr>
              <a:t>1</a:t>
            </a:r>
          </a:p>
        </p:txBody>
      </p:sp>
      <p:sp>
        <p:nvSpPr>
          <p:cNvPr id="56" name="TextBox 55"/>
          <p:cNvSpPr txBox="1"/>
          <p:nvPr/>
        </p:nvSpPr>
        <p:spPr>
          <a:xfrm>
            <a:off x="4297680" y="3845051"/>
            <a:ext cx="365760" cy="228600"/>
          </a:xfrm>
          <a:prstGeom prst="rect">
            <a:avLst/>
          </a:prstGeom>
          <a:noFill/>
        </p:spPr>
        <p:txBody>
          <a:bodyPr wrap="none" lIns="18288" rIns="18288" tIns="0" bIns="0">
            <a:spAutoFit/>
          </a:bodyPr>
          <a:lstStyle/>
          <a:p>
            <a:pPr algn="ctr"/>
            <a:r>
              <a:rPr sz="800" b="1">
                <a:solidFill>
                  <a:srgbClr val="065F46"/>
                </a:solidFill>
                <a:latin typeface="Calibri"/>
              </a:rPr>
              <a:t>0..*</a:t>
            </a:r>
          </a:p>
        </p:txBody>
      </p:sp>
      <p:sp>
        <p:nvSpPr>
          <p:cNvPr id="57" name="TextBox 56"/>
          <p:cNvSpPr txBox="1"/>
          <p:nvPr/>
        </p:nvSpPr>
        <p:spPr>
          <a:xfrm>
            <a:off x="3749040" y="4091939"/>
            <a:ext cx="1463040" cy="228600"/>
          </a:xfrm>
          <a:prstGeom prst="rect">
            <a:avLst/>
          </a:prstGeom>
          <a:noFill/>
        </p:spPr>
        <p:txBody>
          <a:bodyPr wrap="none" lIns="18288" rIns="18288" tIns="0" bIns="0">
            <a:spAutoFit/>
          </a:bodyPr>
          <a:lstStyle/>
          <a:p>
            <a:pPr algn="ctr"/>
            <a:r>
              <a:rPr sz="800" i="1">
                <a:solidFill>
                  <a:srgbClr val="065F46"/>
                </a:solidFill>
                <a:latin typeface="Calibri"/>
              </a:rPr>
              <a:t>contains</a:t>
            </a:r>
          </a:p>
        </p:txBody>
      </p:sp>
      <p:cxnSp>
        <p:nvCxnSpPr>
          <p:cNvPr id="58" name="Connector 57"/>
          <p:cNvCxnSpPr/>
          <p:nvPr/>
        </p:nvCxnSpPr>
        <p:spPr>
          <a:xfrm>
            <a:off x="8869680" y="4091939"/>
            <a:ext cx="182880" cy="0"/>
          </a:xfrm>
          <a:prstGeom prst="line">
            <a:avLst/>
          </a:prstGeom>
          <a:ln w="19050">
            <a:solidFill>
              <a:srgbClr val="065F46"/>
            </a:solidFill>
          </a:ln>
          <a:effectLst/>
        </p:spPr>
        <p:style>
          <a:lnRef idx="2">
            <a:schemeClr val="accent1"/>
          </a:lnRef>
          <a:fillRef idx="0">
            <a:schemeClr val="accent1"/>
          </a:fillRef>
          <a:effectRef idx="1">
            <a:schemeClr val="accent1"/>
          </a:effectRef>
          <a:fontRef idx="minor">
            <a:schemeClr val="tx1"/>
          </a:fontRef>
        </p:style>
      </p:cxnSp>
      <p:sp>
        <p:nvSpPr>
          <p:cNvPr id="59" name="Diamond 58"/>
          <p:cNvSpPr/>
          <p:nvPr/>
        </p:nvSpPr>
        <p:spPr>
          <a:xfrm>
            <a:off x="8979408" y="4018787"/>
            <a:ext cx="146304" cy="146304"/>
          </a:xfrm>
          <a:prstGeom prst="diamond">
            <a:avLst/>
          </a:prstGeom>
          <a:solidFill>
            <a:srgbClr val="FFFFFF"/>
          </a:solidFill>
          <a:ln w="15875">
            <a:solidFill>
              <a:srgbClr val="065F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732520" y="3845051"/>
            <a:ext cx="365760" cy="228600"/>
          </a:xfrm>
          <a:prstGeom prst="rect">
            <a:avLst/>
          </a:prstGeom>
          <a:noFill/>
        </p:spPr>
        <p:txBody>
          <a:bodyPr wrap="none" lIns="18288" rIns="18288" tIns="0" bIns="0">
            <a:spAutoFit/>
          </a:bodyPr>
          <a:lstStyle/>
          <a:p>
            <a:pPr algn="ctr"/>
            <a:r>
              <a:rPr sz="800" b="1">
                <a:solidFill>
                  <a:srgbClr val="065F46"/>
                </a:solidFill>
                <a:latin typeface="Calibri"/>
              </a:rPr>
              <a:t>1</a:t>
            </a:r>
          </a:p>
        </p:txBody>
      </p:sp>
      <p:sp>
        <p:nvSpPr>
          <p:cNvPr id="61" name="TextBox 60"/>
          <p:cNvSpPr txBox="1"/>
          <p:nvPr/>
        </p:nvSpPr>
        <p:spPr>
          <a:xfrm>
            <a:off x="8823960" y="3845051"/>
            <a:ext cx="365760" cy="228600"/>
          </a:xfrm>
          <a:prstGeom prst="rect">
            <a:avLst/>
          </a:prstGeom>
          <a:noFill/>
        </p:spPr>
        <p:txBody>
          <a:bodyPr wrap="none" lIns="18288" rIns="18288" tIns="0" bIns="0">
            <a:spAutoFit/>
          </a:bodyPr>
          <a:lstStyle/>
          <a:p>
            <a:pPr algn="ctr"/>
            <a:r>
              <a:rPr sz="800" b="1">
                <a:solidFill>
                  <a:srgbClr val="065F46"/>
                </a:solidFill>
                <a:latin typeface="Calibri"/>
              </a:rPr>
              <a:t>1</a:t>
            </a:r>
          </a:p>
        </p:txBody>
      </p:sp>
      <p:sp>
        <p:nvSpPr>
          <p:cNvPr id="62" name="TextBox 61"/>
          <p:cNvSpPr txBox="1"/>
          <p:nvPr/>
        </p:nvSpPr>
        <p:spPr>
          <a:xfrm>
            <a:off x="8686800" y="4091939"/>
            <a:ext cx="548640" cy="228600"/>
          </a:xfrm>
          <a:prstGeom prst="rect">
            <a:avLst/>
          </a:prstGeom>
          <a:noFill/>
        </p:spPr>
        <p:txBody>
          <a:bodyPr wrap="none" lIns="18288" rIns="18288" tIns="0" bIns="0">
            <a:spAutoFit/>
          </a:bodyPr>
          <a:lstStyle/>
          <a:p>
            <a:pPr algn="ctr"/>
            <a:r>
              <a:rPr sz="800" i="1">
                <a:solidFill>
                  <a:srgbClr val="065F46"/>
                </a:solidFill>
                <a:latin typeface="Calibri"/>
              </a:rPr>
              <a:t>has</a:t>
            </a:r>
          </a:p>
        </p:txBody>
      </p:sp>
      <p:cxnSp>
        <p:nvCxnSpPr>
          <p:cNvPr id="63" name="Connector 62"/>
          <p:cNvCxnSpPr/>
          <p:nvPr/>
        </p:nvCxnSpPr>
        <p:spPr>
          <a:xfrm flipH="1">
            <a:off x="3566160" y="3429000"/>
            <a:ext cx="2103120" cy="320039"/>
          </a:xfrm>
          <a:prstGeom prst="line">
            <a:avLst/>
          </a:prstGeom>
          <a:ln w="12700">
            <a:solidFill>
              <a:srgbClr val="1E2761"/>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3611880" y="3502152"/>
            <a:ext cx="822960" cy="228600"/>
          </a:xfrm>
          <a:prstGeom prst="rect">
            <a:avLst/>
          </a:prstGeom>
          <a:noFill/>
        </p:spPr>
        <p:txBody>
          <a:bodyPr wrap="none" lIns="18288" rIns="18288" tIns="0" bIns="0">
            <a:spAutoFit/>
          </a:bodyPr>
          <a:lstStyle/>
          <a:p>
            <a:pPr algn="ctr"/>
            <a:r>
              <a:rPr sz="800" i="1">
                <a:solidFill>
                  <a:srgbClr val="6B7280"/>
                </a:solidFill>
                <a:latin typeface="Calibri"/>
              </a:rPr>
              <a:t>builds ▶</a:t>
            </a:r>
          </a:p>
        </p:txBody>
      </p:sp>
      <p:cxnSp>
        <p:nvCxnSpPr>
          <p:cNvPr id="65" name="Connector 64"/>
          <p:cNvCxnSpPr/>
          <p:nvPr/>
        </p:nvCxnSpPr>
        <p:spPr>
          <a:xfrm>
            <a:off x="9189720" y="3429000"/>
            <a:ext cx="685800" cy="320039"/>
          </a:xfrm>
          <a:prstGeom prst="line">
            <a:avLst/>
          </a:prstGeom>
          <a:ln w="12700">
            <a:solidFill>
              <a:srgbClr val="1E2761"/>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9006840" y="3502152"/>
            <a:ext cx="822960" cy="228600"/>
          </a:xfrm>
          <a:prstGeom prst="rect">
            <a:avLst/>
          </a:prstGeom>
          <a:noFill/>
        </p:spPr>
        <p:txBody>
          <a:bodyPr wrap="none" lIns="18288" rIns="18288" tIns="0" bIns="0">
            <a:spAutoFit/>
          </a:bodyPr>
          <a:lstStyle/>
          <a:p>
            <a:pPr algn="ctr"/>
            <a:r>
              <a:rPr sz="800" i="1">
                <a:solidFill>
                  <a:srgbClr val="6B7280"/>
                </a:solidFill>
                <a:latin typeface="Calibri"/>
              </a:rPr>
              <a:t>builds ▶</a:t>
            </a:r>
          </a:p>
        </p:txBody>
      </p:sp>
      <p:sp>
        <p:nvSpPr>
          <p:cNvPr id="67" name="TextBox 66"/>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3. Architecture &amp; OO Design</a:t>
            </a:r>
          </a:p>
        </p:txBody>
      </p:sp>
      <p:sp>
        <p:nvSpPr>
          <p:cNvPr id="68" name="TextBox 67"/>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3.3  Class Diagram — Reading Guide &amp; MVC Invariants</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3 — Architecture &amp; OO Design</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57200" y="1371600"/>
            <a:ext cx="5303520" cy="5029200"/>
          </a:xfrm>
          <a:prstGeom prst="roundRect">
            <a:avLst>
              <a:gd name="adj" fmla="val 10000"/>
            </a:avLst>
          </a:prstGeom>
          <a:solidFill>
            <a:srgbClr val="F4F6FB"/>
          </a:solidFill>
          <a:ln w="1587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 name="TextBox 5"/>
          <p:cNvSpPr txBox="1"/>
          <p:nvPr/>
        </p:nvSpPr>
        <p:spPr>
          <a:xfrm>
            <a:off x="731520" y="1508760"/>
            <a:ext cx="4846320" cy="365760"/>
          </a:xfrm>
          <a:prstGeom prst="rect">
            <a:avLst/>
          </a:prstGeom>
          <a:noFill/>
        </p:spPr>
        <p:txBody>
          <a:bodyPr wrap="square" lIns="45720" rIns="45720" tIns="18288" bIns="18288" anchor="t">
            <a:spAutoFit/>
          </a:bodyPr>
          <a:lstStyle/>
          <a:p>
            <a:pPr algn="l"/>
            <a:r>
              <a:rPr sz="1200" b="1" i="0">
                <a:solidFill>
                  <a:srgbClr val="1E2761"/>
                </a:solidFill>
                <a:latin typeface="Calibri"/>
              </a:rPr>
              <a:t>HOW TO READ EACH LINE</a:t>
            </a:r>
          </a:p>
        </p:txBody>
      </p:sp>
      <p:sp>
        <p:nvSpPr>
          <p:cNvPr id="7" name="Rounded Rectangle 6"/>
          <p:cNvSpPr/>
          <p:nvPr/>
        </p:nvSpPr>
        <p:spPr>
          <a:xfrm>
            <a:off x="731520" y="1920240"/>
            <a:ext cx="4754880" cy="822960"/>
          </a:xfrm>
          <a:prstGeom prst="roundRect">
            <a:avLst>
              <a:gd name="adj" fmla="val 10000"/>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8" name="TextBox 7"/>
          <p:cNvSpPr txBox="1"/>
          <p:nvPr/>
        </p:nvSpPr>
        <p:spPr>
          <a:xfrm>
            <a:off x="868680" y="2011680"/>
            <a:ext cx="4572000" cy="274320"/>
          </a:xfrm>
          <a:prstGeom prst="rect">
            <a:avLst/>
          </a:prstGeom>
          <a:noFill/>
        </p:spPr>
        <p:txBody>
          <a:bodyPr wrap="square" lIns="45720" rIns="45720" tIns="18288" bIns="18288" anchor="t">
            <a:spAutoFit/>
          </a:bodyPr>
          <a:lstStyle/>
          <a:p>
            <a:pPr algn="l"/>
            <a:r>
              <a:rPr sz="1100" b="1" i="0">
                <a:solidFill>
                  <a:srgbClr val="1E2761"/>
                </a:solidFill>
                <a:latin typeface="Calibri"/>
              </a:rPr>
              <a:t>Composition  ◆───</a:t>
            </a:r>
          </a:p>
        </p:txBody>
      </p:sp>
      <p:sp>
        <p:nvSpPr>
          <p:cNvPr id="9" name="TextBox 8"/>
          <p:cNvSpPr txBox="1"/>
          <p:nvPr/>
        </p:nvSpPr>
        <p:spPr>
          <a:xfrm>
            <a:off x="868680" y="2286000"/>
            <a:ext cx="4572000" cy="457200"/>
          </a:xfrm>
          <a:prstGeom prst="rect">
            <a:avLst/>
          </a:prstGeom>
          <a:noFill/>
        </p:spPr>
        <p:txBody>
          <a:bodyPr wrap="square" lIns="45720" rIns="45720" tIns="18288" bIns="18288" anchor="t">
            <a:spAutoFit/>
          </a:bodyPr>
          <a:lstStyle/>
          <a:p>
            <a:pPr algn="l"/>
            <a:r>
              <a:rPr sz="1000" b="0" i="0">
                <a:solidFill>
                  <a:srgbClr val="1F2937"/>
                </a:solidFill>
                <a:latin typeface="Calibri"/>
              </a:rPr>
              <a:t>Owned part — life tied to parent.</a:t>
            </a:r>
          </a:p>
          <a:p>
            <a:pPr algn="l"/>
            <a:r>
              <a:rPr sz="1000" b="0" i="0">
                <a:solidFill>
                  <a:srgbClr val="1F2937"/>
                </a:solidFill>
                <a:latin typeface="Calibri"/>
              </a:rPr>
              <a:t>AppLayoutView ◆ TrainerView.</a:t>
            </a:r>
          </a:p>
        </p:txBody>
      </p:sp>
      <p:sp>
        <p:nvSpPr>
          <p:cNvPr id="10" name="Rounded Rectangle 9"/>
          <p:cNvSpPr/>
          <p:nvPr/>
        </p:nvSpPr>
        <p:spPr>
          <a:xfrm>
            <a:off x="731520" y="2834640"/>
            <a:ext cx="4754880" cy="822960"/>
          </a:xfrm>
          <a:prstGeom prst="roundRect">
            <a:avLst>
              <a:gd name="adj" fmla="val 10000"/>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1" name="TextBox 10"/>
          <p:cNvSpPr txBox="1"/>
          <p:nvPr/>
        </p:nvSpPr>
        <p:spPr>
          <a:xfrm>
            <a:off x="868680" y="2926080"/>
            <a:ext cx="4572000" cy="274320"/>
          </a:xfrm>
          <a:prstGeom prst="rect">
            <a:avLst/>
          </a:prstGeom>
          <a:noFill/>
        </p:spPr>
        <p:txBody>
          <a:bodyPr wrap="square" lIns="45720" rIns="45720" tIns="18288" bIns="18288" anchor="t">
            <a:spAutoFit/>
          </a:bodyPr>
          <a:lstStyle/>
          <a:p>
            <a:pPr algn="l"/>
            <a:r>
              <a:rPr sz="1100" b="1" i="0">
                <a:solidFill>
                  <a:srgbClr val="1E2761"/>
                </a:solidFill>
                <a:latin typeface="Calibri"/>
              </a:rPr>
              <a:t>Aggregation  ◇───</a:t>
            </a:r>
          </a:p>
        </p:txBody>
      </p:sp>
      <p:sp>
        <p:nvSpPr>
          <p:cNvPr id="12" name="TextBox 11"/>
          <p:cNvSpPr txBox="1"/>
          <p:nvPr/>
        </p:nvSpPr>
        <p:spPr>
          <a:xfrm>
            <a:off x="868680" y="3200400"/>
            <a:ext cx="4572000" cy="457200"/>
          </a:xfrm>
          <a:prstGeom prst="rect">
            <a:avLst/>
          </a:prstGeom>
          <a:noFill/>
        </p:spPr>
        <p:txBody>
          <a:bodyPr wrap="square" lIns="45720" rIns="45720" tIns="18288" bIns="18288" anchor="t">
            <a:spAutoFit/>
          </a:bodyPr>
          <a:lstStyle/>
          <a:p>
            <a:pPr algn="l"/>
            <a:r>
              <a:rPr sz="1000" b="0" i="0">
                <a:solidFill>
                  <a:srgbClr val="1F2937"/>
                </a:solidFill>
                <a:latin typeface="Calibri"/>
              </a:rPr>
              <a:t>Shared part — can exist alone.</a:t>
            </a:r>
          </a:p>
          <a:p>
            <a:pPr algn="l"/>
            <a:r>
              <a:rPr sz="1000" b="0" i="0">
                <a:solidFill>
                  <a:srgbClr val="1F2937"/>
                </a:solidFill>
                <a:latin typeface="Calibri"/>
              </a:rPr>
              <a:t>DrillSession ◇ SpeechAnalysis.</a:t>
            </a:r>
          </a:p>
        </p:txBody>
      </p:sp>
      <p:sp>
        <p:nvSpPr>
          <p:cNvPr id="13" name="Rounded Rectangle 12"/>
          <p:cNvSpPr/>
          <p:nvPr/>
        </p:nvSpPr>
        <p:spPr>
          <a:xfrm>
            <a:off x="731520" y="3749039"/>
            <a:ext cx="4754880" cy="822960"/>
          </a:xfrm>
          <a:prstGeom prst="roundRect">
            <a:avLst>
              <a:gd name="adj" fmla="val 10000"/>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4" name="TextBox 13"/>
          <p:cNvSpPr txBox="1"/>
          <p:nvPr/>
        </p:nvSpPr>
        <p:spPr>
          <a:xfrm>
            <a:off x="868680" y="3840479"/>
            <a:ext cx="4572000" cy="274320"/>
          </a:xfrm>
          <a:prstGeom prst="rect">
            <a:avLst/>
          </a:prstGeom>
          <a:noFill/>
        </p:spPr>
        <p:txBody>
          <a:bodyPr wrap="square" lIns="45720" rIns="45720" tIns="18288" bIns="18288" anchor="t">
            <a:spAutoFit/>
          </a:bodyPr>
          <a:lstStyle/>
          <a:p>
            <a:pPr algn="l"/>
            <a:r>
              <a:rPr sz="1100" b="1" i="0">
                <a:solidFill>
                  <a:srgbClr val="1E2761"/>
                </a:solidFill>
                <a:latin typeface="Calibri"/>
              </a:rPr>
              <a:t>Association ────▶</a:t>
            </a:r>
          </a:p>
        </p:txBody>
      </p:sp>
      <p:sp>
        <p:nvSpPr>
          <p:cNvPr id="15" name="TextBox 14"/>
          <p:cNvSpPr txBox="1"/>
          <p:nvPr/>
        </p:nvSpPr>
        <p:spPr>
          <a:xfrm>
            <a:off x="868680" y="4114800"/>
            <a:ext cx="4572000" cy="457200"/>
          </a:xfrm>
          <a:prstGeom prst="rect">
            <a:avLst/>
          </a:prstGeom>
          <a:noFill/>
        </p:spPr>
        <p:txBody>
          <a:bodyPr wrap="square" lIns="45720" rIns="45720" tIns="18288" bIns="18288" anchor="t">
            <a:spAutoFit/>
          </a:bodyPr>
          <a:lstStyle/>
          <a:p>
            <a:pPr algn="l"/>
            <a:r>
              <a:rPr sz="1000" b="0" i="0">
                <a:solidFill>
                  <a:srgbClr val="1F2937"/>
                </a:solidFill>
                <a:latin typeface="Calibri"/>
              </a:rPr>
              <a:t>Plain "uses" / "refers to".</a:t>
            </a:r>
          </a:p>
          <a:p>
            <a:pPr algn="l"/>
            <a:r>
              <a:rPr sz="1000" b="0" i="0">
                <a:solidFill>
                  <a:srgbClr val="1F2937"/>
                </a:solidFill>
                <a:latin typeface="Calibri"/>
              </a:rPr>
              <a:t>TrainerView ▶ PromptController.</a:t>
            </a:r>
          </a:p>
        </p:txBody>
      </p:sp>
      <p:sp>
        <p:nvSpPr>
          <p:cNvPr id="16" name="Rounded Rectangle 15"/>
          <p:cNvSpPr/>
          <p:nvPr/>
        </p:nvSpPr>
        <p:spPr>
          <a:xfrm>
            <a:off x="731520" y="4663440"/>
            <a:ext cx="4754880" cy="822960"/>
          </a:xfrm>
          <a:prstGeom prst="roundRect">
            <a:avLst>
              <a:gd name="adj" fmla="val 10000"/>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7" name="TextBox 16"/>
          <p:cNvSpPr txBox="1"/>
          <p:nvPr/>
        </p:nvSpPr>
        <p:spPr>
          <a:xfrm>
            <a:off x="868680" y="4754879"/>
            <a:ext cx="4572000" cy="274320"/>
          </a:xfrm>
          <a:prstGeom prst="rect">
            <a:avLst/>
          </a:prstGeom>
          <a:noFill/>
        </p:spPr>
        <p:txBody>
          <a:bodyPr wrap="square" lIns="45720" rIns="45720" tIns="18288" bIns="18288" anchor="t">
            <a:spAutoFit/>
          </a:bodyPr>
          <a:lstStyle/>
          <a:p>
            <a:pPr algn="l"/>
            <a:r>
              <a:rPr sz="1100" b="1" i="0">
                <a:solidFill>
                  <a:srgbClr val="1E2761"/>
                </a:solidFill>
                <a:latin typeface="Calibri"/>
              </a:rPr>
              <a:t>Dependency ----▶</a:t>
            </a:r>
          </a:p>
        </p:txBody>
      </p:sp>
      <p:sp>
        <p:nvSpPr>
          <p:cNvPr id="18" name="TextBox 17"/>
          <p:cNvSpPr txBox="1"/>
          <p:nvPr/>
        </p:nvSpPr>
        <p:spPr>
          <a:xfrm>
            <a:off x="868680" y="5029200"/>
            <a:ext cx="4572000" cy="457200"/>
          </a:xfrm>
          <a:prstGeom prst="rect">
            <a:avLst/>
          </a:prstGeom>
          <a:noFill/>
        </p:spPr>
        <p:txBody>
          <a:bodyPr wrap="square" lIns="45720" rIns="45720" tIns="18288" bIns="18288" anchor="t">
            <a:spAutoFit/>
          </a:bodyPr>
          <a:lstStyle/>
          <a:p>
            <a:pPr algn="l"/>
            <a:r>
              <a:rPr sz="1000" b="0" i="0">
                <a:solidFill>
                  <a:srgbClr val="1F2937"/>
                </a:solidFill>
                <a:latin typeface="Calibri"/>
              </a:rPr>
              <a:t>Transient — "returns" / "emits".</a:t>
            </a:r>
          </a:p>
          <a:p>
            <a:pPr algn="l"/>
            <a:r>
              <a:rPr sz="1000" b="0" i="0">
                <a:solidFill>
                  <a:srgbClr val="1F2937"/>
                </a:solidFill>
                <a:latin typeface="Calibri"/>
              </a:rPr>
              <a:t>SpeechRecognitionService ⤳ TranscriptSegment.</a:t>
            </a:r>
          </a:p>
        </p:txBody>
      </p:sp>
      <p:sp>
        <p:nvSpPr>
          <p:cNvPr id="19" name="Rounded Rectangle 18"/>
          <p:cNvSpPr/>
          <p:nvPr/>
        </p:nvSpPr>
        <p:spPr>
          <a:xfrm>
            <a:off x="731520" y="5577840"/>
            <a:ext cx="4754880" cy="822960"/>
          </a:xfrm>
          <a:prstGeom prst="roundRect">
            <a:avLst>
              <a:gd name="adj" fmla="val 10000"/>
            </a:avLst>
          </a:prstGeom>
          <a:solidFill>
            <a:srgbClr val="FFFFFF"/>
          </a:solidFill>
          <a:ln w="63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0" name="TextBox 19"/>
          <p:cNvSpPr txBox="1"/>
          <p:nvPr/>
        </p:nvSpPr>
        <p:spPr>
          <a:xfrm>
            <a:off x="868680" y="5669279"/>
            <a:ext cx="4572000" cy="274320"/>
          </a:xfrm>
          <a:prstGeom prst="rect">
            <a:avLst/>
          </a:prstGeom>
          <a:noFill/>
        </p:spPr>
        <p:txBody>
          <a:bodyPr wrap="square" lIns="45720" rIns="45720" tIns="18288" bIns="18288" anchor="t">
            <a:spAutoFit/>
          </a:bodyPr>
          <a:lstStyle/>
          <a:p>
            <a:pPr algn="l"/>
            <a:r>
              <a:rPr sz="1100" b="1" i="0">
                <a:solidFill>
                  <a:srgbClr val="1E2761"/>
                </a:solidFill>
                <a:latin typeface="Calibri"/>
              </a:rPr>
              <a:t>Multiplicity  1 · 0..* · 1..*</a:t>
            </a:r>
          </a:p>
        </p:txBody>
      </p:sp>
      <p:sp>
        <p:nvSpPr>
          <p:cNvPr id="21" name="TextBox 20"/>
          <p:cNvSpPr txBox="1"/>
          <p:nvPr/>
        </p:nvSpPr>
        <p:spPr>
          <a:xfrm>
            <a:off x="868680" y="5943600"/>
            <a:ext cx="4572000" cy="457200"/>
          </a:xfrm>
          <a:prstGeom prst="rect">
            <a:avLst/>
          </a:prstGeom>
          <a:noFill/>
        </p:spPr>
        <p:txBody>
          <a:bodyPr wrap="square" lIns="45720" rIns="45720" tIns="18288" bIns="18288" anchor="t">
            <a:spAutoFit/>
          </a:bodyPr>
          <a:lstStyle/>
          <a:p>
            <a:pPr algn="l"/>
            <a:r>
              <a:rPr sz="1000" b="0" i="0">
                <a:solidFill>
                  <a:srgbClr val="1F2937"/>
                </a:solidFill>
                <a:latin typeface="Calibri"/>
              </a:rPr>
              <a:t>How many on each end of the line.</a:t>
            </a:r>
          </a:p>
        </p:txBody>
      </p:sp>
      <p:sp>
        <p:nvSpPr>
          <p:cNvPr id="22" name="Rounded Rectangle 21"/>
          <p:cNvSpPr/>
          <p:nvPr/>
        </p:nvSpPr>
        <p:spPr>
          <a:xfrm>
            <a:off x="5943600" y="1371600"/>
            <a:ext cx="5760720" cy="5029200"/>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3" name="TextBox 22"/>
          <p:cNvSpPr txBox="1"/>
          <p:nvPr/>
        </p:nvSpPr>
        <p:spPr>
          <a:xfrm>
            <a:off x="6217920" y="1508760"/>
            <a:ext cx="5212080" cy="365760"/>
          </a:xfrm>
          <a:prstGeom prst="rect">
            <a:avLst/>
          </a:prstGeom>
          <a:noFill/>
        </p:spPr>
        <p:txBody>
          <a:bodyPr wrap="square" lIns="45720" rIns="45720" tIns="18288" bIns="18288" anchor="t">
            <a:spAutoFit/>
          </a:bodyPr>
          <a:lstStyle/>
          <a:p>
            <a:pPr algn="l"/>
            <a:r>
              <a:rPr sz="1200" b="1" i="0">
                <a:solidFill>
                  <a:srgbClr val="F59E0B"/>
                </a:solidFill>
                <a:latin typeface="Calibri"/>
              </a:rPr>
              <a:t>MVC INVARIANTS ENFORCED</a:t>
            </a:r>
          </a:p>
        </p:txBody>
      </p:sp>
      <p:sp>
        <p:nvSpPr>
          <p:cNvPr id="24" name="Oval 23"/>
          <p:cNvSpPr/>
          <p:nvPr/>
        </p:nvSpPr>
        <p:spPr>
          <a:xfrm>
            <a:off x="6217920" y="1920240"/>
            <a:ext cx="457200" cy="457200"/>
          </a:xfrm>
          <a:prstGeom prst="ellipse">
            <a:avLst/>
          </a:prstGeom>
          <a:solidFill>
            <a:srgbClr val="F59E0B"/>
          </a:solidFill>
          <a:ln>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E2761"/>
                </a:solidFill>
                <a:latin typeface="Calibri"/>
              </a:rPr>
              <a:t>1</a:t>
            </a:r>
          </a:p>
        </p:txBody>
      </p:sp>
      <p:sp>
        <p:nvSpPr>
          <p:cNvPr id="25" name="TextBox 24"/>
          <p:cNvSpPr txBox="1"/>
          <p:nvPr/>
        </p:nvSpPr>
        <p:spPr>
          <a:xfrm>
            <a:off x="6766560" y="1938528"/>
            <a:ext cx="4846320" cy="365760"/>
          </a:xfrm>
          <a:prstGeom prst="rect">
            <a:avLst/>
          </a:prstGeom>
          <a:noFill/>
        </p:spPr>
        <p:txBody>
          <a:bodyPr wrap="square" lIns="45720" rIns="45720" tIns="18288" bIns="18288" anchor="t">
            <a:spAutoFit/>
          </a:bodyPr>
          <a:lstStyle/>
          <a:p>
            <a:pPr algn="l"/>
            <a:r>
              <a:rPr sz="1300" b="1" i="0">
                <a:solidFill>
                  <a:srgbClr val="FFFFFF"/>
                </a:solidFill>
                <a:latin typeface="Calibri"/>
              </a:rPr>
              <a:t>No View directly references a Model.</a:t>
            </a:r>
          </a:p>
        </p:txBody>
      </p:sp>
      <p:sp>
        <p:nvSpPr>
          <p:cNvPr id="26" name="TextBox 25"/>
          <p:cNvSpPr txBox="1"/>
          <p:nvPr/>
        </p:nvSpPr>
        <p:spPr>
          <a:xfrm>
            <a:off x="6766560" y="2286000"/>
            <a:ext cx="4846320" cy="457200"/>
          </a:xfrm>
          <a:prstGeom prst="rect">
            <a:avLst/>
          </a:prstGeom>
          <a:noFill/>
        </p:spPr>
        <p:txBody>
          <a:bodyPr wrap="square" lIns="45720" rIns="45720" tIns="18288" bIns="18288" anchor="t">
            <a:spAutoFit/>
          </a:bodyPr>
          <a:lstStyle/>
          <a:p>
            <a:pPr algn="l"/>
            <a:r>
              <a:rPr sz="1100" b="0" i="1">
                <a:solidFill>
                  <a:srgbClr val="CADCFC"/>
                </a:solidFill>
                <a:latin typeface="Calibri"/>
              </a:rPr>
              <a:t>Data access goes through a Controller.</a:t>
            </a:r>
          </a:p>
        </p:txBody>
      </p:sp>
      <p:sp>
        <p:nvSpPr>
          <p:cNvPr id="27" name="Oval 26"/>
          <p:cNvSpPr/>
          <p:nvPr/>
        </p:nvSpPr>
        <p:spPr>
          <a:xfrm>
            <a:off x="6217920" y="2971800"/>
            <a:ext cx="457200" cy="457200"/>
          </a:xfrm>
          <a:prstGeom prst="ellipse">
            <a:avLst/>
          </a:prstGeom>
          <a:solidFill>
            <a:srgbClr val="F59E0B"/>
          </a:solidFill>
          <a:ln>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E2761"/>
                </a:solidFill>
                <a:latin typeface="Calibri"/>
              </a:rPr>
              <a:t>2</a:t>
            </a:r>
          </a:p>
        </p:txBody>
      </p:sp>
      <p:sp>
        <p:nvSpPr>
          <p:cNvPr id="28" name="TextBox 27"/>
          <p:cNvSpPr txBox="1"/>
          <p:nvPr/>
        </p:nvSpPr>
        <p:spPr>
          <a:xfrm>
            <a:off x="6766560" y="2990088"/>
            <a:ext cx="4846320" cy="365760"/>
          </a:xfrm>
          <a:prstGeom prst="rect">
            <a:avLst/>
          </a:prstGeom>
          <a:noFill/>
        </p:spPr>
        <p:txBody>
          <a:bodyPr wrap="square" lIns="45720" rIns="45720" tIns="18288" bIns="18288" anchor="t">
            <a:spAutoFit/>
          </a:bodyPr>
          <a:lstStyle/>
          <a:p>
            <a:pPr algn="l"/>
            <a:r>
              <a:rPr sz="1300" b="1" i="0">
                <a:solidFill>
                  <a:srgbClr val="FFFFFF"/>
                </a:solidFill>
                <a:latin typeface="Calibri"/>
              </a:rPr>
              <a:t>No Controller renders UI.</a:t>
            </a:r>
          </a:p>
        </p:txBody>
      </p:sp>
      <p:sp>
        <p:nvSpPr>
          <p:cNvPr id="29" name="TextBox 28"/>
          <p:cNvSpPr txBox="1"/>
          <p:nvPr/>
        </p:nvSpPr>
        <p:spPr>
          <a:xfrm>
            <a:off x="6766560" y="3337560"/>
            <a:ext cx="4846320" cy="457200"/>
          </a:xfrm>
          <a:prstGeom prst="rect">
            <a:avLst/>
          </a:prstGeom>
          <a:noFill/>
        </p:spPr>
        <p:txBody>
          <a:bodyPr wrap="square" lIns="45720" rIns="45720" tIns="18288" bIns="18288" anchor="t">
            <a:spAutoFit/>
          </a:bodyPr>
          <a:lstStyle/>
          <a:p>
            <a:pPr algn="l"/>
            <a:r>
              <a:rPr sz="1100" b="0" i="1">
                <a:solidFill>
                  <a:srgbClr val="CADCFC"/>
                </a:solidFill>
                <a:latin typeface="Calibri"/>
              </a:rPr>
              <a:t>Controllers return data to Views.</a:t>
            </a:r>
          </a:p>
        </p:txBody>
      </p:sp>
      <p:sp>
        <p:nvSpPr>
          <p:cNvPr id="30" name="Oval 29"/>
          <p:cNvSpPr/>
          <p:nvPr/>
        </p:nvSpPr>
        <p:spPr>
          <a:xfrm>
            <a:off x="6217920" y="4023360"/>
            <a:ext cx="457200" cy="457200"/>
          </a:xfrm>
          <a:prstGeom prst="ellipse">
            <a:avLst/>
          </a:prstGeom>
          <a:solidFill>
            <a:srgbClr val="F59E0B"/>
          </a:solidFill>
          <a:ln>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E2761"/>
                </a:solidFill>
                <a:latin typeface="Calibri"/>
              </a:rPr>
              <a:t>3</a:t>
            </a:r>
          </a:p>
        </p:txBody>
      </p:sp>
      <p:sp>
        <p:nvSpPr>
          <p:cNvPr id="31" name="TextBox 30"/>
          <p:cNvSpPr txBox="1"/>
          <p:nvPr/>
        </p:nvSpPr>
        <p:spPr>
          <a:xfrm>
            <a:off x="6766560" y="4041648"/>
            <a:ext cx="4846320" cy="365760"/>
          </a:xfrm>
          <a:prstGeom prst="rect">
            <a:avLst/>
          </a:prstGeom>
          <a:noFill/>
        </p:spPr>
        <p:txBody>
          <a:bodyPr wrap="square" lIns="45720" rIns="45720" tIns="18288" bIns="18288" anchor="t">
            <a:spAutoFit/>
          </a:bodyPr>
          <a:lstStyle/>
          <a:p>
            <a:pPr algn="l"/>
            <a:r>
              <a:rPr sz="1300" b="1" i="0">
                <a:solidFill>
                  <a:srgbClr val="FFFFFF"/>
                </a:solidFill>
                <a:latin typeface="Calibri"/>
              </a:rPr>
              <a:t>No View or Model calls an external service.</a:t>
            </a:r>
          </a:p>
        </p:txBody>
      </p:sp>
      <p:sp>
        <p:nvSpPr>
          <p:cNvPr id="32" name="TextBox 31"/>
          <p:cNvSpPr txBox="1"/>
          <p:nvPr/>
        </p:nvSpPr>
        <p:spPr>
          <a:xfrm>
            <a:off x="6766560" y="4389120"/>
            <a:ext cx="4846320" cy="457200"/>
          </a:xfrm>
          <a:prstGeom prst="rect">
            <a:avLst/>
          </a:prstGeom>
          <a:noFill/>
        </p:spPr>
        <p:txBody>
          <a:bodyPr wrap="square" lIns="45720" rIns="45720" tIns="18288" bIns="18288" anchor="t">
            <a:spAutoFit/>
          </a:bodyPr>
          <a:lstStyle/>
          <a:p>
            <a:pPr algn="l"/>
            <a:r>
              <a:rPr sz="1100" b="0" i="1">
                <a:solidFill>
                  <a:srgbClr val="CADCFC"/>
                </a:solidFill>
                <a:latin typeface="Calibri"/>
              </a:rPr>
              <a:t>Controllers own every outbound call.</a:t>
            </a:r>
          </a:p>
        </p:txBody>
      </p:sp>
      <p:sp>
        <p:nvSpPr>
          <p:cNvPr id="33" name="Oval 32"/>
          <p:cNvSpPr/>
          <p:nvPr/>
        </p:nvSpPr>
        <p:spPr>
          <a:xfrm>
            <a:off x="6217920" y="5074920"/>
            <a:ext cx="457200" cy="457200"/>
          </a:xfrm>
          <a:prstGeom prst="ellipse">
            <a:avLst/>
          </a:prstGeom>
          <a:solidFill>
            <a:srgbClr val="F59E0B"/>
          </a:solidFill>
          <a:ln>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E2761"/>
                </a:solidFill>
                <a:latin typeface="Calibri"/>
              </a:rPr>
              <a:t>4</a:t>
            </a:r>
          </a:p>
        </p:txBody>
      </p:sp>
      <p:sp>
        <p:nvSpPr>
          <p:cNvPr id="34" name="TextBox 33"/>
          <p:cNvSpPr txBox="1"/>
          <p:nvPr/>
        </p:nvSpPr>
        <p:spPr>
          <a:xfrm>
            <a:off x="6766560" y="5093208"/>
            <a:ext cx="4846320" cy="365760"/>
          </a:xfrm>
          <a:prstGeom prst="rect">
            <a:avLst/>
          </a:prstGeom>
          <a:noFill/>
        </p:spPr>
        <p:txBody>
          <a:bodyPr wrap="square" lIns="45720" rIns="45720" tIns="18288" bIns="18288" anchor="t">
            <a:spAutoFit/>
          </a:bodyPr>
          <a:lstStyle/>
          <a:p>
            <a:pPr algn="l"/>
            <a:r>
              <a:rPr sz="1300" b="1" i="0">
                <a:solidFill>
                  <a:srgbClr val="FFFFFF"/>
                </a:solidFill>
                <a:latin typeface="Calibri"/>
              </a:rPr>
              <a:t>Models are plain data.</a:t>
            </a:r>
          </a:p>
        </p:txBody>
      </p:sp>
      <p:sp>
        <p:nvSpPr>
          <p:cNvPr id="35" name="TextBox 34"/>
          <p:cNvSpPr txBox="1"/>
          <p:nvPr/>
        </p:nvSpPr>
        <p:spPr>
          <a:xfrm>
            <a:off x="6766560" y="5440680"/>
            <a:ext cx="4846320" cy="457200"/>
          </a:xfrm>
          <a:prstGeom prst="rect">
            <a:avLst/>
          </a:prstGeom>
          <a:noFill/>
        </p:spPr>
        <p:txBody>
          <a:bodyPr wrap="square" lIns="45720" rIns="45720" tIns="18288" bIns="18288" anchor="t">
            <a:spAutoFit/>
          </a:bodyPr>
          <a:lstStyle/>
          <a:p>
            <a:pPr algn="l"/>
            <a:r>
              <a:rPr sz="1100" b="0" i="1">
                <a:solidFill>
                  <a:srgbClr val="CADCFC"/>
                </a:solidFill>
                <a:latin typeface="Calibri"/>
              </a:rPr>
              <a:t>No behaviour that crosses layers.</a:t>
            </a:r>
          </a:p>
        </p:txBody>
      </p:sp>
      <p:sp>
        <p:nvSpPr>
          <p:cNvPr id="36" name="TextBox 35"/>
          <p:cNvSpPr txBox="1"/>
          <p:nvPr/>
        </p:nvSpPr>
        <p:spPr>
          <a:xfrm>
            <a:off x="6217920" y="5989320"/>
            <a:ext cx="5212080" cy="274320"/>
          </a:xfrm>
          <a:prstGeom prst="rect">
            <a:avLst/>
          </a:prstGeom>
          <a:noFill/>
        </p:spPr>
        <p:txBody>
          <a:bodyPr wrap="square" lIns="45720" rIns="45720" tIns="18288" bIns="18288" anchor="t">
            <a:spAutoFit/>
          </a:bodyPr>
          <a:lstStyle/>
          <a:p>
            <a:pPr algn="l"/>
            <a:r>
              <a:rPr sz="1000" b="0" i="1">
                <a:solidFill>
                  <a:srgbClr val="CADCFC"/>
                </a:solidFill>
                <a:latin typeface="Calibri"/>
              </a:rPr>
              <a:t>These four rules are what "MVC compliance" means in this portfolio.</a:t>
            </a:r>
          </a:p>
        </p:txBody>
      </p:sp>
      <p:sp>
        <p:nvSpPr>
          <p:cNvPr id="37" name="TextBox 36"/>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3. Architecture &amp; OO Design</a:t>
            </a:r>
          </a:p>
        </p:txBody>
      </p:sp>
      <p:sp>
        <p:nvSpPr>
          <p:cNvPr id="38" name="TextBox 37"/>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3.4  Class — TrainerView</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3 — Architecture &amp; OO Design  |  Class Descriptions</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57200" y="1463040"/>
            <a:ext cx="4572000" cy="4937760"/>
          </a:xfrm>
          <a:prstGeom prst="roundRect">
            <a:avLst>
              <a:gd name="adj" fmla="val 10000"/>
            </a:avLst>
          </a:prstGeom>
          <a:solidFill>
            <a:srgbClr val="DBEAFE"/>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 name="TextBox 5"/>
          <p:cNvSpPr txBox="1"/>
          <p:nvPr/>
        </p:nvSpPr>
        <p:spPr>
          <a:xfrm>
            <a:off x="731520" y="1645920"/>
            <a:ext cx="4023360" cy="320040"/>
          </a:xfrm>
          <a:prstGeom prst="rect">
            <a:avLst/>
          </a:prstGeom>
          <a:noFill/>
        </p:spPr>
        <p:txBody>
          <a:bodyPr wrap="square" lIns="45720" rIns="45720" tIns="18288" bIns="18288" anchor="t">
            <a:spAutoFit/>
          </a:bodyPr>
          <a:lstStyle/>
          <a:p>
            <a:pPr algn="l"/>
            <a:r>
              <a:rPr sz="1100" b="0" i="1">
                <a:solidFill>
                  <a:srgbClr val="1E40AF"/>
                </a:solidFill>
                <a:latin typeface="Calibri"/>
              </a:rPr>
              <a:t>«View»</a:t>
            </a:r>
          </a:p>
        </p:txBody>
      </p:sp>
      <p:sp>
        <p:nvSpPr>
          <p:cNvPr id="7" name="TextBox 6"/>
          <p:cNvSpPr txBox="1"/>
          <p:nvPr/>
        </p:nvSpPr>
        <p:spPr>
          <a:xfrm>
            <a:off x="731520" y="1965960"/>
            <a:ext cx="4023360" cy="640080"/>
          </a:xfrm>
          <a:prstGeom prst="rect">
            <a:avLst/>
          </a:prstGeom>
          <a:noFill/>
        </p:spPr>
        <p:txBody>
          <a:bodyPr wrap="square" lIns="45720" rIns="45720" tIns="18288" bIns="18288" anchor="t">
            <a:spAutoFit/>
          </a:bodyPr>
          <a:lstStyle/>
          <a:p>
            <a:pPr algn="l"/>
            <a:r>
              <a:rPr sz="2600" b="1" i="0">
                <a:solidFill>
                  <a:srgbClr val="1E40AF"/>
                </a:solidFill>
                <a:latin typeface="Calibri"/>
              </a:rPr>
              <a:t>TrainerView</a:t>
            </a:r>
          </a:p>
        </p:txBody>
      </p:sp>
      <p:sp>
        <p:nvSpPr>
          <p:cNvPr id="8" name="TextBox 7"/>
          <p:cNvSpPr txBox="1"/>
          <p:nvPr/>
        </p:nvSpPr>
        <p:spPr>
          <a:xfrm>
            <a:off x="731520" y="2834640"/>
            <a:ext cx="4023360" cy="320040"/>
          </a:xfrm>
          <a:prstGeom prst="rect">
            <a:avLst/>
          </a:prstGeom>
          <a:noFill/>
        </p:spPr>
        <p:txBody>
          <a:bodyPr wrap="square" lIns="45720" rIns="45720" tIns="18288" bIns="18288" anchor="t">
            <a:spAutoFit/>
          </a:bodyPr>
          <a:lstStyle/>
          <a:p>
            <a:pPr algn="l"/>
            <a:r>
              <a:rPr sz="1000" b="1" i="0">
                <a:solidFill>
                  <a:srgbClr val="6B7280"/>
                </a:solidFill>
                <a:latin typeface="Calibri"/>
              </a:rPr>
              <a:t>ONE-LINE ROLE</a:t>
            </a:r>
          </a:p>
        </p:txBody>
      </p:sp>
      <p:sp>
        <p:nvSpPr>
          <p:cNvPr id="9" name="TextBox 8"/>
          <p:cNvSpPr txBox="1"/>
          <p:nvPr/>
        </p:nvSpPr>
        <p:spPr>
          <a:xfrm>
            <a:off x="731520" y="3154680"/>
            <a:ext cx="4023360" cy="1371600"/>
          </a:xfrm>
          <a:prstGeom prst="rect">
            <a:avLst/>
          </a:prstGeom>
          <a:noFill/>
        </p:spPr>
        <p:txBody>
          <a:bodyPr wrap="square" lIns="45720" rIns="45720" tIns="18288" bIns="18288" anchor="t">
            <a:spAutoFit/>
          </a:bodyPr>
          <a:lstStyle/>
          <a:p>
            <a:pPr algn="l"/>
            <a:r>
              <a:rPr sz="1300" b="0" i="0">
                <a:solidFill>
                  <a:srgbClr val="1F2937"/>
                </a:solidFill>
                <a:latin typeface="Calibri"/>
              </a:rPr>
              <a:t>The main practice page. Hosts Generate Prompt + Start/Stop buttons + live transcript.</a:t>
            </a:r>
          </a:p>
        </p:txBody>
      </p:sp>
      <p:sp>
        <p:nvSpPr>
          <p:cNvPr id="10" name="TextBox 9"/>
          <p:cNvSpPr txBox="1"/>
          <p:nvPr/>
        </p:nvSpPr>
        <p:spPr>
          <a:xfrm>
            <a:off x="731520" y="4572000"/>
            <a:ext cx="4023360" cy="320040"/>
          </a:xfrm>
          <a:prstGeom prst="rect">
            <a:avLst/>
          </a:prstGeom>
          <a:noFill/>
        </p:spPr>
        <p:txBody>
          <a:bodyPr wrap="square" lIns="45720" rIns="45720" tIns="18288" bIns="18288" anchor="t">
            <a:spAutoFit/>
          </a:bodyPr>
          <a:lstStyle/>
          <a:p>
            <a:pPr algn="l"/>
            <a:r>
              <a:rPr sz="1000" b="1" i="0">
                <a:solidFill>
                  <a:srgbClr val="6B7280"/>
                </a:solidFill>
                <a:latin typeface="Calibri"/>
              </a:rPr>
              <a:t>KEY METHODS</a:t>
            </a:r>
          </a:p>
        </p:txBody>
      </p:sp>
      <p:sp>
        <p:nvSpPr>
          <p:cNvPr id="11" name="TextBox 10"/>
          <p:cNvSpPr txBox="1"/>
          <p:nvPr/>
        </p:nvSpPr>
        <p:spPr>
          <a:xfrm>
            <a:off x="731520" y="4892040"/>
            <a:ext cx="4023360" cy="1005840"/>
          </a:xfrm>
          <a:prstGeom prst="rect">
            <a:avLst/>
          </a:prstGeom>
          <a:noFill/>
        </p:spPr>
        <p:txBody>
          <a:bodyPr wrap="square" lIns="45720" rIns="45720" tIns="18288" bIns="18288" anchor="t">
            <a:spAutoFit/>
          </a:bodyPr>
          <a:lstStyle/>
          <a:p>
            <a:pPr algn="l"/>
            <a:r>
              <a:rPr sz="1200" b="0" i="0">
                <a:solidFill>
                  <a:srgbClr val="1F2937"/>
                </a:solidFill>
                <a:latin typeface="Consolas"/>
              </a:rPr>
              <a:t>onGenerateClick()</a:t>
            </a:r>
          </a:p>
          <a:p>
            <a:pPr algn="l"/>
            <a:r>
              <a:rPr sz="1200" b="0" i="0">
                <a:solidFill>
                  <a:srgbClr val="1F2937"/>
                </a:solidFill>
                <a:latin typeface="Consolas"/>
              </a:rPr>
              <a:t>onStartClick()</a:t>
            </a:r>
          </a:p>
          <a:p>
            <a:pPr algn="l"/>
            <a:r>
              <a:rPr sz="1200" b="0" i="0">
                <a:solidFill>
                  <a:srgbClr val="1F2937"/>
                </a:solidFill>
                <a:latin typeface="Consolas"/>
              </a:rPr>
              <a:t>onStopClick()</a:t>
            </a:r>
          </a:p>
          <a:p>
            <a:pPr algn="l"/>
            <a:r>
              <a:rPr sz="1200" b="0" i="0">
                <a:solidFill>
                  <a:srgbClr val="1F2937"/>
                </a:solidFill>
                <a:latin typeface="Consolas"/>
              </a:rPr>
              <a:t>displayPrompt(Prompt)</a:t>
            </a:r>
          </a:p>
        </p:txBody>
      </p:sp>
      <p:sp>
        <p:nvSpPr>
          <p:cNvPr id="12" name="TextBox 11"/>
          <p:cNvSpPr txBox="1"/>
          <p:nvPr/>
        </p:nvSpPr>
        <p:spPr>
          <a:xfrm>
            <a:off x="731520" y="5897880"/>
            <a:ext cx="4023360" cy="320040"/>
          </a:xfrm>
          <a:prstGeom prst="rect">
            <a:avLst/>
          </a:prstGeom>
          <a:noFill/>
        </p:spPr>
        <p:txBody>
          <a:bodyPr wrap="square" lIns="45720" rIns="45720" tIns="18288" bIns="18288" anchor="t">
            <a:spAutoFit/>
          </a:bodyPr>
          <a:lstStyle/>
          <a:p>
            <a:pPr algn="l"/>
            <a:r>
              <a:rPr sz="1000" b="1" i="0">
                <a:solidFill>
                  <a:srgbClr val="6B7280"/>
                </a:solidFill>
                <a:latin typeface="Calibri"/>
              </a:rPr>
              <a:t>APPEARS IN USE CASES</a:t>
            </a:r>
          </a:p>
        </p:txBody>
      </p:sp>
      <p:sp>
        <p:nvSpPr>
          <p:cNvPr id="13" name="TextBox 12"/>
          <p:cNvSpPr txBox="1"/>
          <p:nvPr/>
        </p:nvSpPr>
        <p:spPr>
          <a:xfrm>
            <a:off x="731520" y="6217920"/>
            <a:ext cx="4023360" cy="274320"/>
          </a:xfrm>
          <a:prstGeom prst="rect">
            <a:avLst/>
          </a:prstGeom>
          <a:noFill/>
        </p:spPr>
        <p:txBody>
          <a:bodyPr wrap="square" lIns="45720" rIns="45720" tIns="18288" bIns="18288" anchor="t">
            <a:spAutoFit/>
          </a:bodyPr>
          <a:lstStyle/>
          <a:p>
            <a:pPr algn="l"/>
            <a:r>
              <a:rPr sz="1200" b="1" i="0">
                <a:solidFill>
                  <a:srgbClr val="1E2761"/>
                </a:solidFill>
                <a:latin typeface="Calibri"/>
              </a:rPr>
              <a:t>UC1, UC2</a:t>
            </a:r>
          </a:p>
        </p:txBody>
      </p:sp>
      <p:sp>
        <p:nvSpPr>
          <p:cNvPr id="14" name="TextBox 13"/>
          <p:cNvSpPr txBox="1"/>
          <p:nvPr/>
        </p:nvSpPr>
        <p:spPr>
          <a:xfrm>
            <a:off x="5303520" y="1463040"/>
            <a:ext cx="6400800" cy="411480"/>
          </a:xfrm>
          <a:prstGeom prst="rect">
            <a:avLst/>
          </a:prstGeom>
          <a:noFill/>
        </p:spPr>
        <p:txBody>
          <a:bodyPr wrap="square" lIns="45720" rIns="45720" tIns="18288" bIns="18288" anchor="t">
            <a:spAutoFit/>
          </a:bodyPr>
          <a:lstStyle/>
          <a:p>
            <a:pPr algn="l"/>
            <a:r>
              <a:rPr sz="1200" b="1" i="0">
                <a:solidFill>
                  <a:srgbClr val="1E2761"/>
                </a:solidFill>
                <a:latin typeface="Calibri"/>
              </a:rPr>
              <a:t>WHAT IT DOES</a:t>
            </a:r>
          </a:p>
        </p:txBody>
      </p:sp>
      <p:sp>
        <p:nvSpPr>
          <p:cNvPr id="15" name="TextBox 14"/>
          <p:cNvSpPr txBox="1"/>
          <p:nvPr/>
        </p:nvSpPr>
        <p:spPr>
          <a:xfrm>
            <a:off x="5303520" y="1874519"/>
            <a:ext cx="6400800" cy="4572000"/>
          </a:xfrm>
          <a:prstGeom prst="rect">
            <a:avLst/>
          </a:prstGeom>
          <a:noFill/>
        </p:spPr>
        <p:txBody>
          <a:bodyPr wrap="square" lIns="45720" rIns="45720" tIns="18288" bIns="18288" anchor="t">
            <a:spAutoFit/>
          </a:bodyPr>
          <a:lstStyle/>
          <a:p>
            <a:pPr algn="l"/>
            <a:r>
              <a:rPr sz="1300" b="0" i="0">
                <a:solidFill>
                  <a:srgbClr val="1F2937"/>
                </a:solidFill>
                <a:latin typeface="Calibri"/>
              </a:rPr>
              <a:t>TrainerView is the page the user spends most of their time on. Its entire job is to (1) ask PromptController for a new Prompt and render it, (2) ask RecordingController to start/stop the drill, (3) append incoming TranscriptSegments to the on-screen transcript with colour-coded highlights for filler words, and (4) hand the finished recordingId off to DashboardView.</a:t>
            </a:r>
          </a:p>
          <a:p>
            <a:pPr algn="l"/>
            <a:r>
              <a:rPr sz="1300" b="0" i="0">
                <a:solidFill>
                  <a:srgbClr val="1F2937"/>
                </a:solidFill>
                <a:latin typeface="Calibri"/>
              </a:rPr>
              <a:t/>
            </a:r>
          </a:p>
          <a:p>
            <a:pPr algn="l"/>
            <a:r>
              <a:rPr sz="1300" b="0" i="0">
                <a:solidFill>
                  <a:srgbClr val="1F2937"/>
                </a:solidFill>
                <a:latin typeface="Calibri"/>
              </a:rPr>
              <a:t>It deliberately has no knowledge of MicrophoneService, SpeechRecognitionService, or DataRepository — every outbound call leaves via a Controller. This is the first MVC invariant being enforced in code.</a:t>
            </a:r>
          </a:p>
        </p:txBody>
      </p:sp>
      <p:sp>
        <p:nvSpPr>
          <p:cNvPr id="16" name="TextBox 15"/>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3. Architecture &amp; OO Design</a:t>
            </a:r>
          </a:p>
        </p:txBody>
      </p:sp>
      <p:sp>
        <p:nvSpPr>
          <p:cNvPr id="17" name="TextBox 16"/>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3.4  Class — RecordingController</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3 — Architecture &amp; OO Design  |  Class Descriptions</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57200" y="1463040"/>
            <a:ext cx="4572000" cy="4937760"/>
          </a:xfrm>
          <a:prstGeom prst="roundRect">
            <a:avLst>
              <a:gd name="adj" fmla="val 10000"/>
            </a:avLst>
          </a:prstGeom>
          <a:solidFill>
            <a:srgbClr val="FEF3C7"/>
          </a:solidFill>
          <a:ln w="1905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 name="TextBox 5"/>
          <p:cNvSpPr txBox="1"/>
          <p:nvPr/>
        </p:nvSpPr>
        <p:spPr>
          <a:xfrm>
            <a:off x="731520" y="1645920"/>
            <a:ext cx="4023360" cy="320040"/>
          </a:xfrm>
          <a:prstGeom prst="rect">
            <a:avLst/>
          </a:prstGeom>
          <a:noFill/>
        </p:spPr>
        <p:txBody>
          <a:bodyPr wrap="square" lIns="45720" rIns="45720" tIns="18288" bIns="18288" anchor="t">
            <a:spAutoFit/>
          </a:bodyPr>
          <a:lstStyle/>
          <a:p>
            <a:pPr algn="l"/>
            <a:r>
              <a:rPr sz="1100" b="0" i="1">
                <a:solidFill>
                  <a:srgbClr val="92400E"/>
                </a:solidFill>
                <a:latin typeface="Calibri"/>
              </a:rPr>
              <a:t>«Controller»</a:t>
            </a:r>
          </a:p>
        </p:txBody>
      </p:sp>
      <p:sp>
        <p:nvSpPr>
          <p:cNvPr id="7" name="TextBox 6"/>
          <p:cNvSpPr txBox="1"/>
          <p:nvPr/>
        </p:nvSpPr>
        <p:spPr>
          <a:xfrm>
            <a:off x="731520" y="1965960"/>
            <a:ext cx="4023360" cy="640080"/>
          </a:xfrm>
          <a:prstGeom prst="rect">
            <a:avLst/>
          </a:prstGeom>
          <a:noFill/>
        </p:spPr>
        <p:txBody>
          <a:bodyPr wrap="square" lIns="45720" rIns="45720" tIns="18288" bIns="18288" anchor="t">
            <a:spAutoFit/>
          </a:bodyPr>
          <a:lstStyle/>
          <a:p>
            <a:pPr algn="l"/>
            <a:r>
              <a:rPr sz="2600" b="1" i="0">
                <a:solidFill>
                  <a:srgbClr val="92400E"/>
                </a:solidFill>
                <a:latin typeface="Calibri"/>
              </a:rPr>
              <a:t>RecordingController</a:t>
            </a:r>
          </a:p>
        </p:txBody>
      </p:sp>
      <p:sp>
        <p:nvSpPr>
          <p:cNvPr id="8" name="TextBox 7"/>
          <p:cNvSpPr txBox="1"/>
          <p:nvPr/>
        </p:nvSpPr>
        <p:spPr>
          <a:xfrm>
            <a:off x="731520" y="2834640"/>
            <a:ext cx="4023360" cy="320040"/>
          </a:xfrm>
          <a:prstGeom prst="rect">
            <a:avLst/>
          </a:prstGeom>
          <a:noFill/>
        </p:spPr>
        <p:txBody>
          <a:bodyPr wrap="square" lIns="45720" rIns="45720" tIns="18288" bIns="18288" anchor="t">
            <a:spAutoFit/>
          </a:bodyPr>
          <a:lstStyle/>
          <a:p>
            <a:pPr algn="l"/>
            <a:r>
              <a:rPr sz="1000" b="1" i="0">
                <a:solidFill>
                  <a:srgbClr val="6B7280"/>
                </a:solidFill>
                <a:latin typeface="Calibri"/>
              </a:rPr>
              <a:t>ONE-LINE ROLE</a:t>
            </a:r>
          </a:p>
        </p:txBody>
      </p:sp>
      <p:sp>
        <p:nvSpPr>
          <p:cNvPr id="9" name="TextBox 8"/>
          <p:cNvSpPr txBox="1"/>
          <p:nvPr/>
        </p:nvSpPr>
        <p:spPr>
          <a:xfrm>
            <a:off x="731520" y="3154680"/>
            <a:ext cx="4023360" cy="1371600"/>
          </a:xfrm>
          <a:prstGeom prst="rect">
            <a:avLst/>
          </a:prstGeom>
          <a:noFill/>
        </p:spPr>
        <p:txBody>
          <a:bodyPr wrap="square" lIns="45720" rIns="45720" tIns="18288" bIns="18288" anchor="t">
            <a:spAutoFit/>
          </a:bodyPr>
          <a:lstStyle/>
          <a:p>
            <a:pPr algn="l"/>
            <a:r>
              <a:rPr sz="1300" b="0" i="0">
                <a:solidFill>
                  <a:srgbClr val="1F2937"/>
                </a:solidFill>
                <a:latin typeface="Calibri"/>
              </a:rPr>
              <a:t>The orchestrator for a live drill. Owns the microphone + speech recognition lifecycle.</a:t>
            </a:r>
          </a:p>
        </p:txBody>
      </p:sp>
      <p:sp>
        <p:nvSpPr>
          <p:cNvPr id="10" name="TextBox 9"/>
          <p:cNvSpPr txBox="1"/>
          <p:nvPr/>
        </p:nvSpPr>
        <p:spPr>
          <a:xfrm>
            <a:off x="731520" y="4572000"/>
            <a:ext cx="4023360" cy="320040"/>
          </a:xfrm>
          <a:prstGeom prst="rect">
            <a:avLst/>
          </a:prstGeom>
          <a:noFill/>
        </p:spPr>
        <p:txBody>
          <a:bodyPr wrap="square" lIns="45720" rIns="45720" tIns="18288" bIns="18288" anchor="t">
            <a:spAutoFit/>
          </a:bodyPr>
          <a:lstStyle/>
          <a:p>
            <a:pPr algn="l"/>
            <a:r>
              <a:rPr sz="1000" b="1" i="0">
                <a:solidFill>
                  <a:srgbClr val="6B7280"/>
                </a:solidFill>
                <a:latin typeface="Calibri"/>
              </a:rPr>
              <a:t>KEY METHODS</a:t>
            </a:r>
          </a:p>
        </p:txBody>
      </p:sp>
      <p:sp>
        <p:nvSpPr>
          <p:cNvPr id="11" name="TextBox 10"/>
          <p:cNvSpPr txBox="1"/>
          <p:nvPr/>
        </p:nvSpPr>
        <p:spPr>
          <a:xfrm>
            <a:off x="731520" y="4892040"/>
            <a:ext cx="4023360" cy="1005840"/>
          </a:xfrm>
          <a:prstGeom prst="rect">
            <a:avLst/>
          </a:prstGeom>
          <a:noFill/>
        </p:spPr>
        <p:txBody>
          <a:bodyPr wrap="square" lIns="45720" rIns="45720" tIns="18288" bIns="18288" anchor="t">
            <a:spAutoFit/>
          </a:bodyPr>
          <a:lstStyle/>
          <a:p>
            <a:pPr algn="l"/>
            <a:r>
              <a:rPr sz="1200" b="0" i="0">
                <a:solidFill>
                  <a:srgbClr val="1F2937"/>
                </a:solidFill>
                <a:latin typeface="Consolas"/>
              </a:rPr>
              <a:t>startRecording(promptId)</a:t>
            </a:r>
          </a:p>
          <a:p>
            <a:pPr algn="l"/>
            <a:r>
              <a:rPr sz="1200" b="0" i="0">
                <a:solidFill>
                  <a:srgbClr val="1F2937"/>
                </a:solidFill>
                <a:latin typeface="Consolas"/>
              </a:rPr>
              <a:t>stopRecording()</a:t>
            </a:r>
          </a:p>
          <a:p>
            <a:pPr algn="l"/>
            <a:r>
              <a:rPr sz="1200" b="0" i="0">
                <a:solidFill>
                  <a:srgbClr val="1F2937"/>
                </a:solidFill>
                <a:latin typeface="Consolas"/>
              </a:rPr>
              <a:t>-appendSegment(TranscriptSegment)</a:t>
            </a:r>
          </a:p>
        </p:txBody>
      </p:sp>
      <p:sp>
        <p:nvSpPr>
          <p:cNvPr id="12" name="TextBox 11"/>
          <p:cNvSpPr txBox="1"/>
          <p:nvPr/>
        </p:nvSpPr>
        <p:spPr>
          <a:xfrm>
            <a:off x="731520" y="5897880"/>
            <a:ext cx="4023360" cy="320040"/>
          </a:xfrm>
          <a:prstGeom prst="rect">
            <a:avLst/>
          </a:prstGeom>
          <a:noFill/>
        </p:spPr>
        <p:txBody>
          <a:bodyPr wrap="square" lIns="45720" rIns="45720" tIns="18288" bIns="18288" anchor="t">
            <a:spAutoFit/>
          </a:bodyPr>
          <a:lstStyle/>
          <a:p>
            <a:pPr algn="l"/>
            <a:r>
              <a:rPr sz="1000" b="1" i="0">
                <a:solidFill>
                  <a:srgbClr val="6B7280"/>
                </a:solidFill>
                <a:latin typeface="Calibri"/>
              </a:rPr>
              <a:t>APPEARS IN USE CASES</a:t>
            </a:r>
          </a:p>
        </p:txBody>
      </p:sp>
      <p:sp>
        <p:nvSpPr>
          <p:cNvPr id="13" name="TextBox 12"/>
          <p:cNvSpPr txBox="1"/>
          <p:nvPr/>
        </p:nvSpPr>
        <p:spPr>
          <a:xfrm>
            <a:off x="731520" y="6217920"/>
            <a:ext cx="4023360" cy="274320"/>
          </a:xfrm>
          <a:prstGeom prst="rect">
            <a:avLst/>
          </a:prstGeom>
          <a:noFill/>
        </p:spPr>
        <p:txBody>
          <a:bodyPr wrap="square" lIns="45720" rIns="45720" tIns="18288" bIns="18288" anchor="t">
            <a:spAutoFit/>
          </a:bodyPr>
          <a:lstStyle/>
          <a:p>
            <a:pPr algn="l"/>
            <a:r>
              <a:rPr sz="1200" b="1" i="0">
                <a:solidFill>
                  <a:srgbClr val="1E2761"/>
                </a:solidFill>
                <a:latin typeface="Calibri"/>
              </a:rPr>
              <a:t>UC2</a:t>
            </a:r>
          </a:p>
        </p:txBody>
      </p:sp>
      <p:sp>
        <p:nvSpPr>
          <p:cNvPr id="14" name="TextBox 13"/>
          <p:cNvSpPr txBox="1"/>
          <p:nvPr/>
        </p:nvSpPr>
        <p:spPr>
          <a:xfrm>
            <a:off x="5303520" y="1463040"/>
            <a:ext cx="6400800" cy="411480"/>
          </a:xfrm>
          <a:prstGeom prst="rect">
            <a:avLst/>
          </a:prstGeom>
          <a:noFill/>
        </p:spPr>
        <p:txBody>
          <a:bodyPr wrap="square" lIns="45720" rIns="45720" tIns="18288" bIns="18288" anchor="t">
            <a:spAutoFit/>
          </a:bodyPr>
          <a:lstStyle/>
          <a:p>
            <a:pPr algn="l"/>
            <a:r>
              <a:rPr sz="1200" b="1" i="0">
                <a:solidFill>
                  <a:srgbClr val="1E2761"/>
                </a:solidFill>
                <a:latin typeface="Calibri"/>
              </a:rPr>
              <a:t>WHAT IT DOES</a:t>
            </a:r>
          </a:p>
        </p:txBody>
      </p:sp>
      <p:sp>
        <p:nvSpPr>
          <p:cNvPr id="15" name="TextBox 14"/>
          <p:cNvSpPr txBox="1"/>
          <p:nvPr/>
        </p:nvSpPr>
        <p:spPr>
          <a:xfrm>
            <a:off x="5303520" y="1874519"/>
            <a:ext cx="6400800" cy="4572000"/>
          </a:xfrm>
          <a:prstGeom prst="rect">
            <a:avLst/>
          </a:prstGeom>
          <a:noFill/>
        </p:spPr>
        <p:txBody>
          <a:bodyPr wrap="square" lIns="45720" rIns="45720" tIns="18288" bIns="18288" anchor="t">
            <a:spAutoFit/>
          </a:bodyPr>
          <a:lstStyle/>
          <a:p>
            <a:pPr algn="l"/>
            <a:r>
              <a:rPr sz="1300" b="0" i="0">
                <a:solidFill>
                  <a:srgbClr val="1F2937"/>
                </a:solidFill>
                <a:latin typeface="Calibri"/>
              </a:rPr>
              <a:t>When startRecording is called, RecordingController activates MicrophoneService, starts SpeechRecognitionService, and builds an AudioRecording in memory. Every TranscriptSegment emitted by the recogniser is appended to the AudioRecording and pushed back up to TrainerView for live display.</a:t>
            </a:r>
          </a:p>
          <a:p>
            <a:pPr algn="l"/>
            <a:r>
              <a:rPr sz="1300" b="0" i="0">
                <a:solidFill>
                  <a:srgbClr val="1F2937"/>
                </a:solidFill>
                <a:latin typeface="Calibri"/>
              </a:rPr>
              <a:t/>
            </a:r>
          </a:p>
          <a:p>
            <a:pPr algn="l"/>
            <a:r>
              <a:rPr sz="1300" b="0" i="0">
                <a:solidFill>
                  <a:srgbClr val="1F2937"/>
                </a:solidFill>
                <a:latin typeface="Calibri"/>
              </a:rPr>
              <a:t>When stopRecording is called, it tears both services down in reverse order and persists the AudioRecording via DataRepository. This is the single place in the system that knows how to start a microphone — nothing else in the code calls MicrophoneService directly.</a:t>
            </a:r>
          </a:p>
        </p:txBody>
      </p:sp>
      <p:sp>
        <p:nvSpPr>
          <p:cNvPr id="16" name="TextBox 15"/>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3. Architecture &amp; OO Design</a:t>
            </a:r>
          </a:p>
        </p:txBody>
      </p:sp>
      <p:sp>
        <p:nvSpPr>
          <p:cNvPr id="17" name="TextBox 16"/>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3.4  Class — AnalysisController</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3 — Architecture &amp; OO Design  |  Class Descriptions</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57200" y="1463040"/>
            <a:ext cx="4572000" cy="4937760"/>
          </a:xfrm>
          <a:prstGeom prst="roundRect">
            <a:avLst>
              <a:gd name="adj" fmla="val 10000"/>
            </a:avLst>
          </a:prstGeom>
          <a:solidFill>
            <a:srgbClr val="FEF3C7"/>
          </a:solidFill>
          <a:ln w="1905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 name="TextBox 5"/>
          <p:cNvSpPr txBox="1"/>
          <p:nvPr/>
        </p:nvSpPr>
        <p:spPr>
          <a:xfrm>
            <a:off x="731520" y="1645920"/>
            <a:ext cx="4023360" cy="320040"/>
          </a:xfrm>
          <a:prstGeom prst="rect">
            <a:avLst/>
          </a:prstGeom>
          <a:noFill/>
        </p:spPr>
        <p:txBody>
          <a:bodyPr wrap="square" lIns="45720" rIns="45720" tIns="18288" bIns="18288" anchor="t">
            <a:spAutoFit/>
          </a:bodyPr>
          <a:lstStyle/>
          <a:p>
            <a:pPr algn="l"/>
            <a:r>
              <a:rPr sz="1100" b="0" i="1">
                <a:solidFill>
                  <a:srgbClr val="92400E"/>
                </a:solidFill>
                <a:latin typeface="Calibri"/>
              </a:rPr>
              <a:t>«Controller»</a:t>
            </a:r>
          </a:p>
        </p:txBody>
      </p:sp>
      <p:sp>
        <p:nvSpPr>
          <p:cNvPr id="7" name="TextBox 6"/>
          <p:cNvSpPr txBox="1"/>
          <p:nvPr/>
        </p:nvSpPr>
        <p:spPr>
          <a:xfrm>
            <a:off x="731520" y="1965960"/>
            <a:ext cx="4023360" cy="640080"/>
          </a:xfrm>
          <a:prstGeom prst="rect">
            <a:avLst/>
          </a:prstGeom>
          <a:noFill/>
        </p:spPr>
        <p:txBody>
          <a:bodyPr wrap="square" lIns="45720" rIns="45720" tIns="18288" bIns="18288" anchor="t">
            <a:spAutoFit/>
          </a:bodyPr>
          <a:lstStyle/>
          <a:p>
            <a:pPr algn="l"/>
            <a:r>
              <a:rPr sz="2600" b="1" i="0">
                <a:solidFill>
                  <a:srgbClr val="92400E"/>
                </a:solidFill>
                <a:latin typeface="Calibri"/>
              </a:rPr>
              <a:t>AnalysisController</a:t>
            </a:r>
          </a:p>
        </p:txBody>
      </p:sp>
      <p:sp>
        <p:nvSpPr>
          <p:cNvPr id="8" name="TextBox 7"/>
          <p:cNvSpPr txBox="1"/>
          <p:nvPr/>
        </p:nvSpPr>
        <p:spPr>
          <a:xfrm>
            <a:off x="731520" y="2834640"/>
            <a:ext cx="4023360" cy="320040"/>
          </a:xfrm>
          <a:prstGeom prst="rect">
            <a:avLst/>
          </a:prstGeom>
          <a:noFill/>
        </p:spPr>
        <p:txBody>
          <a:bodyPr wrap="square" lIns="45720" rIns="45720" tIns="18288" bIns="18288" anchor="t">
            <a:spAutoFit/>
          </a:bodyPr>
          <a:lstStyle/>
          <a:p>
            <a:pPr algn="l"/>
            <a:r>
              <a:rPr sz="1000" b="1" i="0">
                <a:solidFill>
                  <a:srgbClr val="6B7280"/>
                </a:solidFill>
                <a:latin typeface="Calibri"/>
              </a:rPr>
              <a:t>ONE-LINE ROLE</a:t>
            </a:r>
          </a:p>
        </p:txBody>
      </p:sp>
      <p:sp>
        <p:nvSpPr>
          <p:cNvPr id="9" name="TextBox 8"/>
          <p:cNvSpPr txBox="1"/>
          <p:nvPr/>
        </p:nvSpPr>
        <p:spPr>
          <a:xfrm>
            <a:off x="731520" y="3154680"/>
            <a:ext cx="4023360" cy="1371600"/>
          </a:xfrm>
          <a:prstGeom prst="rect">
            <a:avLst/>
          </a:prstGeom>
          <a:noFill/>
        </p:spPr>
        <p:txBody>
          <a:bodyPr wrap="square" lIns="45720" rIns="45720" tIns="18288" bIns="18288" anchor="t">
            <a:spAutoFit/>
          </a:bodyPr>
          <a:lstStyle/>
          <a:p>
            <a:pPr algn="l"/>
            <a:r>
              <a:rPr sz="1300" b="0" i="0">
                <a:solidFill>
                  <a:srgbClr val="1F2937"/>
                </a:solidFill>
                <a:latin typeface="Calibri"/>
              </a:rPr>
              <a:t>Orchestrates post-drill analysis. Produces SpeechAnalysis and DrillSession.</a:t>
            </a:r>
          </a:p>
        </p:txBody>
      </p:sp>
      <p:sp>
        <p:nvSpPr>
          <p:cNvPr id="10" name="TextBox 9"/>
          <p:cNvSpPr txBox="1"/>
          <p:nvPr/>
        </p:nvSpPr>
        <p:spPr>
          <a:xfrm>
            <a:off x="731520" y="4572000"/>
            <a:ext cx="4023360" cy="320040"/>
          </a:xfrm>
          <a:prstGeom prst="rect">
            <a:avLst/>
          </a:prstGeom>
          <a:noFill/>
        </p:spPr>
        <p:txBody>
          <a:bodyPr wrap="square" lIns="45720" rIns="45720" tIns="18288" bIns="18288" anchor="t">
            <a:spAutoFit/>
          </a:bodyPr>
          <a:lstStyle/>
          <a:p>
            <a:pPr algn="l"/>
            <a:r>
              <a:rPr sz="1000" b="1" i="0">
                <a:solidFill>
                  <a:srgbClr val="6B7280"/>
                </a:solidFill>
                <a:latin typeface="Calibri"/>
              </a:rPr>
              <a:t>KEY METHODS</a:t>
            </a:r>
          </a:p>
        </p:txBody>
      </p:sp>
      <p:sp>
        <p:nvSpPr>
          <p:cNvPr id="11" name="TextBox 10"/>
          <p:cNvSpPr txBox="1"/>
          <p:nvPr/>
        </p:nvSpPr>
        <p:spPr>
          <a:xfrm>
            <a:off x="731520" y="4892040"/>
            <a:ext cx="4023360" cy="1005840"/>
          </a:xfrm>
          <a:prstGeom prst="rect">
            <a:avLst/>
          </a:prstGeom>
          <a:noFill/>
        </p:spPr>
        <p:txBody>
          <a:bodyPr wrap="square" lIns="45720" rIns="45720" tIns="18288" bIns="18288" anchor="t">
            <a:spAutoFit/>
          </a:bodyPr>
          <a:lstStyle/>
          <a:p>
            <a:pPr algn="l"/>
            <a:r>
              <a:rPr sz="1200" b="0" i="0">
                <a:solidFill>
                  <a:srgbClr val="1F2937"/>
                </a:solidFill>
                <a:latin typeface="Consolas"/>
              </a:rPr>
              <a:t>analyse(recordingId)</a:t>
            </a:r>
          </a:p>
        </p:txBody>
      </p:sp>
      <p:sp>
        <p:nvSpPr>
          <p:cNvPr id="12" name="TextBox 11"/>
          <p:cNvSpPr txBox="1"/>
          <p:nvPr/>
        </p:nvSpPr>
        <p:spPr>
          <a:xfrm>
            <a:off x="731520" y="5897880"/>
            <a:ext cx="4023360" cy="320040"/>
          </a:xfrm>
          <a:prstGeom prst="rect">
            <a:avLst/>
          </a:prstGeom>
          <a:noFill/>
        </p:spPr>
        <p:txBody>
          <a:bodyPr wrap="square" lIns="45720" rIns="45720" tIns="18288" bIns="18288" anchor="t">
            <a:spAutoFit/>
          </a:bodyPr>
          <a:lstStyle/>
          <a:p>
            <a:pPr algn="l"/>
            <a:r>
              <a:rPr sz="1000" b="1" i="0">
                <a:solidFill>
                  <a:srgbClr val="6B7280"/>
                </a:solidFill>
                <a:latin typeface="Calibri"/>
              </a:rPr>
              <a:t>APPEARS IN USE CASES</a:t>
            </a:r>
          </a:p>
        </p:txBody>
      </p:sp>
      <p:sp>
        <p:nvSpPr>
          <p:cNvPr id="13" name="TextBox 12"/>
          <p:cNvSpPr txBox="1"/>
          <p:nvPr/>
        </p:nvSpPr>
        <p:spPr>
          <a:xfrm>
            <a:off x="731520" y="6217920"/>
            <a:ext cx="4023360" cy="274320"/>
          </a:xfrm>
          <a:prstGeom prst="rect">
            <a:avLst/>
          </a:prstGeom>
          <a:noFill/>
        </p:spPr>
        <p:txBody>
          <a:bodyPr wrap="square" lIns="45720" rIns="45720" tIns="18288" bIns="18288" anchor="t">
            <a:spAutoFit/>
          </a:bodyPr>
          <a:lstStyle/>
          <a:p>
            <a:pPr algn="l"/>
            <a:r>
              <a:rPr sz="1200" b="1" i="0">
                <a:solidFill>
                  <a:srgbClr val="1E2761"/>
                </a:solidFill>
                <a:latin typeface="Calibri"/>
              </a:rPr>
              <a:t>UC3</a:t>
            </a:r>
          </a:p>
        </p:txBody>
      </p:sp>
      <p:sp>
        <p:nvSpPr>
          <p:cNvPr id="14" name="TextBox 13"/>
          <p:cNvSpPr txBox="1"/>
          <p:nvPr/>
        </p:nvSpPr>
        <p:spPr>
          <a:xfrm>
            <a:off x="5303520" y="1463040"/>
            <a:ext cx="6400800" cy="411480"/>
          </a:xfrm>
          <a:prstGeom prst="rect">
            <a:avLst/>
          </a:prstGeom>
          <a:noFill/>
        </p:spPr>
        <p:txBody>
          <a:bodyPr wrap="square" lIns="45720" rIns="45720" tIns="18288" bIns="18288" anchor="t">
            <a:spAutoFit/>
          </a:bodyPr>
          <a:lstStyle/>
          <a:p>
            <a:pPr algn="l"/>
            <a:r>
              <a:rPr sz="1200" b="1" i="0">
                <a:solidFill>
                  <a:srgbClr val="1E2761"/>
                </a:solidFill>
                <a:latin typeface="Calibri"/>
              </a:rPr>
              <a:t>WHAT IT DOES</a:t>
            </a:r>
          </a:p>
        </p:txBody>
      </p:sp>
      <p:sp>
        <p:nvSpPr>
          <p:cNvPr id="15" name="TextBox 14"/>
          <p:cNvSpPr txBox="1"/>
          <p:nvPr/>
        </p:nvSpPr>
        <p:spPr>
          <a:xfrm>
            <a:off x="5303520" y="1874519"/>
            <a:ext cx="6400800" cy="4572000"/>
          </a:xfrm>
          <a:prstGeom prst="rect">
            <a:avLst/>
          </a:prstGeom>
          <a:noFill/>
        </p:spPr>
        <p:txBody>
          <a:bodyPr wrap="square" lIns="45720" rIns="45720" tIns="18288" bIns="18288" anchor="t">
            <a:spAutoFit/>
          </a:bodyPr>
          <a:lstStyle/>
          <a:p>
            <a:pPr algn="l"/>
            <a:r>
              <a:rPr sz="1300" b="0" i="0">
                <a:solidFill>
                  <a:srgbClr val="1F2937"/>
                </a:solidFill>
                <a:latin typeface="Calibri"/>
              </a:rPr>
              <a:t>Given a recordingId, AnalysisController loads the AudioRecording + TranscriptSegments from DataRepository, sends the transcript to AIAnalysisService with the original prompt (so the AI can compute the relevance score), receives a SpeechAnalysis back, wraps it in a new DrillSession, and persists the session.</a:t>
            </a:r>
          </a:p>
          <a:p>
            <a:pPr algn="l"/>
            <a:r>
              <a:rPr sz="1300" b="0" i="0">
                <a:solidFill>
                  <a:srgbClr val="1F2937"/>
                </a:solidFill>
                <a:latin typeface="Calibri"/>
              </a:rPr>
              <a:t/>
            </a:r>
          </a:p>
          <a:p>
            <a:pPr algn="l"/>
            <a:r>
              <a:rPr sz="1300" b="0" i="0">
                <a:solidFill>
                  <a:srgbClr val="1F2937"/>
                </a:solidFill>
                <a:latin typeface="Calibri"/>
              </a:rPr>
              <a:t>If AIAnalysisService is unavailable (UC3 exception path 5e), it falls back to computing fillerCount and wpm locally from the TranscriptSegments. This class is where the final four filters of the pipe-and-filter diagram (Filler Detector → Metrics Aggregator → AI Analysis → Feedback Formatter) are implemented in code.</a:t>
            </a:r>
          </a:p>
        </p:txBody>
      </p:sp>
      <p:sp>
        <p:nvSpPr>
          <p:cNvPr id="16" name="TextBox 15"/>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3. Architecture &amp; OO Design</a:t>
            </a:r>
          </a:p>
        </p:txBody>
      </p:sp>
      <p:sp>
        <p:nvSpPr>
          <p:cNvPr id="17" name="TextBox 16"/>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3.5  Sequence Diagram — UC1 Generate Speaking Prompt</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Numbered to match the Main Success Scenario in Section 2.2 exactly.</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0080" y="1417320"/>
            <a:ext cx="1828800" cy="640080"/>
          </a:xfrm>
          <a:prstGeom prst="roundRect">
            <a:avLst>
              <a:gd name="adj" fmla="val 10000"/>
            </a:avLst>
          </a:prstGeom>
          <a:solidFill>
            <a:srgbClr val="FEF3C7"/>
          </a:solidFill>
          <a:ln w="1905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92400E"/>
                </a:solidFill>
                <a:latin typeface="Calibri"/>
              </a:rPr>
              <a:t>User</a:t>
            </a:r>
          </a:p>
        </p:txBody>
      </p:sp>
      <p:cxnSp>
        <p:nvCxnSpPr>
          <p:cNvPr id="6" name="Connector 5"/>
          <p:cNvCxnSpPr/>
          <p:nvPr/>
        </p:nvCxnSpPr>
        <p:spPr>
          <a:xfrm>
            <a:off x="1554480" y="2057400"/>
            <a:ext cx="0" cy="4160520"/>
          </a:xfrm>
          <a:prstGeom prst="line">
            <a:avLst/>
          </a:prstGeom>
          <a:ln w="9525">
            <a:solidFill>
              <a:srgbClr val="6B7280"/>
            </a:solidFill>
            <a:prstDash val="dash"/>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667658" y="1417320"/>
            <a:ext cx="1828800" cy="640080"/>
          </a:xfrm>
          <a:prstGeom prst="roundRect">
            <a:avLst>
              <a:gd name="adj" fmla="val 10000"/>
            </a:avLst>
          </a:prstGeom>
          <a:solidFill>
            <a:srgbClr val="DBEAFE"/>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1E40AF"/>
                </a:solidFill>
                <a:latin typeface="Calibri"/>
              </a:rPr>
              <a:t>TrainerView</a:t>
            </a:r>
          </a:p>
        </p:txBody>
      </p:sp>
      <p:cxnSp>
        <p:nvCxnSpPr>
          <p:cNvPr id="8" name="Connector 7"/>
          <p:cNvCxnSpPr/>
          <p:nvPr/>
        </p:nvCxnSpPr>
        <p:spPr>
          <a:xfrm>
            <a:off x="4582058" y="2057400"/>
            <a:ext cx="0" cy="4160520"/>
          </a:xfrm>
          <a:prstGeom prst="line">
            <a:avLst/>
          </a:prstGeom>
          <a:ln w="9525">
            <a:solidFill>
              <a:srgbClr val="6B7280"/>
            </a:solidFill>
            <a:prstDash val="dash"/>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695236" y="1417320"/>
            <a:ext cx="1828800" cy="640080"/>
          </a:xfrm>
          <a:prstGeom prst="roundRect">
            <a:avLst>
              <a:gd name="adj" fmla="val 10000"/>
            </a:avLst>
          </a:prstGeom>
          <a:solidFill>
            <a:srgbClr val="FEF3C7"/>
          </a:solidFill>
          <a:ln w="1905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92400E"/>
                </a:solidFill>
                <a:latin typeface="Calibri"/>
              </a:rPr>
              <a:t>PromptController</a:t>
            </a:r>
          </a:p>
        </p:txBody>
      </p:sp>
      <p:cxnSp>
        <p:nvCxnSpPr>
          <p:cNvPr id="10" name="Connector 9"/>
          <p:cNvCxnSpPr/>
          <p:nvPr/>
        </p:nvCxnSpPr>
        <p:spPr>
          <a:xfrm>
            <a:off x="7609636" y="2057400"/>
            <a:ext cx="0" cy="4160520"/>
          </a:xfrm>
          <a:prstGeom prst="line">
            <a:avLst/>
          </a:prstGeom>
          <a:ln w="9525">
            <a:solidFill>
              <a:srgbClr val="6B7280"/>
            </a:solidFill>
            <a:prstDash val="dash"/>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722815" y="1417320"/>
            <a:ext cx="1828800" cy="640080"/>
          </a:xfrm>
          <a:prstGeom prst="roundRect">
            <a:avLst>
              <a:gd name="adj" fmla="val 10000"/>
            </a:avLst>
          </a:prstGeom>
          <a:solidFill>
            <a:srgbClr val="FCE7F3"/>
          </a:solidFill>
          <a:ln w="19050">
            <a:solidFill>
              <a:srgbClr val="9F123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9F1239"/>
                </a:solidFill>
                <a:latin typeface="Calibri"/>
              </a:rPr>
              <a:t>DataRepository</a:t>
            </a:r>
          </a:p>
        </p:txBody>
      </p:sp>
      <p:cxnSp>
        <p:nvCxnSpPr>
          <p:cNvPr id="12" name="Connector 11"/>
          <p:cNvCxnSpPr/>
          <p:nvPr/>
        </p:nvCxnSpPr>
        <p:spPr>
          <a:xfrm>
            <a:off x="10637215" y="2057400"/>
            <a:ext cx="0" cy="4160520"/>
          </a:xfrm>
          <a:prstGeom prst="line">
            <a:avLst/>
          </a:prstGeom>
          <a:ln w="9525">
            <a:solidFill>
              <a:srgbClr val="6B728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554480" y="2377440"/>
            <a:ext cx="3027578" cy="0"/>
          </a:xfrm>
          <a:prstGeom prst="line">
            <a:avLst/>
          </a:prstGeom>
          <a:ln w="15875">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600200" y="2103120"/>
            <a:ext cx="2936138" cy="256032"/>
          </a:xfrm>
          <a:prstGeom prst="rect">
            <a:avLst/>
          </a:prstGeom>
          <a:noFill/>
        </p:spPr>
        <p:txBody>
          <a:bodyPr wrap="square" lIns="27432" rIns="27432" tIns="0" bIns="0">
            <a:spAutoFit/>
          </a:bodyPr>
          <a:lstStyle/>
          <a:p>
            <a:pPr algn="ctr"/>
            <a:r>
              <a:rPr sz="1000" b="0" i="0">
                <a:solidFill>
                  <a:srgbClr val="1F2937"/>
                </a:solidFill>
                <a:latin typeface="Calibri"/>
              </a:rPr>
              <a:t>1. clicks "Generate Prompt"</a:t>
            </a:r>
          </a:p>
        </p:txBody>
      </p:sp>
      <p:cxnSp>
        <p:nvCxnSpPr>
          <p:cNvPr id="15" name="Connector 14"/>
          <p:cNvCxnSpPr/>
          <p:nvPr/>
        </p:nvCxnSpPr>
        <p:spPr>
          <a:xfrm>
            <a:off x="4582058" y="2788920"/>
            <a:ext cx="3027578" cy="0"/>
          </a:xfrm>
          <a:prstGeom prst="line">
            <a:avLst/>
          </a:prstGeom>
          <a:ln w="15875">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627778" y="2514600"/>
            <a:ext cx="2936138" cy="256032"/>
          </a:xfrm>
          <a:prstGeom prst="rect">
            <a:avLst/>
          </a:prstGeom>
          <a:noFill/>
        </p:spPr>
        <p:txBody>
          <a:bodyPr wrap="square" lIns="27432" rIns="27432" tIns="0" bIns="0">
            <a:spAutoFit/>
          </a:bodyPr>
          <a:lstStyle/>
          <a:p>
            <a:pPr algn="ctr"/>
            <a:r>
              <a:rPr sz="1000" b="0" i="0">
                <a:solidFill>
                  <a:srgbClr val="1F2937"/>
                </a:solidFill>
                <a:latin typeface="Calibri"/>
              </a:rPr>
              <a:t>2. generatePrompt()</a:t>
            </a:r>
          </a:p>
        </p:txBody>
      </p:sp>
      <p:cxnSp>
        <p:nvCxnSpPr>
          <p:cNvPr id="17" name="Connector 16"/>
          <p:cNvCxnSpPr/>
          <p:nvPr/>
        </p:nvCxnSpPr>
        <p:spPr>
          <a:xfrm>
            <a:off x="7609636" y="3200400"/>
            <a:ext cx="3027579" cy="0"/>
          </a:xfrm>
          <a:prstGeom prst="line">
            <a:avLst/>
          </a:prstGeom>
          <a:ln w="15875">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655356" y="2926080"/>
            <a:ext cx="2936138" cy="256032"/>
          </a:xfrm>
          <a:prstGeom prst="rect">
            <a:avLst/>
          </a:prstGeom>
          <a:noFill/>
        </p:spPr>
        <p:txBody>
          <a:bodyPr wrap="square" lIns="27432" rIns="27432" tIns="0" bIns="0">
            <a:spAutoFit/>
          </a:bodyPr>
          <a:lstStyle/>
          <a:p>
            <a:pPr algn="ctr"/>
            <a:r>
              <a:rPr sz="1000" b="0" i="0">
                <a:solidFill>
                  <a:srgbClr val="1F2937"/>
                </a:solidFill>
                <a:latin typeface="Calibri"/>
              </a:rPr>
              <a:t>3. fetchRandomPrompt()</a:t>
            </a:r>
          </a:p>
        </p:txBody>
      </p:sp>
      <p:cxnSp>
        <p:nvCxnSpPr>
          <p:cNvPr id="19" name="Connector 18"/>
          <p:cNvCxnSpPr/>
          <p:nvPr/>
        </p:nvCxnSpPr>
        <p:spPr>
          <a:xfrm flipH="1">
            <a:off x="7609636" y="3611880"/>
            <a:ext cx="3027579" cy="0"/>
          </a:xfrm>
          <a:prstGeom prst="line">
            <a:avLst/>
          </a:prstGeom>
          <a:ln w="15875">
            <a:solidFill>
              <a:srgbClr val="6B7280"/>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655356" y="3337560"/>
            <a:ext cx="2936138" cy="256032"/>
          </a:xfrm>
          <a:prstGeom prst="rect">
            <a:avLst/>
          </a:prstGeom>
          <a:noFill/>
        </p:spPr>
        <p:txBody>
          <a:bodyPr wrap="square" lIns="27432" rIns="27432" tIns="0" bIns="0">
            <a:spAutoFit/>
          </a:bodyPr>
          <a:lstStyle/>
          <a:p>
            <a:pPr algn="ctr"/>
            <a:r>
              <a:rPr sz="1000" b="0" i="1">
                <a:solidFill>
                  <a:srgbClr val="1F2937"/>
                </a:solidFill>
                <a:latin typeface="Calibri"/>
              </a:rPr>
              <a:t>4. Prompt</a:t>
            </a:r>
          </a:p>
        </p:txBody>
      </p:sp>
      <p:cxnSp>
        <p:nvCxnSpPr>
          <p:cNvPr id="21" name="Connector 20"/>
          <p:cNvCxnSpPr/>
          <p:nvPr/>
        </p:nvCxnSpPr>
        <p:spPr>
          <a:xfrm flipH="1">
            <a:off x="4582058" y="4023360"/>
            <a:ext cx="3027578" cy="0"/>
          </a:xfrm>
          <a:prstGeom prst="line">
            <a:avLst/>
          </a:prstGeom>
          <a:ln w="15875">
            <a:solidFill>
              <a:srgbClr val="6B7280"/>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627778" y="3749040"/>
            <a:ext cx="2936138" cy="256032"/>
          </a:xfrm>
          <a:prstGeom prst="rect">
            <a:avLst/>
          </a:prstGeom>
          <a:noFill/>
        </p:spPr>
        <p:txBody>
          <a:bodyPr wrap="square" lIns="27432" rIns="27432" tIns="0" bIns="0">
            <a:spAutoFit/>
          </a:bodyPr>
          <a:lstStyle/>
          <a:p>
            <a:pPr algn="ctr"/>
            <a:r>
              <a:rPr sz="1000" b="0" i="1">
                <a:solidFill>
                  <a:srgbClr val="1F2937"/>
                </a:solidFill>
                <a:latin typeface="Calibri"/>
              </a:rPr>
              <a:t>5. return Prompt</a:t>
            </a:r>
          </a:p>
        </p:txBody>
      </p:sp>
      <p:cxnSp>
        <p:nvCxnSpPr>
          <p:cNvPr id="23" name="Connector 22"/>
          <p:cNvCxnSpPr/>
          <p:nvPr/>
        </p:nvCxnSpPr>
        <p:spPr>
          <a:xfrm flipH="1">
            <a:off x="1554480" y="4434840"/>
            <a:ext cx="3027578" cy="0"/>
          </a:xfrm>
          <a:prstGeom prst="line">
            <a:avLst/>
          </a:prstGeom>
          <a:ln w="15875">
            <a:solidFill>
              <a:srgbClr val="6B7280"/>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600200" y="4160520"/>
            <a:ext cx="2936138" cy="256032"/>
          </a:xfrm>
          <a:prstGeom prst="rect">
            <a:avLst/>
          </a:prstGeom>
          <a:noFill/>
        </p:spPr>
        <p:txBody>
          <a:bodyPr wrap="square" lIns="27432" rIns="27432" tIns="0" bIns="0">
            <a:spAutoFit/>
          </a:bodyPr>
          <a:lstStyle/>
          <a:p>
            <a:pPr algn="ctr"/>
            <a:r>
              <a:rPr sz="1000" b="0" i="1">
                <a:solidFill>
                  <a:srgbClr val="1F2937"/>
                </a:solidFill>
                <a:latin typeface="Calibri"/>
              </a:rPr>
              <a:t>6. display Prompt.topic</a:t>
            </a:r>
          </a:p>
        </p:txBody>
      </p:sp>
      <p:sp>
        <p:nvSpPr>
          <p:cNvPr id="25" name="TextBox 24"/>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3. Architecture &amp; OO Design  |  Sequence Diagram</a:t>
            </a:r>
          </a:p>
        </p:txBody>
      </p:sp>
      <p:sp>
        <p:nvSpPr>
          <p:cNvPr id="26" name="TextBox 25"/>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3.5  Sequence Diagram — UC2 Record Practice Speech</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Numbered to match the Main Success Scenario in Section 2.2 exactly.  Yellow-bordered band shows the loop while recording.</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0080" y="1417320"/>
            <a:ext cx="1681429" cy="640080"/>
          </a:xfrm>
          <a:prstGeom prst="roundRect">
            <a:avLst>
              <a:gd name="adj" fmla="val 10000"/>
            </a:avLst>
          </a:prstGeom>
          <a:solidFill>
            <a:srgbClr val="FEF3C7"/>
          </a:solidFill>
          <a:ln w="1905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92400E"/>
                </a:solidFill>
                <a:latin typeface="Calibri"/>
              </a:rPr>
              <a:t>User</a:t>
            </a:r>
          </a:p>
        </p:txBody>
      </p:sp>
      <p:cxnSp>
        <p:nvCxnSpPr>
          <p:cNvPr id="6" name="Connector 5"/>
          <p:cNvCxnSpPr/>
          <p:nvPr/>
        </p:nvCxnSpPr>
        <p:spPr>
          <a:xfrm>
            <a:off x="1480794" y="2057400"/>
            <a:ext cx="0" cy="4160520"/>
          </a:xfrm>
          <a:prstGeom prst="line">
            <a:avLst/>
          </a:prstGeom>
          <a:ln w="9525">
            <a:solidFill>
              <a:srgbClr val="6B7280"/>
            </a:solidFill>
            <a:prstDash val="dash"/>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486101" y="1417320"/>
            <a:ext cx="1681429" cy="640080"/>
          </a:xfrm>
          <a:prstGeom prst="roundRect">
            <a:avLst>
              <a:gd name="adj" fmla="val 10000"/>
            </a:avLst>
          </a:prstGeom>
          <a:solidFill>
            <a:srgbClr val="DBEAFE"/>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1E40AF"/>
                </a:solidFill>
                <a:latin typeface="Calibri"/>
              </a:rPr>
              <a:t>TrainerView</a:t>
            </a:r>
          </a:p>
        </p:txBody>
      </p:sp>
      <p:cxnSp>
        <p:nvCxnSpPr>
          <p:cNvPr id="8" name="Connector 7"/>
          <p:cNvCxnSpPr/>
          <p:nvPr/>
        </p:nvCxnSpPr>
        <p:spPr>
          <a:xfrm>
            <a:off x="3326815" y="2057400"/>
            <a:ext cx="0" cy="4160520"/>
          </a:xfrm>
          <a:prstGeom prst="line">
            <a:avLst/>
          </a:prstGeom>
          <a:ln w="9525">
            <a:solidFill>
              <a:srgbClr val="6B7280"/>
            </a:solidFill>
            <a:prstDash val="dash"/>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332122" y="1417320"/>
            <a:ext cx="1681429" cy="640080"/>
          </a:xfrm>
          <a:prstGeom prst="roundRect">
            <a:avLst>
              <a:gd name="adj" fmla="val 10000"/>
            </a:avLst>
          </a:prstGeom>
          <a:solidFill>
            <a:srgbClr val="FEF3C7"/>
          </a:solidFill>
          <a:ln w="1905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92400E"/>
                </a:solidFill>
                <a:latin typeface="Calibri"/>
              </a:rPr>
              <a:t>RecordingController</a:t>
            </a:r>
          </a:p>
        </p:txBody>
      </p:sp>
      <p:cxnSp>
        <p:nvCxnSpPr>
          <p:cNvPr id="10" name="Connector 9"/>
          <p:cNvCxnSpPr/>
          <p:nvPr/>
        </p:nvCxnSpPr>
        <p:spPr>
          <a:xfrm>
            <a:off x="5172837" y="2057400"/>
            <a:ext cx="0" cy="4160520"/>
          </a:xfrm>
          <a:prstGeom prst="line">
            <a:avLst/>
          </a:prstGeom>
          <a:ln w="9525">
            <a:solidFill>
              <a:srgbClr val="6B7280"/>
            </a:solidFill>
            <a:prstDash val="dash"/>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178143" y="1417320"/>
            <a:ext cx="1681429" cy="640080"/>
          </a:xfrm>
          <a:prstGeom prst="roundRect">
            <a:avLst>
              <a:gd name="adj" fmla="val 10000"/>
            </a:avLst>
          </a:prstGeom>
          <a:solidFill>
            <a:srgbClr val="FCE7F3"/>
          </a:solidFill>
          <a:ln w="19050">
            <a:solidFill>
              <a:srgbClr val="9F123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9F1239"/>
                </a:solidFill>
                <a:latin typeface="Calibri"/>
              </a:rPr>
              <a:t>MicrophoneService</a:t>
            </a:r>
          </a:p>
        </p:txBody>
      </p:sp>
      <p:cxnSp>
        <p:nvCxnSpPr>
          <p:cNvPr id="12" name="Connector 11"/>
          <p:cNvCxnSpPr/>
          <p:nvPr/>
        </p:nvCxnSpPr>
        <p:spPr>
          <a:xfrm>
            <a:off x="7018858" y="2057400"/>
            <a:ext cx="0" cy="4160520"/>
          </a:xfrm>
          <a:prstGeom prst="line">
            <a:avLst/>
          </a:prstGeom>
          <a:ln w="9525">
            <a:solidFill>
              <a:srgbClr val="6B7280"/>
            </a:solidFill>
            <a:prstDash val="dash"/>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024164" y="1417320"/>
            <a:ext cx="1681429" cy="640080"/>
          </a:xfrm>
          <a:prstGeom prst="roundRect">
            <a:avLst>
              <a:gd name="adj" fmla="val 10000"/>
            </a:avLst>
          </a:prstGeom>
          <a:solidFill>
            <a:srgbClr val="FCE7F3"/>
          </a:solidFill>
          <a:ln w="19050">
            <a:solidFill>
              <a:srgbClr val="9F123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9F1239"/>
                </a:solidFill>
                <a:latin typeface="Calibri"/>
              </a:rPr>
              <a:t>SpeechRecognitionService</a:t>
            </a:r>
          </a:p>
        </p:txBody>
      </p:sp>
      <p:cxnSp>
        <p:nvCxnSpPr>
          <p:cNvPr id="14" name="Connector 13"/>
          <p:cNvCxnSpPr/>
          <p:nvPr/>
        </p:nvCxnSpPr>
        <p:spPr>
          <a:xfrm>
            <a:off x="8864879" y="2057400"/>
            <a:ext cx="0" cy="4160520"/>
          </a:xfrm>
          <a:prstGeom prst="line">
            <a:avLst/>
          </a:prstGeom>
          <a:ln w="9525">
            <a:solidFill>
              <a:srgbClr val="6B7280"/>
            </a:solidFill>
            <a:prstDash val="dash"/>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870185" y="1417320"/>
            <a:ext cx="1681429" cy="640080"/>
          </a:xfrm>
          <a:prstGeom prst="roundRect">
            <a:avLst>
              <a:gd name="adj" fmla="val 10000"/>
            </a:avLst>
          </a:prstGeom>
          <a:solidFill>
            <a:srgbClr val="FCE7F3"/>
          </a:solidFill>
          <a:ln w="19050">
            <a:solidFill>
              <a:srgbClr val="9F123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9F1239"/>
                </a:solidFill>
                <a:latin typeface="Calibri"/>
              </a:rPr>
              <a:t>DataRepository</a:t>
            </a:r>
          </a:p>
        </p:txBody>
      </p:sp>
      <p:cxnSp>
        <p:nvCxnSpPr>
          <p:cNvPr id="16" name="Connector 15"/>
          <p:cNvCxnSpPr/>
          <p:nvPr/>
        </p:nvCxnSpPr>
        <p:spPr>
          <a:xfrm>
            <a:off x="10710900" y="2057400"/>
            <a:ext cx="0" cy="4160520"/>
          </a:xfrm>
          <a:prstGeom prst="line">
            <a:avLst/>
          </a:prstGeom>
          <a:ln w="9525">
            <a:solidFill>
              <a:srgbClr val="6B7280"/>
            </a:solidFill>
            <a:prstDash val="dash"/>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94359" y="3615145"/>
            <a:ext cx="11002975" cy="649877"/>
          </a:xfrm>
          <a:prstGeom prst="rect">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8" name="Rectangle 17"/>
          <p:cNvSpPr/>
          <p:nvPr/>
        </p:nvSpPr>
        <p:spPr>
          <a:xfrm>
            <a:off x="640080" y="3615145"/>
            <a:ext cx="640080" cy="274320"/>
          </a:xfrm>
          <a:prstGeom prst="rect">
            <a:avLst/>
          </a:prstGeom>
          <a:solidFill>
            <a:srgbClr val="F59E0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000" b="1">
                <a:solidFill>
                  <a:srgbClr val="FFFFFF"/>
                </a:solidFill>
                <a:latin typeface="Calibri"/>
              </a:rPr>
              <a:t>loop</a:t>
            </a:r>
          </a:p>
        </p:txBody>
      </p:sp>
      <p:sp>
        <p:nvSpPr>
          <p:cNvPr id="19" name="TextBox 18"/>
          <p:cNvSpPr txBox="1"/>
          <p:nvPr/>
        </p:nvSpPr>
        <p:spPr>
          <a:xfrm>
            <a:off x="1325880" y="3633433"/>
            <a:ext cx="5486400" cy="274320"/>
          </a:xfrm>
          <a:prstGeom prst="rect">
            <a:avLst/>
          </a:prstGeom>
          <a:noFill/>
        </p:spPr>
        <p:txBody>
          <a:bodyPr wrap="square" lIns="45720" rIns="45720" tIns="18288" bIns="18288" anchor="t">
            <a:spAutoFit/>
          </a:bodyPr>
          <a:lstStyle/>
          <a:p>
            <a:pPr algn="l"/>
            <a:r>
              <a:rPr sz="1000" b="0" i="1">
                <a:solidFill>
                  <a:srgbClr val="92400E"/>
                </a:solidFill>
                <a:latin typeface="Calibri"/>
              </a:rPr>
              <a:t>while user is speaking — repeats per transcript chunk</a:t>
            </a:r>
          </a:p>
        </p:txBody>
      </p:sp>
      <p:cxnSp>
        <p:nvCxnSpPr>
          <p:cNvPr id="20" name="Connector 19"/>
          <p:cNvCxnSpPr/>
          <p:nvPr/>
        </p:nvCxnSpPr>
        <p:spPr>
          <a:xfrm>
            <a:off x="1480794" y="2377440"/>
            <a:ext cx="1846021" cy="0"/>
          </a:xfrm>
          <a:prstGeom prst="line">
            <a:avLst/>
          </a:prstGeom>
          <a:ln w="15875">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526514" y="2103120"/>
            <a:ext cx="1754581" cy="256032"/>
          </a:xfrm>
          <a:prstGeom prst="rect">
            <a:avLst/>
          </a:prstGeom>
          <a:noFill/>
        </p:spPr>
        <p:txBody>
          <a:bodyPr wrap="square" lIns="27432" rIns="27432" tIns="0" bIns="0">
            <a:spAutoFit/>
          </a:bodyPr>
          <a:lstStyle/>
          <a:p>
            <a:pPr algn="ctr"/>
            <a:r>
              <a:rPr sz="1000" b="0" i="0">
                <a:solidFill>
                  <a:srgbClr val="1F2937"/>
                </a:solidFill>
                <a:latin typeface="Calibri"/>
              </a:rPr>
              <a:t>1. clicks Start Recording</a:t>
            </a:r>
          </a:p>
        </p:txBody>
      </p:sp>
      <p:cxnSp>
        <p:nvCxnSpPr>
          <p:cNvPr id="22" name="Connector 21"/>
          <p:cNvCxnSpPr/>
          <p:nvPr/>
        </p:nvCxnSpPr>
        <p:spPr>
          <a:xfrm>
            <a:off x="3326815" y="2661557"/>
            <a:ext cx="1846022" cy="0"/>
          </a:xfrm>
          <a:prstGeom prst="line">
            <a:avLst/>
          </a:prstGeom>
          <a:ln w="15875">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372535" y="2387237"/>
            <a:ext cx="1754581" cy="256032"/>
          </a:xfrm>
          <a:prstGeom prst="rect">
            <a:avLst/>
          </a:prstGeom>
          <a:noFill/>
        </p:spPr>
        <p:txBody>
          <a:bodyPr wrap="square" lIns="27432" rIns="27432" tIns="0" bIns="0">
            <a:spAutoFit/>
          </a:bodyPr>
          <a:lstStyle/>
          <a:p>
            <a:pPr algn="ctr"/>
            <a:r>
              <a:rPr sz="1000" b="0" i="0">
                <a:solidFill>
                  <a:srgbClr val="1F2937"/>
                </a:solidFill>
                <a:latin typeface="Calibri"/>
              </a:rPr>
              <a:t>2. startRecording(promptId)</a:t>
            </a:r>
          </a:p>
        </p:txBody>
      </p:sp>
      <p:cxnSp>
        <p:nvCxnSpPr>
          <p:cNvPr id="24" name="Connector 23"/>
          <p:cNvCxnSpPr/>
          <p:nvPr/>
        </p:nvCxnSpPr>
        <p:spPr>
          <a:xfrm>
            <a:off x="5172837" y="2945674"/>
            <a:ext cx="1846021" cy="0"/>
          </a:xfrm>
          <a:prstGeom prst="line">
            <a:avLst/>
          </a:prstGeom>
          <a:ln w="15875">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218557" y="2671354"/>
            <a:ext cx="1754581" cy="256032"/>
          </a:xfrm>
          <a:prstGeom prst="rect">
            <a:avLst/>
          </a:prstGeom>
          <a:noFill/>
        </p:spPr>
        <p:txBody>
          <a:bodyPr wrap="square" lIns="27432" rIns="27432" tIns="0" bIns="0">
            <a:spAutoFit/>
          </a:bodyPr>
          <a:lstStyle/>
          <a:p>
            <a:pPr algn="ctr"/>
            <a:r>
              <a:rPr sz="1000" b="0" i="0">
                <a:solidFill>
                  <a:srgbClr val="1F2937"/>
                </a:solidFill>
                <a:latin typeface="Calibri"/>
              </a:rPr>
              <a:t>3. activate()</a:t>
            </a:r>
          </a:p>
        </p:txBody>
      </p:sp>
      <p:cxnSp>
        <p:nvCxnSpPr>
          <p:cNvPr id="26" name="Connector 25"/>
          <p:cNvCxnSpPr/>
          <p:nvPr/>
        </p:nvCxnSpPr>
        <p:spPr>
          <a:xfrm flipH="1">
            <a:off x="5172837" y="3229791"/>
            <a:ext cx="1846021" cy="0"/>
          </a:xfrm>
          <a:prstGeom prst="line">
            <a:avLst/>
          </a:prstGeom>
          <a:ln w="15875">
            <a:solidFill>
              <a:srgbClr val="6B7280"/>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218557" y="2955471"/>
            <a:ext cx="1754581" cy="256032"/>
          </a:xfrm>
          <a:prstGeom prst="rect">
            <a:avLst/>
          </a:prstGeom>
          <a:noFill/>
        </p:spPr>
        <p:txBody>
          <a:bodyPr wrap="square" lIns="27432" rIns="27432" tIns="0" bIns="0">
            <a:spAutoFit/>
          </a:bodyPr>
          <a:lstStyle/>
          <a:p>
            <a:pPr algn="ctr"/>
            <a:r>
              <a:rPr sz="1000" b="0" i="1">
                <a:solidFill>
                  <a:srgbClr val="1F2937"/>
                </a:solidFill>
                <a:latin typeface="Calibri"/>
              </a:rPr>
              <a:t>4. stream handle</a:t>
            </a:r>
          </a:p>
        </p:txBody>
      </p:sp>
      <p:cxnSp>
        <p:nvCxnSpPr>
          <p:cNvPr id="28" name="Connector 27"/>
          <p:cNvCxnSpPr/>
          <p:nvPr/>
        </p:nvCxnSpPr>
        <p:spPr>
          <a:xfrm>
            <a:off x="5172837" y="3513908"/>
            <a:ext cx="3692042" cy="0"/>
          </a:xfrm>
          <a:prstGeom prst="line">
            <a:avLst/>
          </a:prstGeom>
          <a:ln w="15875">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218557" y="3239588"/>
            <a:ext cx="3600602" cy="256032"/>
          </a:xfrm>
          <a:prstGeom prst="rect">
            <a:avLst/>
          </a:prstGeom>
          <a:noFill/>
        </p:spPr>
        <p:txBody>
          <a:bodyPr wrap="square" lIns="27432" rIns="27432" tIns="0" bIns="0">
            <a:spAutoFit/>
          </a:bodyPr>
          <a:lstStyle/>
          <a:p>
            <a:pPr algn="ctr"/>
            <a:r>
              <a:rPr sz="1000" b="0" i="0">
                <a:solidFill>
                  <a:srgbClr val="1F2937"/>
                </a:solidFill>
                <a:latin typeface="Calibri"/>
              </a:rPr>
              <a:t>5. start(lang="en-US")</a:t>
            </a:r>
          </a:p>
        </p:txBody>
      </p:sp>
      <p:cxnSp>
        <p:nvCxnSpPr>
          <p:cNvPr id="30" name="Connector 29"/>
          <p:cNvCxnSpPr/>
          <p:nvPr/>
        </p:nvCxnSpPr>
        <p:spPr>
          <a:xfrm flipH="1">
            <a:off x="5172837" y="3798025"/>
            <a:ext cx="3692042" cy="0"/>
          </a:xfrm>
          <a:prstGeom prst="line">
            <a:avLst/>
          </a:prstGeom>
          <a:ln w="15875">
            <a:solidFill>
              <a:srgbClr val="6B7280"/>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218557" y="3523705"/>
            <a:ext cx="3600602" cy="256032"/>
          </a:xfrm>
          <a:prstGeom prst="rect">
            <a:avLst/>
          </a:prstGeom>
          <a:noFill/>
        </p:spPr>
        <p:txBody>
          <a:bodyPr wrap="square" lIns="27432" rIns="27432" tIns="0" bIns="0">
            <a:spAutoFit/>
          </a:bodyPr>
          <a:lstStyle/>
          <a:p>
            <a:pPr algn="ctr"/>
            <a:r>
              <a:rPr sz="1000" b="0" i="1">
                <a:solidFill>
                  <a:srgbClr val="1F2937"/>
                </a:solidFill>
                <a:latin typeface="Calibri"/>
              </a:rPr>
              <a:t>6. TranscriptSegment</a:t>
            </a:r>
          </a:p>
        </p:txBody>
      </p:sp>
      <p:cxnSp>
        <p:nvCxnSpPr>
          <p:cNvPr id="32" name="Connector 31"/>
          <p:cNvCxnSpPr/>
          <p:nvPr/>
        </p:nvCxnSpPr>
        <p:spPr>
          <a:xfrm flipH="1">
            <a:off x="3326815" y="4082142"/>
            <a:ext cx="1846022" cy="0"/>
          </a:xfrm>
          <a:prstGeom prst="line">
            <a:avLst/>
          </a:prstGeom>
          <a:ln w="15875">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372535" y="3807822"/>
            <a:ext cx="1754581" cy="256032"/>
          </a:xfrm>
          <a:prstGeom prst="rect">
            <a:avLst/>
          </a:prstGeom>
          <a:noFill/>
        </p:spPr>
        <p:txBody>
          <a:bodyPr wrap="square" lIns="27432" rIns="27432" tIns="0" bIns="0">
            <a:spAutoFit/>
          </a:bodyPr>
          <a:lstStyle/>
          <a:p>
            <a:pPr algn="ctr"/>
            <a:r>
              <a:rPr sz="1000" b="0" i="0">
                <a:solidFill>
                  <a:srgbClr val="1F2937"/>
                </a:solidFill>
                <a:latin typeface="Calibri"/>
              </a:rPr>
              <a:t>7. append &amp; display</a:t>
            </a:r>
          </a:p>
        </p:txBody>
      </p:sp>
      <p:cxnSp>
        <p:nvCxnSpPr>
          <p:cNvPr id="34" name="Connector 33"/>
          <p:cNvCxnSpPr/>
          <p:nvPr/>
        </p:nvCxnSpPr>
        <p:spPr>
          <a:xfrm>
            <a:off x="1480794" y="4366260"/>
            <a:ext cx="1846021" cy="0"/>
          </a:xfrm>
          <a:prstGeom prst="line">
            <a:avLst/>
          </a:prstGeom>
          <a:ln w="15875">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526514" y="4091940"/>
            <a:ext cx="1754581" cy="256032"/>
          </a:xfrm>
          <a:prstGeom prst="rect">
            <a:avLst/>
          </a:prstGeom>
          <a:noFill/>
        </p:spPr>
        <p:txBody>
          <a:bodyPr wrap="square" lIns="27432" rIns="27432" tIns="0" bIns="0">
            <a:spAutoFit/>
          </a:bodyPr>
          <a:lstStyle/>
          <a:p>
            <a:pPr algn="ctr"/>
            <a:r>
              <a:rPr sz="1000" b="0" i="0">
                <a:solidFill>
                  <a:srgbClr val="1F2937"/>
                </a:solidFill>
                <a:latin typeface="Calibri"/>
              </a:rPr>
              <a:t>8. clicks Stop Recording</a:t>
            </a:r>
          </a:p>
        </p:txBody>
      </p:sp>
      <p:cxnSp>
        <p:nvCxnSpPr>
          <p:cNvPr id="36" name="Connector 35"/>
          <p:cNvCxnSpPr/>
          <p:nvPr/>
        </p:nvCxnSpPr>
        <p:spPr>
          <a:xfrm>
            <a:off x="3326815" y="4650377"/>
            <a:ext cx="1846022" cy="0"/>
          </a:xfrm>
          <a:prstGeom prst="line">
            <a:avLst/>
          </a:prstGeom>
          <a:ln w="15875">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3372535" y="4376057"/>
            <a:ext cx="1754581" cy="256032"/>
          </a:xfrm>
          <a:prstGeom prst="rect">
            <a:avLst/>
          </a:prstGeom>
          <a:noFill/>
        </p:spPr>
        <p:txBody>
          <a:bodyPr wrap="square" lIns="27432" rIns="27432" tIns="0" bIns="0">
            <a:spAutoFit/>
          </a:bodyPr>
          <a:lstStyle/>
          <a:p>
            <a:pPr algn="ctr"/>
            <a:r>
              <a:rPr sz="1000" b="0" i="0">
                <a:solidFill>
                  <a:srgbClr val="1F2937"/>
                </a:solidFill>
                <a:latin typeface="Calibri"/>
              </a:rPr>
              <a:t>9. stopRecording()</a:t>
            </a:r>
          </a:p>
        </p:txBody>
      </p:sp>
      <p:cxnSp>
        <p:nvCxnSpPr>
          <p:cNvPr id="38" name="Connector 37"/>
          <p:cNvCxnSpPr/>
          <p:nvPr/>
        </p:nvCxnSpPr>
        <p:spPr>
          <a:xfrm>
            <a:off x="5172837" y="4934494"/>
            <a:ext cx="3692042" cy="0"/>
          </a:xfrm>
          <a:prstGeom prst="line">
            <a:avLst/>
          </a:prstGeom>
          <a:ln w="15875">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218557" y="4660174"/>
            <a:ext cx="3600602" cy="256032"/>
          </a:xfrm>
          <a:prstGeom prst="rect">
            <a:avLst/>
          </a:prstGeom>
          <a:noFill/>
        </p:spPr>
        <p:txBody>
          <a:bodyPr wrap="square" lIns="27432" rIns="27432" tIns="0" bIns="0">
            <a:spAutoFit/>
          </a:bodyPr>
          <a:lstStyle/>
          <a:p>
            <a:pPr algn="ctr"/>
            <a:r>
              <a:rPr sz="1000" b="0" i="0">
                <a:solidFill>
                  <a:srgbClr val="1F2937"/>
                </a:solidFill>
                <a:latin typeface="Calibri"/>
              </a:rPr>
              <a:t>10. stop()</a:t>
            </a:r>
          </a:p>
        </p:txBody>
      </p:sp>
      <p:cxnSp>
        <p:nvCxnSpPr>
          <p:cNvPr id="40" name="Connector 39"/>
          <p:cNvCxnSpPr/>
          <p:nvPr/>
        </p:nvCxnSpPr>
        <p:spPr>
          <a:xfrm>
            <a:off x="5172837" y="5218611"/>
            <a:ext cx="5538063" cy="0"/>
          </a:xfrm>
          <a:prstGeom prst="line">
            <a:avLst/>
          </a:prstGeom>
          <a:ln w="15875">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218557" y="4944291"/>
            <a:ext cx="5446623" cy="256032"/>
          </a:xfrm>
          <a:prstGeom prst="rect">
            <a:avLst/>
          </a:prstGeom>
          <a:noFill/>
        </p:spPr>
        <p:txBody>
          <a:bodyPr wrap="square" lIns="27432" rIns="27432" tIns="0" bIns="0">
            <a:spAutoFit/>
          </a:bodyPr>
          <a:lstStyle/>
          <a:p>
            <a:pPr algn="ctr"/>
            <a:r>
              <a:rPr sz="1000" b="0" i="0">
                <a:solidFill>
                  <a:srgbClr val="1F2937"/>
                </a:solidFill>
                <a:latin typeface="Calibri"/>
              </a:rPr>
              <a:t>11. saveRecording(AudioRecording)</a:t>
            </a:r>
          </a:p>
        </p:txBody>
      </p:sp>
      <p:cxnSp>
        <p:nvCxnSpPr>
          <p:cNvPr id="42" name="Connector 41"/>
          <p:cNvCxnSpPr/>
          <p:nvPr/>
        </p:nvCxnSpPr>
        <p:spPr>
          <a:xfrm flipH="1">
            <a:off x="5172837" y="5502728"/>
            <a:ext cx="5538063" cy="0"/>
          </a:xfrm>
          <a:prstGeom prst="line">
            <a:avLst/>
          </a:prstGeom>
          <a:ln w="15875">
            <a:solidFill>
              <a:srgbClr val="6B7280"/>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218557" y="5228408"/>
            <a:ext cx="5446623" cy="256032"/>
          </a:xfrm>
          <a:prstGeom prst="rect">
            <a:avLst/>
          </a:prstGeom>
          <a:noFill/>
        </p:spPr>
        <p:txBody>
          <a:bodyPr wrap="square" lIns="27432" rIns="27432" tIns="0" bIns="0">
            <a:spAutoFit/>
          </a:bodyPr>
          <a:lstStyle/>
          <a:p>
            <a:pPr algn="ctr"/>
            <a:r>
              <a:rPr sz="1000" b="0" i="1">
                <a:solidFill>
                  <a:srgbClr val="1F2937"/>
                </a:solidFill>
                <a:latin typeface="Calibri"/>
              </a:rPr>
              <a:t>12. recordingId</a:t>
            </a:r>
          </a:p>
        </p:txBody>
      </p:sp>
      <p:cxnSp>
        <p:nvCxnSpPr>
          <p:cNvPr id="44" name="Connector 43"/>
          <p:cNvCxnSpPr/>
          <p:nvPr/>
        </p:nvCxnSpPr>
        <p:spPr>
          <a:xfrm flipH="1">
            <a:off x="3326815" y="5786845"/>
            <a:ext cx="1846022" cy="0"/>
          </a:xfrm>
          <a:prstGeom prst="line">
            <a:avLst/>
          </a:prstGeom>
          <a:ln w="15875">
            <a:solidFill>
              <a:srgbClr val="6B7280"/>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3372535" y="5512525"/>
            <a:ext cx="1754581" cy="256032"/>
          </a:xfrm>
          <a:prstGeom prst="rect">
            <a:avLst/>
          </a:prstGeom>
          <a:noFill/>
        </p:spPr>
        <p:txBody>
          <a:bodyPr wrap="square" lIns="27432" rIns="27432" tIns="0" bIns="0">
            <a:spAutoFit/>
          </a:bodyPr>
          <a:lstStyle/>
          <a:p>
            <a:pPr algn="ctr"/>
            <a:r>
              <a:rPr sz="1000" b="0" i="1">
                <a:solidFill>
                  <a:srgbClr val="1F2937"/>
                </a:solidFill>
                <a:latin typeface="Calibri"/>
              </a:rPr>
              <a:t>13. return recordingId</a:t>
            </a:r>
          </a:p>
        </p:txBody>
      </p:sp>
      <p:sp>
        <p:nvSpPr>
          <p:cNvPr id="46" name="TextBox 45"/>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3. Architecture &amp; OO Design  |  Sequence Diagram</a:t>
            </a:r>
          </a:p>
        </p:txBody>
      </p:sp>
      <p:sp>
        <p:nvSpPr>
          <p:cNvPr id="47" name="TextBox 46"/>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3.5  Sequence Diagram — UC3 Analyse Speaking Style</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Numbered to match the Main Success Scenario in Section 2.2 exactly.</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0080" y="1417320"/>
            <a:ext cx="1828800" cy="640080"/>
          </a:xfrm>
          <a:prstGeom prst="roundRect">
            <a:avLst>
              <a:gd name="adj" fmla="val 10000"/>
            </a:avLst>
          </a:prstGeom>
          <a:solidFill>
            <a:srgbClr val="FEF3C7"/>
          </a:solidFill>
          <a:ln w="1905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92400E"/>
                </a:solidFill>
                <a:latin typeface="Calibri"/>
              </a:rPr>
              <a:t>User</a:t>
            </a:r>
          </a:p>
        </p:txBody>
      </p:sp>
      <p:cxnSp>
        <p:nvCxnSpPr>
          <p:cNvPr id="6" name="Connector 5"/>
          <p:cNvCxnSpPr/>
          <p:nvPr/>
        </p:nvCxnSpPr>
        <p:spPr>
          <a:xfrm>
            <a:off x="1554480" y="2057400"/>
            <a:ext cx="0" cy="4160520"/>
          </a:xfrm>
          <a:prstGeom prst="line">
            <a:avLst/>
          </a:prstGeom>
          <a:ln w="9525">
            <a:solidFill>
              <a:srgbClr val="6B7280"/>
            </a:solidFill>
            <a:prstDash val="dash"/>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910763" y="1417320"/>
            <a:ext cx="1828800" cy="640080"/>
          </a:xfrm>
          <a:prstGeom prst="roundRect">
            <a:avLst>
              <a:gd name="adj" fmla="val 10000"/>
            </a:avLst>
          </a:prstGeom>
          <a:solidFill>
            <a:srgbClr val="DBEAFE"/>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1E40AF"/>
                </a:solidFill>
                <a:latin typeface="Calibri"/>
              </a:rPr>
              <a:t>DashboardView</a:t>
            </a:r>
          </a:p>
        </p:txBody>
      </p:sp>
      <p:cxnSp>
        <p:nvCxnSpPr>
          <p:cNvPr id="8" name="Connector 7"/>
          <p:cNvCxnSpPr/>
          <p:nvPr/>
        </p:nvCxnSpPr>
        <p:spPr>
          <a:xfrm>
            <a:off x="3825163" y="2057400"/>
            <a:ext cx="0" cy="4160520"/>
          </a:xfrm>
          <a:prstGeom prst="line">
            <a:avLst/>
          </a:prstGeom>
          <a:ln w="9525">
            <a:solidFill>
              <a:srgbClr val="6B7280"/>
            </a:solidFill>
            <a:prstDash val="dash"/>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181447" y="1417320"/>
            <a:ext cx="1828800" cy="640080"/>
          </a:xfrm>
          <a:prstGeom prst="roundRect">
            <a:avLst>
              <a:gd name="adj" fmla="val 10000"/>
            </a:avLst>
          </a:prstGeom>
          <a:solidFill>
            <a:srgbClr val="FEF3C7"/>
          </a:solidFill>
          <a:ln w="1905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92400E"/>
                </a:solidFill>
                <a:latin typeface="Calibri"/>
              </a:rPr>
              <a:t>AnalysisController</a:t>
            </a:r>
          </a:p>
        </p:txBody>
      </p:sp>
      <p:cxnSp>
        <p:nvCxnSpPr>
          <p:cNvPr id="10" name="Connector 9"/>
          <p:cNvCxnSpPr/>
          <p:nvPr/>
        </p:nvCxnSpPr>
        <p:spPr>
          <a:xfrm>
            <a:off x="6095847" y="2057400"/>
            <a:ext cx="0" cy="4160520"/>
          </a:xfrm>
          <a:prstGeom prst="line">
            <a:avLst/>
          </a:prstGeom>
          <a:ln w="9525">
            <a:solidFill>
              <a:srgbClr val="6B7280"/>
            </a:solidFill>
            <a:prstDash val="dash"/>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452131" y="1417320"/>
            <a:ext cx="1828800" cy="640080"/>
          </a:xfrm>
          <a:prstGeom prst="roundRect">
            <a:avLst>
              <a:gd name="adj" fmla="val 10000"/>
            </a:avLst>
          </a:prstGeom>
          <a:solidFill>
            <a:srgbClr val="FCE7F3"/>
          </a:solidFill>
          <a:ln w="19050">
            <a:solidFill>
              <a:srgbClr val="9F123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9F1239"/>
                </a:solidFill>
                <a:latin typeface="Calibri"/>
              </a:rPr>
              <a:t>DataRepository</a:t>
            </a:r>
          </a:p>
        </p:txBody>
      </p:sp>
      <p:cxnSp>
        <p:nvCxnSpPr>
          <p:cNvPr id="12" name="Connector 11"/>
          <p:cNvCxnSpPr/>
          <p:nvPr/>
        </p:nvCxnSpPr>
        <p:spPr>
          <a:xfrm>
            <a:off x="8366531" y="2057400"/>
            <a:ext cx="0" cy="4160520"/>
          </a:xfrm>
          <a:prstGeom prst="line">
            <a:avLst/>
          </a:prstGeom>
          <a:ln w="9525">
            <a:solidFill>
              <a:srgbClr val="6B7280"/>
            </a:solidFill>
            <a:prstDash val="dash"/>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722815" y="1417320"/>
            <a:ext cx="1828800" cy="640080"/>
          </a:xfrm>
          <a:prstGeom prst="roundRect">
            <a:avLst>
              <a:gd name="adj" fmla="val 10000"/>
            </a:avLst>
          </a:prstGeom>
          <a:solidFill>
            <a:srgbClr val="FCE7F3"/>
          </a:solidFill>
          <a:ln w="19050">
            <a:solidFill>
              <a:srgbClr val="9F123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9F1239"/>
                </a:solidFill>
                <a:latin typeface="Calibri"/>
              </a:rPr>
              <a:t>AIAnalysisService</a:t>
            </a:r>
          </a:p>
        </p:txBody>
      </p:sp>
      <p:cxnSp>
        <p:nvCxnSpPr>
          <p:cNvPr id="14" name="Connector 13"/>
          <p:cNvCxnSpPr/>
          <p:nvPr/>
        </p:nvCxnSpPr>
        <p:spPr>
          <a:xfrm>
            <a:off x="10637215" y="2057400"/>
            <a:ext cx="0" cy="4160520"/>
          </a:xfrm>
          <a:prstGeom prst="line">
            <a:avLst/>
          </a:prstGeom>
          <a:ln w="9525">
            <a:solidFill>
              <a:srgbClr val="6B728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554480" y="2377440"/>
            <a:ext cx="2270683" cy="0"/>
          </a:xfrm>
          <a:prstGeom prst="line">
            <a:avLst/>
          </a:prstGeom>
          <a:ln w="15875">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600200" y="2103120"/>
            <a:ext cx="2179243" cy="256032"/>
          </a:xfrm>
          <a:prstGeom prst="rect">
            <a:avLst/>
          </a:prstGeom>
          <a:noFill/>
        </p:spPr>
        <p:txBody>
          <a:bodyPr wrap="square" lIns="27432" rIns="27432" tIns="0" bIns="0">
            <a:spAutoFit/>
          </a:bodyPr>
          <a:lstStyle/>
          <a:p>
            <a:pPr algn="ctr"/>
            <a:r>
              <a:rPr sz="1000" b="0" i="0">
                <a:solidFill>
                  <a:srgbClr val="1F2937"/>
                </a:solidFill>
                <a:latin typeface="Calibri"/>
              </a:rPr>
              <a:t>1. clicks Analyse</a:t>
            </a:r>
          </a:p>
        </p:txBody>
      </p:sp>
      <p:cxnSp>
        <p:nvCxnSpPr>
          <p:cNvPr id="17" name="Connector 16"/>
          <p:cNvCxnSpPr/>
          <p:nvPr/>
        </p:nvCxnSpPr>
        <p:spPr>
          <a:xfrm>
            <a:off x="3825163" y="2708910"/>
            <a:ext cx="2270684" cy="0"/>
          </a:xfrm>
          <a:prstGeom prst="line">
            <a:avLst/>
          </a:prstGeom>
          <a:ln w="15875">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870883" y="2434590"/>
            <a:ext cx="2179243" cy="256032"/>
          </a:xfrm>
          <a:prstGeom prst="rect">
            <a:avLst/>
          </a:prstGeom>
          <a:noFill/>
        </p:spPr>
        <p:txBody>
          <a:bodyPr wrap="square" lIns="27432" rIns="27432" tIns="0" bIns="0">
            <a:spAutoFit/>
          </a:bodyPr>
          <a:lstStyle/>
          <a:p>
            <a:pPr algn="ctr"/>
            <a:r>
              <a:rPr sz="1000" b="0" i="0">
                <a:solidFill>
                  <a:srgbClr val="1F2937"/>
                </a:solidFill>
                <a:latin typeface="Calibri"/>
              </a:rPr>
              <a:t>2. analyse(recordingId)</a:t>
            </a:r>
          </a:p>
        </p:txBody>
      </p:sp>
      <p:cxnSp>
        <p:nvCxnSpPr>
          <p:cNvPr id="19" name="Connector 18"/>
          <p:cNvCxnSpPr/>
          <p:nvPr/>
        </p:nvCxnSpPr>
        <p:spPr>
          <a:xfrm>
            <a:off x="6095847" y="3040380"/>
            <a:ext cx="2270684" cy="0"/>
          </a:xfrm>
          <a:prstGeom prst="line">
            <a:avLst/>
          </a:prstGeom>
          <a:ln w="15875">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141567" y="2766060"/>
            <a:ext cx="2179243" cy="256032"/>
          </a:xfrm>
          <a:prstGeom prst="rect">
            <a:avLst/>
          </a:prstGeom>
          <a:noFill/>
        </p:spPr>
        <p:txBody>
          <a:bodyPr wrap="square" lIns="27432" rIns="27432" tIns="0" bIns="0">
            <a:spAutoFit/>
          </a:bodyPr>
          <a:lstStyle/>
          <a:p>
            <a:pPr algn="ctr"/>
            <a:r>
              <a:rPr sz="1000" b="0" i="0">
                <a:solidFill>
                  <a:srgbClr val="1F2937"/>
                </a:solidFill>
                <a:latin typeface="Calibri"/>
              </a:rPr>
              <a:t>3. getRecording(recordingId)</a:t>
            </a:r>
          </a:p>
        </p:txBody>
      </p:sp>
      <p:cxnSp>
        <p:nvCxnSpPr>
          <p:cNvPr id="21" name="Connector 20"/>
          <p:cNvCxnSpPr/>
          <p:nvPr/>
        </p:nvCxnSpPr>
        <p:spPr>
          <a:xfrm flipH="1">
            <a:off x="6095847" y="3371850"/>
            <a:ext cx="2270684" cy="0"/>
          </a:xfrm>
          <a:prstGeom prst="line">
            <a:avLst/>
          </a:prstGeom>
          <a:ln w="15875">
            <a:solidFill>
              <a:srgbClr val="6B7280"/>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141567" y="3097530"/>
            <a:ext cx="2179243" cy="256032"/>
          </a:xfrm>
          <a:prstGeom prst="rect">
            <a:avLst/>
          </a:prstGeom>
          <a:noFill/>
        </p:spPr>
        <p:txBody>
          <a:bodyPr wrap="square" lIns="27432" rIns="27432" tIns="0" bIns="0">
            <a:spAutoFit/>
          </a:bodyPr>
          <a:lstStyle/>
          <a:p>
            <a:pPr algn="ctr"/>
            <a:r>
              <a:rPr sz="1000" b="0" i="1">
                <a:solidFill>
                  <a:srgbClr val="1F2937"/>
                </a:solidFill>
                <a:latin typeface="Calibri"/>
              </a:rPr>
              <a:t>4. AudioRecording + Segments</a:t>
            </a:r>
          </a:p>
        </p:txBody>
      </p:sp>
      <p:cxnSp>
        <p:nvCxnSpPr>
          <p:cNvPr id="23" name="Connector 22"/>
          <p:cNvCxnSpPr/>
          <p:nvPr/>
        </p:nvCxnSpPr>
        <p:spPr>
          <a:xfrm>
            <a:off x="6095847" y="3703320"/>
            <a:ext cx="4541368" cy="0"/>
          </a:xfrm>
          <a:prstGeom prst="line">
            <a:avLst/>
          </a:prstGeom>
          <a:ln w="15875">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141567" y="3429000"/>
            <a:ext cx="4449927" cy="256032"/>
          </a:xfrm>
          <a:prstGeom prst="rect">
            <a:avLst/>
          </a:prstGeom>
          <a:noFill/>
        </p:spPr>
        <p:txBody>
          <a:bodyPr wrap="square" lIns="27432" rIns="27432" tIns="0" bIns="0">
            <a:spAutoFit/>
          </a:bodyPr>
          <a:lstStyle/>
          <a:p>
            <a:pPr algn="ctr"/>
            <a:r>
              <a:rPr sz="1000" b="0" i="0">
                <a:solidFill>
                  <a:srgbClr val="1F2937"/>
                </a:solidFill>
                <a:latin typeface="Calibri"/>
              </a:rPr>
              <a:t>5. analyse(transcript, promptId)</a:t>
            </a:r>
          </a:p>
        </p:txBody>
      </p:sp>
      <p:cxnSp>
        <p:nvCxnSpPr>
          <p:cNvPr id="25" name="Connector 24"/>
          <p:cNvCxnSpPr/>
          <p:nvPr/>
        </p:nvCxnSpPr>
        <p:spPr>
          <a:xfrm flipH="1">
            <a:off x="6095847" y="4034789"/>
            <a:ext cx="4541368" cy="0"/>
          </a:xfrm>
          <a:prstGeom prst="line">
            <a:avLst/>
          </a:prstGeom>
          <a:ln w="15875">
            <a:solidFill>
              <a:srgbClr val="6B7280"/>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141567" y="3760470"/>
            <a:ext cx="4449927" cy="256032"/>
          </a:xfrm>
          <a:prstGeom prst="rect">
            <a:avLst/>
          </a:prstGeom>
          <a:noFill/>
        </p:spPr>
        <p:txBody>
          <a:bodyPr wrap="square" lIns="27432" rIns="27432" tIns="0" bIns="0">
            <a:spAutoFit/>
          </a:bodyPr>
          <a:lstStyle/>
          <a:p>
            <a:pPr algn="ctr"/>
            <a:r>
              <a:rPr sz="1000" b="0" i="1">
                <a:solidFill>
                  <a:srgbClr val="1F2937"/>
                </a:solidFill>
                <a:latin typeface="Calibri"/>
              </a:rPr>
              <a:t>6. SpeechAnalysis</a:t>
            </a:r>
          </a:p>
        </p:txBody>
      </p:sp>
      <p:cxnSp>
        <p:nvCxnSpPr>
          <p:cNvPr id="27" name="Connector 26"/>
          <p:cNvCxnSpPr/>
          <p:nvPr/>
        </p:nvCxnSpPr>
        <p:spPr>
          <a:xfrm>
            <a:off x="6095847" y="4366260"/>
            <a:ext cx="0" cy="0"/>
          </a:xfrm>
          <a:prstGeom prst="line">
            <a:avLst/>
          </a:prstGeom>
          <a:ln w="15875">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272887" y="4091940"/>
            <a:ext cx="1645920" cy="256032"/>
          </a:xfrm>
          <a:prstGeom prst="rect">
            <a:avLst/>
          </a:prstGeom>
          <a:noFill/>
        </p:spPr>
        <p:txBody>
          <a:bodyPr wrap="square" lIns="27432" rIns="27432" tIns="0" bIns="0">
            <a:spAutoFit/>
          </a:bodyPr>
          <a:lstStyle/>
          <a:p>
            <a:pPr algn="ctr"/>
            <a:r>
              <a:rPr sz="1000" b="0" i="0">
                <a:solidFill>
                  <a:srgbClr val="1F2937"/>
                </a:solidFill>
                <a:latin typeface="Calibri"/>
              </a:rPr>
              <a:t>7. create DrillSession</a:t>
            </a:r>
          </a:p>
        </p:txBody>
      </p:sp>
      <p:cxnSp>
        <p:nvCxnSpPr>
          <p:cNvPr id="29" name="Connector 28"/>
          <p:cNvCxnSpPr/>
          <p:nvPr/>
        </p:nvCxnSpPr>
        <p:spPr>
          <a:xfrm>
            <a:off x="6095847" y="4697730"/>
            <a:ext cx="2270684" cy="0"/>
          </a:xfrm>
          <a:prstGeom prst="line">
            <a:avLst/>
          </a:prstGeom>
          <a:ln w="15875">
            <a:solidFill>
              <a:srgbClr val="1E276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141567" y="4423410"/>
            <a:ext cx="2179243" cy="256032"/>
          </a:xfrm>
          <a:prstGeom prst="rect">
            <a:avLst/>
          </a:prstGeom>
          <a:noFill/>
        </p:spPr>
        <p:txBody>
          <a:bodyPr wrap="square" lIns="27432" rIns="27432" tIns="0" bIns="0">
            <a:spAutoFit/>
          </a:bodyPr>
          <a:lstStyle/>
          <a:p>
            <a:pPr algn="ctr"/>
            <a:r>
              <a:rPr sz="1000" b="0" i="0">
                <a:solidFill>
                  <a:srgbClr val="1F2937"/>
                </a:solidFill>
                <a:latin typeface="Calibri"/>
              </a:rPr>
              <a:t>8. saveDrillSession(DrillSession)</a:t>
            </a:r>
          </a:p>
        </p:txBody>
      </p:sp>
      <p:cxnSp>
        <p:nvCxnSpPr>
          <p:cNvPr id="31" name="Connector 30"/>
          <p:cNvCxnSpPr/>
          <p:nvPr/>
        </p:nvCxnSpPr>
        <p:spPr>
          <a:xfrm flipH="1">
            <a:off x="6095847" y="5029200"/>
            <a:ext cx="2270684" cy="0"/>
          </a:xfrm>
          <a:prstGeom prst="line">
            <a:avLst/>
          </a:prstGeom>
          <a:ln w="15875">
            <a:solidFill>
              <a:srgbClr val="6B7280"/>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141567" y="4754880"/>
            <a:ext cx="2179243" cy="256032"/>
          </a:xfrm>
          <a:prstGeom prst="rect">
            <a:avLst/>
          </a:prstGeom>
          <a:noFill/>
        </p:spPr>
        <p:txBody>
          <a:bodyPr wrap="square" lIns="27432" rIns="27432" tIns="0" bIns="0">
            <a:spAutoFit/>
          </a:bodyPr>
          <a:lstStyle/>
          <a:p>
            <a:pPr algn="ctr"/>
            <a:r>
              <a:rPr sz="1000" b="0" i="1">
                <a:solidFill>
                  <a:srgbClr val="1F2937"/>
                </a:solidFill>
                <a:latin typeface="Calibri"/>
              </a:rPr>
              <a:t>9. success</a:t>
            </a:r>
          </a:p>
        </p:txBody>
      </p:sp>
      <p:cxnSp>
        <p:nvCxnSpPr>
          <p:cNvPr id="33" name="Connector 32"/>
          <p:cNvCxnSpPr/>
          <p:nvPr/>
        </p:nvCxnSpPr>
        <p:spPr>
          <a:xfrm flipH="1">
            <a:off x="3825163" y="5360670"/>
            <a:ext cx="2270684" cy="0"/>
          </a:xfrm>
          <a:prstGeom prst="line">
            <a:avLst/>
          </a:prstGeom>
          <a:ln w="15875">
            <a:solidFill>
              <a:srgbClr val="6B7280"/>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3870883" y="5086350"/>
            <a:ext cx="2179243" cy="256032"/>
          </a:xfrm>
          <a:prstGeom prst="rect">
            <a:avLst/>
          </a:prstGeom>
          <a:noFill/>
        </p:spPr>
        <p:txBody>
          <a:bodyPr wrap="square" lIns="27432" rIns="27432" tIns="0" bIns="0">
            <a:spAutoFit/>
          </a:bodyPr>
          <a:lstStyle/>
          <a:p>
            <a:pPr algn="ctr"/>
            <a:r>
              <a:rPr sz="1000" b="0" i="1">
                <a:solidFill>
                  <a:srgbClr val="1F2937"/>
                </a:solidFill>
                <a:latin typeface="Calibri"/>
              </a:rPr>
              <a:t>10. return SpeechAnalysis</a:t>
            </a:r>
          </a:p>
        </p:txBody>
      </p:sp>
      <p:cxnSp>
        <p:nvCxnSpPr>
          <p:cNvPr id="35" name="Connector 34"/>
          <p:cNvCxnSpPr/>
          <p:nvPr/>
        </p:nvCxnSpPr>
        <p:spPr>
          <a:xfrm flipH="1">
            <a:off x="1554480" y="5692140"/>
            <a:ext cx="2270683" cy="0"/>
          </a:xfrm>
          <a:prstGeom prst="line">
            <a:avLst/>
          </a:prstGeom>
          <a:ln w="15875">
            <a:solidFill>
              <a:srgbClr val="6B7280"/>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600200" y="5417820"/>
            <a:ext cx="2179243" cy="256032"/>
          </a:xfrm>
          <a:prstGeom prst="rect">
            <a:avLst/>
          </a:prstGeom>
          <a:noFill/>
        </p:spPr>
        <p:txBody>
          <a:bodyPr wrap="square" lIns="27432" rIns="27432" tIns="0" bIns="0">
            <a:spAutoFit/>
          </a:bodyPr>
          <a:lstStyle/>
          <a:p>
            <a:pPr algn="ctr"/>
            <a:r>
              <a:rPr sz="1000" b="0" i="1">
                <a:solidFill>
                  <a:srgbClr val="1F2937"/>
                </a:solidFill>
                <a:latin typeface="Calibri"/>
              </a:rPr>
              <a:t>11. render feedback</a:t>
            </a:r>
          </a:p>
        </p:txBody>
      </p:sp>
      <p:sp>
        <p:nvSpPr>
          <p:cNvPr id="37" name="TextBox 36"/>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3. Architecture &amp; OO Design  |  Sequence Diagram</a:t>
            </a:r>
          </a:p>
        </p:txBody>
      </p:sp>
      <p:sp>
        <p:nvSpPr>
          <p:cNvPr id="38" name="TextBox 37"/>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377440"/>
            <a:ext cx="11247120" cy="1097280"/>
          </a:xfrm>
          <a:prstGeom prst="rect">
            <a:avLst/>
          </a:prstGeom>
          <a:noFill/>
        </p:spPr>
        <p:txBody>
          <a:bodyPr wrap="square" lIns="45720" rIns="45720" tIns="18288" bIns="18288" anchor="t">
            <a:spAutoFit/>
          </a:bodyPr>
          <a:lstStyle/>
          <a:p>
            <a:pPr algn="l"/>
            <a:r>
              <a:rPr sz="2200" b="0" i="1">
                <a:solidFill>
                  <a:srgbClr val="CADCFC"/>
                </a:solidFill>
                <a:latin typeface="Calibri"/>
              </a:rPr>
              <a:t>Section 4</a:t>
            </a:r>
          </a:p>
        </p:txBody>
      </p:sp>
      <p:sp>
        <p:nvSpPr>
          <p:cNvPr id="3" name="TextBox 2"/>
          <p:cNvSpPr txBox="1"/>
          <p:nvPr/>
        </p:nvSpPr>
        <p:spPr>
          <a:xfrm>
            <a:off x="457200" y="2834640"/>
            <a:ext cx="11247120" cy="1371600"/>
          </a:xfrm>
          <a:prstGeom prst="rect">
            <a:avLst/>
          </a:prstGeom>
          <a:noFill/>
        </p:spPr>
        <p:txBody>
          <a:bodyPr wrap="square" lIns="45720" rIns="45720" tIns="18288" bIns="18288" anchor="t">
            <a:spAutoFit/>
          </a:bodyPr>
          <a:lstStyle/>
          <a:p>
            <a:pPr algn="l"/>
            <a:r>
              <a:rPr sz="5400" b="1" i="0">
                <a:solidFill>
                  <a:srgbClr val="FFFFFF"/>
                </a:solidFill>
                <a:latin typeface="Calibri"/>
              </a:rPr>
              <a:t>Quality of Implementation</a:t>
            </a:r>
          </a:p>
        </p:txBody>
      </p:sp>
      <p:sp>
        <p:nvSpPr>
          <p:cNvPr id="4" name="Rectangle 3"/>
          <p:cNvSpPr/>
          <p:nvPr/>
        </p:nvSpPr>
        <p:spPr>
          <a:xfrm>
            <a:off x="457200" y="4389120"/>
            <a:ext cx="1371600" cy="73152"/>
          </a:xfrm>
          <a:prstGeom prst="rect">
            <a:avLst/>
          </a:prstGeom>
          <a:solidFill>
            <a:srgbClr val="F59E0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 name="TextBox 4"/>
          <p:cNvSpPr txBox="1"/>
          <p:nvPr/>
        </p:nvSpPr>
        <p:spPr>
          <a:xfrm>
            <a:off x="457200" y="4572000"/>
            <a:ext cx="11247120" cy="457200"/>
          </a:xfrm>
          <a:prstGeom prst="rect">
            <a:avLst/>
          </a:prstGeom>
          <a:noFill/>
        </p:spPr>
        <p:txBody>
          <a:bodyPr wrap="square" lIns="45720" rIns="45720" tIns="18288" bIns="18288" anchor="t">
            <a:spAutoFit/>
          </a:bodyPr>
          <a:lstStyle/>
          <a:p>
            <a:pPr algn="l"/>
            <a:r>
              <a:rPr sz="2000" b="1" i="0">
                <a:solidFill>
                  <a:srgbClr val="F59E0B"/>
                </a:solidFill>
                <a:latin typeface="Calibri"/>
              </a:rPr>
              <a:t>25% of the mark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4.1  Trainer Screen — Ready State  (UC1, UC2)</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4 — Quality of Implementation</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417320"/>
            <a:ext cx="7315200" cy="4754880"/>
          </a:xfrm>
          <a:prstGeom prst="rect">
            <a:avLst/>
          </a:prstGeom>
          <a:solidFill>
            <a:srgbClr val="F4F6FB"/>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200" b="0">
                <a:solidFill>
                  <a:srgbClr val="6B7280"/>
                </a:solidFill>
                <a:latin typeface="Calibri"/>
              </a:rPr>
              <a:t>[  PASTE SCREENSHOT HERE  ]</a:t>
            </a:r>
          </a:p>
          <a:p>
            <a:pPr algn="ctr"/>
            <a:r>
              <a:rPr sz="1200" b="0">
                <a:solidFill>
                  <a:srgbClr val="6B7280"/>
                </a:solidFill>
                <a:latin typeface="Calibri"/>
              </a:rPr>
              <a:t/>
            </a:r>
          </a:p>
          <a:p>
            <a:pPr algn="ctr"/>
            <a:r>
              <a:rPr sz="1200" b="0">
                <a:solidFill>
                  <a:srgbClr val="6B7280"/>
                </a:solidFill>
                <a:latin typeface="Calibri"/>
              </a:rPr>
              <a:t>Screenshot: TrainerView with a generated prompt displayed and the Go / Start button visible.</a:t>
            </a:r>
          </a:p>
        </p:txBody>
      </p:sp>
      <p:sp>
        <p:nvSpPr>
          <p:cNvPr id="6" name="TextBox 5"/>
          <p:cNvSpPr txBox="1"/>
          <p:nvPr/>
        </p:nvSpPr>
        <p:spPr>
          <a:xfrm>
            <a:off x="8046720" y="1417320"/>
            <a:ext cx="3657600" cy="365760"/>
          </a:xfrm>
          <a:prstGeom prst="rect">
            <a:avLst/>
          </a:prstGeom>
          <a:noFill/>
        </p:spPr>
        <p:txBody>
          <a:bodyPr wrap="square" lIns="45720" rIns="45720" tIns="18288" bIns="18288" anchor="t">
            <a:spAutoFit/>
          </a:bodyPr>
          <a:lstStyle/>
          <a:p>
            <a:pPr algn="l"/>
            <a:r>
              <a:rPr sz="1000" b="1" i="0">
                <a:solidFill>
                  <a:srgbClr val="6B7280"/>
                </a:solidFill>
                <a:latin typeface="Calibri"/>
              </a:rPr>
              <a:t>CAPTION</a:t>
            </a:r>
          </a:p>
        </p:txBody>
      </p:sp>
      <p:sp>
        <p:nvSpPr>
          <p:cNvPr id="7" name="Rounded Rectangle 6"/>
          <p:cNvSpPr/>
          <p:nvPr/>
        </p:nvSpPr>
        <p:spPr>
          <a:xfrm>
            <a:off x="8046720" y="1783080"/>
            <a:ext cx="3657600" cy="4389120"/>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8" name="TextBox 7"/>
          <p:cNvSpPr txBox="1"/>
          <p:nvPr/>
        </p:nvSpPr>
        <p:spPr>
          <a:xfrm>
            <a:off x="8229600" y="1965960"/>
            <a:ext cx="3291840" cy="4114800"/>
          </a:xfrm>
          <a:prstGeom prst="rect">
            <a:avLst/>
          </a:prstGeom>
          <a:noFill/>
        </p:spPr>
        <p:txBody>
          <a:bodyPr wrap="square" lIns="45720" rIns="45720" tIns="18288" bIns="18288" anchor="t">
            <a:spAutoFit/>
          </a:bodyPr>
          <a:lstStyle/>
          <a:p>
            <a:pPr algn="l"/>
            <a:r>
              <a:rPr sz="1200" b="0" i="0">
                <a:solidFill>
                  <a:srgbClr val="FFFFFF"/>
                </a:solidFill>
                <a:latin typeface="Calibri"/>
              </a:rPr>
              <a:t>TrainerView after UC1 completed. The topic on screen is the Prompt.topic returned by PromptController.generatePrompt() in step 6 of the UC1 success scenario. The Go button triggers UC2 step 1.</a:t>
            </a:r>
          </a:p>
        </p:txBody>
      </p:sp>
      <p:sp>
        <p:nvSpPr>
          <p:cNvPr id="9" name="TextBox 8"/>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4. Quality of Implementation</a:t>
            </a:r>
          </a:p>
        </p:txBody>
      </p:sp>
      <p:sp>
        <p:nvSpPr>
          <p:cNvPr id="10" name="TextBox 9"/>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4.2  Trainer Screen — Recording in Progress  (UC2)</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4 — Quality of Implementation</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417320"/>
            <a:ext cx="7315200" cy="4754880"/>
          </a:xfrm>
          <a:prstGeom prst="rect">
            <a:avLst/>
          </a:prstGeom>
          <a:solidFill>
            <a:srgbClr val="F4F6FB"/>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200" b="0">
                <a:solidFill>
                  <a:srgbClr val="6B7280"/>
                </a:solidFill>
                <a:latin typeface="Calibri"/>
              </a:rPr>
              <a:t>[  PASTE SCREENSHOT HERE  ]</a:t>
            </a:r>
          </a:p>
          <a:p>
            <a:pPr algn="ctr"/>
            <a:r>
              <a:rPr sz="1200" b="0">
                <a:solidFill>
                  <a:srgbClr val="6B7280"/>
                </a:solidFill>
                <a:latin typeface="Calibri"/>
              </a:rPr>
              <a:t/>
            </a:r>
          </a:p>
          <a:p>
            <a:pPr algn="ctr"/>
            <a:r>
              <a:rPr sz="1200" b="0">
                <a:solidFill>
                  <a:srgbClr val="6B7280"/>
                </a:solidFill>
                <a:latin typeface="Calibri"/>
              </a:rPr>
              <a:t>Screenshot: mid-drill TrainerView with countdown ticking and transcript filling in; try to capture at least one highlighted filler word.</a:t>
            </a:r>
          </a:p>
        </p:txBody>
      </p:sp>
      <p:sp>
        <p:nvSpPr>
          <p:cNvPr id="6" name="TextBox 5"/>
          <p:cNvSpPr txBox="1"/>
          <p:nvPr/>
        </p:nvSpPr>
        <p:spPr>
          <a:xfrm>
            <a:off x="8046720" y="1417320"/>
            <a:ext cx="3657600" cy="365760"/>
          </a:xfrm>
          <a:prstGeom prst="rect">
            <a:avLst/>
          </a:prstGeom>
          <a:noFill/>
        </p:spPr>
        <p:txBody>
          <a:bodyPr wrap="square" lIns="45720" rIns="45720" tIns="18288" bIns="18288" anchor="t">
            <a:spAutoFit/>
          </a:bodyPr>
          <a:lstStyle/>
          <a:p>
            <a:pPr algn="l"/>
            <a:r>
              <a:rPr sz="1000" b="1" i="0">
                <a:solidFill>
                  <a:srgbClr val="6B7280"/>
                </a:solidFill>
                <a:latin typeface="Calibri"/>
              </a:rPr>
              <a:t>CAPTION</a:t>
            </a:r>
          </a:p>
        </p:txBody>
      </p:sp>
      <p:sp>
        <p:nvSpPr>
          <p:cNvPr id="7" name="Rounded Rectangle 6"/>
          <p:cNvSpPr/>
          <p:nvPr/>
        </p:nvSpPr>
        <p:spPr>
          <a:xfrm>
            <a:off x="8046720" y="1783080"/>
            <a:ext cx="3657600" cy="4389120"/>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8" name="TextBox 7"/>
          <p:cNvSpPr txBox="1"/>
          <p:nvPr/>
        </p:nvSpPr>
        <p:spPr>
          <a:xfrm>
            <a:off x="8229600" y="1965960"/>
            <a:ext cx="3291840" cy="4114800"/>
          </a:xfrm>
          <a:prstGeom prst="rect">
            <a:avLst/>
          </a:prstGeom>
          <a:noFill/>
        </p:spPr>
        <p:txBody>
          <a:bodyPr wrap="square" lIns="45720" rIns="45720" tIns="18288" bIns="18288" anchor="t">
            <a:spAutoFit/>
          </a:bodyPr>
          <a:lstStyle/>
          <a:p>
            <a:pPr algn="l"/>
            <a:r>
              <a:rPr sz="1200" b="0" i="0">
                <a:solidFill>
                  <a:srgbClr val="FFFFFF"/>
                </a:solidFill>
                <a:latin typeface="Calibri"/>
              </a:rPr>
              <a:t>Each line in the transcript box is a TranscriptSegment emitted by SpeechRecognitionService (step 6) and forwarded by RecordingController (step 7). Filler words are colour-coded live — the incremental-processing benefit of pipe-and-filter.</a:t>
            </a:r>
          </a:p>
        </p:txBody>
      </p:sp>
      <p:sp>
        <p:nvSpPr>
          <p:cNvPr id="9" name="TextBox 8"/>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4. Quality of Implementation</a:t>
            </a:r>
          </a:p>
        </p:txBody>
      </p:sp>
      <p:sp>
        <p:nvSpPr>
          <p:cNvPr id="10" name="TextBox 9"/>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4.3  Dashboard — AI Feedback  (UC3)</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4 — Quality of Implementation</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417320"/>
            <a:ext cx="7315200" cy="4754880"/>
          </a:xfrm>
          <a:prstGeom prst="rect">
            <a:avLst/>
          </a:prstGeom>
          <a:solidFill>
            <a:srgbClr val="F4F6FB"/>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200" b="0">
                <a:solidFill>
                  <a:srgbClr val="6B7280"/>
                </a:solidFill>
                <a:latin typeface="Calibri"/>
              </a:rPr>
              <a:t>[  PASTE SCREENSHOT HERE  ]</a:t>
            </a:r>
          </a:p>
          <a:p>
            <a:pPr algn="ctr"/>
            <a:r>
              <a:rPr sz="1200" b="0">
                <a:solidFill>
                  <a:srgbClr val="6B7280"/>
                </a:solidFill>
                <a:latin typeface="Calibri"/>
              </a:rPr>
              <a:t/>
            </a:r>
          </a:p>
          <a:p>
            <a:pPr algn="ctr"/>
            <a:r>
              <a:rPr sz="1200" b="0">
                <a:solidFill>
                  <a:srgbClr val="6B7280"/>
                </a:solidFill>
                <a:latin typeface="Calibri"/>
              </a:rPr>
              <a:t>Screenshot: rendered SpeechAnalysis card — filler count, WPM, clarity %, relevance %, and the AI feedback paragraph.</a:t>
            </a:r>
          </a:p>
        </p:txBody>
      </p:sp>
      <p:sp>
        <p:nvSpPr>
          <p:cNvPr id="6" name="TextBox 5"/>
          <p:cNvSpPr txBox="1"/>
          <p:nvPr/>
        </p:nvSpPr>
        <p:spPr>
          <a:xfrm>
            <a:off x="8046720" y="1417320"/>
            <a:ext cx="3657600" cy="365760"/>
          </a:xfrm>
          <a:prstGeom prst="rect">
            <a:avLst/>
          </a:prstGeom>
          <a:noFill/>
        </p:spPr>
        <p:txBody>
          <a:bodyPr wrap="square" lIns="45720" rIns="45720" tIns="18288" bIns="18288" anchor="t">
            <a:spAutoFit/>
          </a:bodyPr>
          <a:lstStyle/>
          <a:p>
            <a:pPr algn="l"/>
            <a:r>
              <a:rPr sz="1000" b="1" i="0">
                <a:solidFill>
                  <a:srgbClr val="6B7280"/>
                </a:solidFill>
                <a:latin typeface="Calibri"/>
              </a:rPr>
              <a:t>CAPTION</a:t>
            </a:r>
          </a:p>
        </p:txBody>
      </p:sp>
      <p:sp>
        <p:nvSpPr>
          <p:cNvPr id="7" name="Rounded Rectangle 6"/>
          <p:cNvSpPr/>
          <p:nvPr/>
        </p:nvSpPr>
        <p:spPr>
          <a:xfrm>
            <a:off x="8046720" y="1783080"/>
            <a:ext cx="3657600" cy="4389120"/>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8" name="TextBox 7"/>
          <p:cNvSpPr txBox="1"/>
          <p:nvPr/>
        </p:nvSpPr>
        <p:spPr>
          <a:xfrm>
            <a:off x="8229600" y="1965960"/>
            <a:ext cx="3291840" cy="4114800"/>
          </a:xfrm>
          <a:prstGeom prst="rect">
            <a:avLst/>
          </a:prstGeom>
          <a:noFill/>
        </p:spPr>
        <p:txBody>
          <a:bodyPr wrap="square" lIns="45720" rIns="45720" tIns="18288" bIns="18288" anchor="t">
            <a:spAutoFit/>
          </a:bodyPr>
          <a:lstStyle/>
          <a:p>
            <a:pPr algn="l"/>
            <a:r>
              <a:rPr sz="1200" b="0" i="0">
                <a:solidFill>
                  <a:srgbClr val="FFFFFF"/>
                </a:solidFill>
                <a:latin typeface="Calibri"/>
              </a:rPr>
              <a:t>UC3 step 11 — DashboardView.renderAnalysis(SpeechAnalysis). Every field on screen maps to an attribute of SpeechAnalysis: fillerCount, wpm, clarityScore, relevanceScore, feedbackText. The service that produced these is AIAnalysisService (Gemini Flash).</a:t>
            </a:r>
          </a:p>
        </p:txBody>
      </p:sp>
      <p:sp>
        <p:nvSpPr>
          <p:cNvPr id="9" name="TextBox 8"/>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4. Quality of Implementation</a:t>
            </a:r>
          </a:p>
        </p:txBody>
      </p:sp>
      <p:sp>
        <p:nvSpPr>
          <p:cNvPr id="10" name="TextBox 9"/>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4.4  Graceful Degradation  (NFR4)</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4 — Quality of Implementation</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417320"/>
            <a:ext cx="7315200" cy="4754880"/>
          </a:xfrm>
          <a:prstGeom prst="rect">
            <a:avLst/>
          </a:prstGeom>
          <a:solidFill>
            <a:srgbClr val="F4F6FB"/>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200" b="0">
                <a:solidFill>
                  <a:srgbClr val="6B7280"/>
                </a:solidFill>
                <a:latin typeface="Calibri"/>
              </a:rPr>
              <a:t>[  PASTE SCREENSHOT HERE  ]</a:t>
            </a:r>
          </a:p>
          <a:p>
            <a:pPr algn="ctr"/>
            <a:r>
              <a:rPr sz="1200" b="0">
                <a:solidFill>
                  <a:srgbClr val="6B7280"/>
                </a:solidFill>
                <a:latin typeface="Calibri"/>
              </a:rPr>
              <a:t/>
            </a:r>
          </a:p>
          <a:p>
            <a:pPr algn="ctr"/>
            <a:r>
              <a:rPr sz="1200" b="0">
                <a:solidFill>
                  <a:srgbClr val="6B7280"/>
                </a:solidFill>
                <a:latin typeface="Calibri"/>
              </a:rPr>
              <a:t>Screenshot: dashboard with the "full AI analysis unavailable — showing basic stats" banner, fillerCount and wpm still populated.</a:t>
            </a:r>
          </a:p>
        </p:txBody>
      </p:sp>
      <p:sp>
        <p:nvSpPr>
          <p:cNvPr id="6" name="TextBox 5"/>
          <p:cNvSpPr txBox="1"/>
          <p:nvPr/>
        </p:nvSpPr>
        <p:spPr>
          <a:xfrm>
            <a:off x="8046720" y="1417320"/>
            <a:ext cx="3657600" cy="365760"/>
          </a:xfrm>
          <a:prstGeom prst="rect">
            <a:avLst/>
          </a:prstGeom>
          <a:noFill/>
        </p:spPr>
        <p:txBody>
          <a:bodyPr wrap="square" lIns="45720" rIns="45720" tIns="18288" bIns="18288" anchor="t">
            <a:spAutoFit/>
          </a:bodyPr>
          <a:lstStyle/>
          <a:p>
            <a:pPr algn="l"/>
            <a:r>
              <a:rPr sz="1000" b="1" i="0">
                <a:solidFill>
                  <a:srgbClr val="6B7280"/>
                </a:solidFill>
                <a:latin typeface="Calibri"/>
              </a:rPr>
              <a:t>CAPTION</a:t>
            </a:r>
          </a:p>
        </p:txBody>
      </p:sp>
      <p:sp>
        <p:nvSpPr>
          <p:cNvPr id="7" name="Rounded Rectangle 6"/>
          <p:cNvSpPr/>
          <p:nvPr/>
        </p:nvSpPr>
        <p:spPr>
          <a:xfrm>
            <a:off x="8046720" y="1783080"/>
            <a:ext cx="3657600" cy="4389120"/>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8" name="TextBox 7"/>
          <p:cNvSpPr txBox="1"/>
          <p:nvPr/>
        </p:nvSpPr>
        <p:spPr>
          <a:xfrm>
            <a:off x="8229600" y="1965960"/>
            <a:ext cx="3291840" cy="4114800"/>
          </a:xfrm>
          <a:prstGeom prst="rect">
            <a:avLst/>
          </a:prstGeom>
          <a:noFill/>
        </p:spPr>
        <p:txBody>
          <a:bodyPr wrap="square" lIns="45720" rIns="45720" tIns="18288" bIns="18288" anchor="t">
            <a:spAutoFit/>
          </a:bodyPr>
          <a:lstStyle/>
          <a:p>
            <a:pPr algn="l"/>
            <a:r>
              <a:rPr sz="1200" b="0" i="0">
                <a:solidFill>
                  <a:srgbClr val="FFFFFF"/>
                </a:solidFill>
                <a:latin typeface="Calibri"/>
              </a:rPr>
              <a:t>Exception path 5e of UC3 — AIAnalysisService unreachable. AnalysisController falls back to computing fillerCount and wpm locally from TranscriptSegments so the user still gets meaningful feedback. This is NFR4 in action.</a:t>
            </a:r>
          </a:p>
        </p:txBody>
      </p:sp>
      <p:sp>
        <p:nvSpPr>
          <p:cNvPr id="9" name="TextBox 8"/>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4. Quality of Implementation</a:t>
            </a:r>
          </a:p>
        </p:txBody>
      </p:sp>
      <p:sp>
        <p:nvSpPr>
          <p:cNvPr id="10" name="TextBox 9"/>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377440"/>
            <a:ext cx="11247120" cy="1097280"/>
          </a:xfrm>
          <a:prstGeom prst="rect">
            <a:avLst/>
          </a:prstGeom>
          <a:noFill/>
        </p:spPr>
        <p:txBody>
          <a:bodyPr wrap="square" lIns="45720" rIns="45720" tIns="18288" bIns="18288" anchor="t">
            <a:spAutoFit/>
          </a:bodyPr>
          <a:lstStyle/>
          <a:p>
            <a:pPr algn="l"/>
            <a:r>
              <a:rPr sz="2200" b="0" i="1">
                <a:solidFill>
                  <a:srgbClr val="CADCFC"/>
                </a:solidFill>
                <a:latin typeface="Calibri"/>
              </a:rPr>
              <a:t>Section 5</a:t>
            </a:r>
          </a:p>
        </p:txBody>
      </p:sp>
      <p:sp>
        <p:nvSpPr>
          <p:cNvPr id="3" name="TextBox 2"/>
          <p:cNvSpPr txBox="1"/>
          <p:nvPr/>
        </p:nvSpPr>
        <p:spPr>
          <a:xfrm>
            <a:off x="457200" y="2834640"/>
            <a:ext cx="11247120" cy="1371600"/>
          </a:xfrm>
          <a:prstGeom prst="rect">
            <a:avLst/>
          </a:prstGeom>
          <a:noFill/>
        </p:spPr>
        <p:txBody>
          <a:bodyPr wrap="square" lIns="45720" rIns="45720" tIns="18288" bIns="18288" anchor="t">
            <a:spAutoFit/>
          </a:bodyPr>
          <a:lstStyle/>
          <a:p>
            <a:pPr algn="l"/>
            <a:r>
              <a:rPr sz="5400" b="1" i="0">
                <a:solidFill>
                  <a:srgbClr val="FFFFFF"/>
                </a:solidFill>
                <a:latin typeface="Calibri"/>
              </a:rPr>
              <a:t>Reflection</a:t>
            </a:r>
          </a:p>
        </p:txBody>
      </p:sp>
      <p:sp>
        <p:nvSpPr>
          <p:cNvPr id="4" name="Rectangle 3"/>
          <p:cNvSpPr/>
          <p:nvPr/>
        </p:nvSpPr>
        <p:spPr>
          <a:xfrm>
            <a:off x="457200" y="4389120"/>
            <a:ext cx="1371600" cy="73152"/>
          </a:xfrm>
          <a:prstGeom prst="rect">
            <a:avLst/>
          </a:prstGeom>
          <a:solidFill>
            <a:srgbClr val="F59E0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 name="TextBox 4"/>
          <p:cNvSpPr txBox="1"/>
          <p:nvPr/>
        </p:nvSpPr>
        <p:spPr>
          <a:xfrm>
            <a:off x="457200" y="4572000"/>
            <a:ext cx="11247120" cy="457200"/>
          </a:xfrm>
          <a:prstGeom prst="rect">
            <a:avLst/>
          </a:prstGeom>
          <a:noFill/>
        </p:spPr>
        <p:txBody>
          <a:bodyPr wrap="square" lIns="45720" rIns="45720" tIns="18288" bIns="18288" anchor="t">
            <a:spAutoFit/>
          </a:bodyPr>
          <a:lstStyle/>
          <a:p>
            <a:pPr algn="l"/>
            <a:r>
              <a:rPr sz="2000" b="1" i="0">
                <a:solidFill>
                  <a:srgbClr val="F59E0B"/>
                </a:solidFill>
                <a:latin typeface="Calibri"/>
              </a:rPr>
              <a:t>5% of the mark</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5.1  Why solo, and not in a team</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5 — Reflection</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57200" y="1417320"/>
            <a:ext cx="11247120" cy="1828800"/>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 name="TextBox 5"/>
          <p:cNvSpPr txBox="1"/>
          <p:nvPr/>
        </p:nvSpPr>
        <p:spPr>
          <a:xfrm>
            <a:off x="731520" y="1600200"/>
            <a:ext cx="457200" cy="731520"/>
          </a:xfrm>
          <a:prstGeom prst="rect">
            <a:avLst/>
          </a:prstGeom>
          <a:noFill/>
        </p:spPr>
        <p:txBody>
          <a:bodyPr wrap="square" lIns="45720" rIns="45720" tIns="18288" bIns="18288" anchor="t">
            <a:spAutoFit/>
          </a:bodyPr>
          <a:lstStyle/>
          <a:p>
            <a:pPr algn="l"/>
            <a:r>
              <a:rPr sz="7200" b="1" i="0">
                <a:solidFill>
                  <a:srgbClr val="F59E0B"/>
                </a:solidFill>
                <a:latin typeface="Calibri"/>
              </a:rPr>
              <a:t>“</a:t>
            </a:r>
          </a:p>
        </p:txBody>
      </p:sp>
      <p:sp>
        <p:nvSpPr>
          <p:cNvPr id="7" name="TextBox 6"/>
          <p:cNvSpPr txBox="1"/>
          <p:nvPr/>
        </p:nvSpPr>
        <p:spPr>
          <a:xfrm>
            <a:off x="1371600" y="1645920"/>
            <a:ext cx="10058400" cy="1600200"/>
          </a:xfrm>
          <a:prstGeom prst="rect">
            <a:avLst/>
          </a:prstGeom>
          <a:noFill/>
        </p:spPr>
        <p:txBody>
          <a:bodyPr wrap="square" lIns="45720" rIns="45720" tIns="18288" bIns="18288" anchor="t">
            <a:spAutoFit/>
          </a:bodyPr>
          <a:lstStyle/>
          <a:p>
            <a:pPr algn="l"/>
            <a:r>
              <a:rPr sz="1600" b="0" i="1">
                <a:solidFill>
                  <a:srgbClr val="FFFFFF"/>
                </a:solidFill>
                <a:latin typeface="Calibri"/>
              </a:rPr>
              <a:t>Working alone made it easier to let inconsistencies slip between artefacts — the use case table said one thing, the class diagram said another, and there was no second pair of eyes catching it. That is what I fixed in this rebuild.</a:t>
            </a:r>
          </a:p>
        </p:txBody>
      </p:sp>
      <p:sp>
        <p:nvSpPr>
          <p:cNvPr id="8" name="Rounded Rectangle 7"/>
          <p:cNvSpPr/>
          <p:nvPr/>
        </p:nvSpPr>
        <p:spPr>
          <a:xfrm>
            <a:off x="457200" y="3474720"/>
            <a:ext cx="5577840" cy="3017520"/>
          </a:xfrm>
          <a:prstGeom prst="roundRect">
            <a:avLst>
              <a:gd name="adj" fmla="val 10000"/>
            </a:avLst>
          </a:prstGeom>
          <a:solidFill>
            <a:srgbClr val="D1FAE5"/>
          </a:solidFill>
          <a:ln w="19050">
            <a:solidFill>
              <a:srgbClr val="065F46"/>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9" name="TextBox 8"/>
          <p:cNvSpPr txBox="1"/>
          <p:nvPr/>
        </p:nvSpPr>
        <p:spPr>
          <a:xfrm>
            <a:off x="731520" y="3611880"/>
            <a:ext cx="5029200" cy="365760"/>
          </a:xfrm>
          <a:prstGeom prst="rect">
            <a:avLst/>
          </a:prstGeom>
          <a:noFill/>
        </p:spPr>
        <p:txBody>
          <a:bodyPr wrap="square" lIns="45720" rIns="45720" tIns="18288" bIns="18288" anchor="t">
            <a:spAutoFit/>
          </a:bodyPr>
          <a:lstStyle/>
          <a:p>
            <a:pPr algn="l"/>
            <a:r>
              <a:rPr sz="1100" b="1" i="0">
                <a:solidFill>
                  <a:srgbClr val="065F46"/>
                </a:solidFill>
                <a:latin typeface="Calibri"/>
              </a:rPr>
              <a:t>UPSIDE OF SOLO</a:t>
            </a:r>
          </a:p>
        </p:txBody>
      </p:sp>
      <p:sp>
        <p:nvSpPr>
          <p:cNvPr id="10" name="TextBox 9"/>
          <p:cNvSpPr txBox="1"/>
          <p:nvPr/>
        </p:nvSpPr>
        <p:spPr>
          <a:xfrm>
            <a:off x="731520" y="3977639"/>
            <a:ext cx="5029200" cy="2377440"/>
          </a:xfrm>
          <a:prstGeom prst="rect">
            <a:avLst/>
          </a:prstGeom>
          <a:noFill/>
        </p:spPr>
        <p:txBody>
          <a:bodyPr wrap="square" lIns="45720" rIns="45720" tIns="18288" bIns="18288" anchor="t">
            <a:spAutoFit/>
          </a:bodyPr>
          <a:lstStyle/>
          <a:p>
            <a:pPr algn="l"/>
            <a:r>
              <a:rPr sz="1300" b="0" i="0">
                <a:solidFill>
                  <a:srgbClr val="1F2937"/>
                </a:solidFill>
                <a:latin typeface="Calibri"/>
              </a:rPr>
              <a:t>• Ownership of every part of the stack — requirements, architecture, code.</a:t>
            </a:r>
          </a:p>
          <a:p>
            <a:pPr algn="l"/>
            <a:r>
              <a:rPr sz="1300" b="0" i="0">
                <a:solidFill>
                  <a:srgbClr val="1F2937"/>
                </a:solidFill>
                <a:latin typeface="Calibri"/>
              </a:rPr>
              <a:t/>
            </a:r>
          </a:p>
          <a:p>
            <a:pPr algn="l"/>
            <a:r>
              <a:rPr sz="1300" b="0" i="0">
                <a:solidFill>
                  <a:srgbClr val="1F2937"/>
                </a:solidFill>
                <a:latin typeface="Calibri"/>
              </a:rPr>
              <a:t>• No handover cost — decisions are fast.</a:t>
            </a:r>
          </a:p>
          <a:p>
            <a:pPr algn="l"/>
            <a:r>
              <a:rPr sz="1300" b="0" i="0">
                <a:solidFill>
                  <a:srgbClr val="1F2937"/>
                </a:solidFill>
                <a:latin typeface="Calibri"/>
              </a:rPr>
              <a:t/>
            </a:r>
          </a:p>
          <a:p>
            <a:pPr algn="l"/>
            <a:r>
              <a:rPr sz="1300" b="0" i="0">
                <a:solidFill>
                  <a:srgbClr val="1F2937"/>
                </a:solidFill>
                <a:latin typeface="Calibri"/>
              </a:rPr>
              <a:t>• Every line of code is unambiguously mine, so Section 4 is honest.</a:t>
            </a:r>
          </a:p>
        </p:txBody>
      </p:sp>
      <p:sp>
        <p:nvSpPr>
          <p:cNvPr id="11" name="Rounded Rectangle 10"/>
          <p:cNvSpPr/>
          <p:nvPr/>
        </p:nvSpPr>
        <p:spPr>
          <a:xfrm>
            <a:off x="6126480" y="3474720"/>
            <a:ext cx="5577840" cy="3017520"/>
          </a:xfrm>
          <a:prstGeom prst="roundRect">
            <a:avLst>
              <a:gd name="adj" fmla="val 10000"/>
            </a:avLst>
          </a:prstGeom>
          <a:solidFill>
            <a:srgbClr val="FCE7F3"/>
          </a:solidFill>
          <a:ln w="19050">
            <a:solidFill>
              <a:srgbClr val="9F123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2" name="TextBox 11"/>
          <p:cNvSpPr txBox="1"/>
          <p:nvPr/>
        </p:nvSpPr>
        <p:spPr>
          <a:xfrm>
            <a:off x="6400800" y="3611880"/>
            <a:ext cx="5029200" cy="365760"/>
          </a:xfrm>
          <a:prstGeom prst="rect">
            <a:avLst/>
          </a:prstGeom>
          <a:noFill/>
        </p:spPr>
        <p:txBody>
          <a:bodyPr wrap="square" lIns="45720" rIns="45720" tIns="18288" bIns="18288" anchor="t">
            <a:spAutoFit/>
          </a:bodyPr>
          <a:lstStyle/>
          <a:p>
            <a:pPr algn="l"/>
            <a:r>
              <a:rPr sz="1100" b="1" i="0">
                <a:solidFill>
                  <a:srgbClr val="9F1239"/>
                </a:solidFill>
                <a:latin typeface="Calibri"/>
              </a:rPr>
              <a:t>DOWNSIDE OF SOLO</a:t>
            </a:r>
          </a:p>
        </p:txBody>
      </p:sp>
      <p:sp>
        <p:nvSpPr>
          <p:cNvPr id="13" name="TextBox 12"/>
          <p:cNvSpPr txBox="1"/>
          <p:nvPr/>
        </p:nvSpPr>
        <p:spPr>
          <a:xfrm>
            <a:off x="6400800" y="3977639"/>
            <a:ext cx="5029200" cy="2377440"/>
          </a:xfrm>
          <a:prstGeom prst="rect">
            <a:avLst/>
          </a:prstGeom>
          <a:noFill/>
        </p:spPr>
        <p:txBody>
          <a:bodyPr wrap="square" lIns="45720" rIns="45720" tIns="18288" bIns="18288" anchor="t">
            <a:spAutoFit/>
          </a:bodyPr>
          <a:lstStyle/>
          <a:p>
            <a:pPr algn="l"/>
            <a:r>
              <a:rPr sz="1300" b="0" i="0">
                <a:solidFill>
                  <a:srgbClr val="1F2937"/>
                </a:solidFill>
                <a:latin typeface="Calibri"/>
              </a:rPr>
              <a:t>• No cross-check on my artefacts — directly caused the consistency problems in the first version.</a:t>
            </a:r>
          </a:p>
          <a:p>
            <a:pPr algn="l"/>
            <a:r>
              <a:rPr sz="1300" b="0" i="0">
                <a:solidFill>
                  <a:srgbClr val="1F2937"/>
                </a:solidFill>
                <a:latin typeface="Calibri"/>
              </a:rPr>
              <a:t/>
            </a:r>
          </a:p>
          <a:p>
            <a:pPr algn="l"/>
            <a:r>
              <a:rPr sz="1300" b="0" i="0">
                <a:solidFill>
                  <a:srgbClr val="1F2937"/>
                </a:solidFill>
                <a:latin typeface="Calibri"/>
              </a:rPr>
              <a:t>• Next time: build the canonical model first, OR schedule a "pretend peer review" halfway through to red-pen my own work cold.</a:t>
            </a:r>
          </a:p>
        </p:txBody>
      </p:sp>
      <p:sp>
        <p:nvSpPr>
          <p:cNvPr id="14" name="TextBox 13"/>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5. Reflection</a:t>
            </a:r>
          </a:p>
        </p:txBody>
      </p:sp>
      <p:sp>
        <p:nvSpPr>
          <p:cNvPr id="15" name="TextBox 14"/>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5.2  Lessons Learned</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5 — Reflection</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57200" y="1508760"/>
            <a:ext cx="548640" cy="548640"/>
          </a:xfrm>
          <a:prstGeom prst="ellipse">
            <a:avLst/>
          </a:prstGeom>
          <a:solidFill>
            <a:srgbClr val="1E2761"/>
          </a:solidFill>
          <a:ln>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59E0B"/>
                </a:solidFill>
                <a:latin typeface="Calibri"/>
              </a:rPr>
              <a:t>1</a:t>
            </a:r>
          </a:p>
        </p:txBody>
      </p:sp>
      <p:sp>
        <p:nvSpPr>
          <p:cNvPr id="6" name="TextBox 5"/>
          <p:cNvSpPr txBox="1"/>
          <p:nvPr/>
        </p:nvSpPr>
        <p:spPr>
          <a:xfrm>
            <a:off x="1188720" y="1463040"/>
            <a:ext cx="10515600" cy="365760"/>
          </a:xfrm>
          <a:prstGeom prst="rect">
            <a:avLst/>
          </a:prstGeom>
          <a:noFill/>
        </p:spPr>
        <p:txBody>
          <a:bodyPr wrap="square" lIns="45720" rIns="45720" tIns="18288" bIns="18288" anchor="t">
            <a:spAutoFit/>
          </a:bodyPr>
          <a:lstStyle/>
          <a:p>
            <a:pPr algn="l"/>
            <a:r>
              <a:rPr sz="1500" b="1" i="0">
                <a:solidFill>
                  <a:srgbClr val="1E2761"/>
                </a:solidFill>
                <a:latin typeface="Calibri"/>
              </a:rPr>
              <a:t>Build the vocabulary before the diagrams</a:t>
            </a:r>
          </a:p>
        </p:txBody>
      </p:sp>
      <p:sp>
        <p:nvSpPr>
          <p:cNvPr id="7" name="TextBox 6"/>
          <p:cNvSpPr txBox="1"/>
          <p:nvPr/>
        </p:nvSpPr>
        <p:spPr>
          <a:xfrm>
            <a:off x="1188720" y="1828800"/>
            <a:ext cx="10515600" cy="548640"/>
          </a:xfrm>
          <a:prstGeom prst="rect">
            <a:avLst/>
          </a:prstGeom>
          <a:noFill/>
        </p:spPr>
        <p:txBody>
          <a:bodyPr wrap="square" lIns="45720" rIns="45720" tIns="18288" bIns="18288" anchor="t">
            <a:spAutoFit/>
          </a:bodyPr>
          <a:lstStyle/>
          <a:p>
            <a:pPr algn="l"/>
            <a:r>
              <a:rPr sz="1200" b="0" i="0">
                <a:solidFill>
                  <a:srgbClr val="1F2937"/>
                </a:solidFill>
                <a:latin typeface="Calibri"/>
              </a:rPr>
              <a:t>A canonical model of every class and actor — written before any diagram — is the single biggest fix for consistency.</a:t>
            </a:r>
          </a:p>
        </p:txBody>
      </p:sp>
      <p:sp>
        <p:nvSpPr>
          <p:cNvPr id="8" name="Oval 7"/>
          <p:cNvSpPr/>
          <p:nvPr/>
        </p:nvSpPr>
        <p:spPr>
          <a:xfrm>
            <a:off x="457200" y="2468880"/>
            <a:ext cx="548640" cy="548640"/>
          </a:xfrm>
          <a:prstGeom prst="ellipse">
            <a:avLst/>
          </a:prstGeom>
          <a:solidFill>
            <a:srgbClr val="1E2761"/>
          </a:solidFill>
          <a:ln>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59E0B"/>
                </a:solidFill>
                <a:latin typeface="Calibri"/>
              </a:rPr>
              <a:t>2</a:t>
            </a:r>
          </a:p>
        </p:txBody>
      </p:sp>
      <p:sp>
        <p:nvSpPr>
          <p:cNvPr id="9" name="TextBox 8"/>
          <p:cNvSpPr txBox="1"/>
          <p:nvPr/>
        </p:nvSpPr>
        <p:spPr>
          <a:xfrm>
            <a:off x="1188720" y="2423160"/>
            <a:ext cx="10515600" cy="365760"/>
          </a:xfrm>
          <a:prstGeom prst="rect">
            <a:avLst/>
          </a:prstGeom>
          <a:noFill/>
        </p:spPr>
        <p:txBody>
          <a:bodyPr wrap="square" lIns="45720" rIns="45720" tIns="18288" bIns="18288" anchor="t">
            <a:spAutoFit/>
          </a:bodyPr>
          <a:lstStyle/>
          <a:p>
            <a:pPr algn="l"/>
            <a:r>
              <a:rPr sz="1500" b="1" i="0">
                <a:solidFill>
                  <a:srgbClr val="1E2761"/>
                </a:solidFill>
                <a:latin typeface="Calibri"/>
              </a:rPr>
              <a:t>Label every association, even if obvious</a:t>
            </a:r>
          </a:p>
        </p:txBody>
      </p:sp>
      <p:sp>
        <p:nvSpPr>
          <p:cNvPr id="10" name="TextBox 9"/>
          <p:cNvSpPr txBox="1"/>
          <p:nvPr/>
        </p:nvSpPr>
        <p:spPr>
          <a:xfrm>
            <a:off x="1188720" y="2788920"/>
            <a:ext cx="10515600" cy="548640"/>
          </a:xfrm>
          <a:prstGeom prst="rect">
            <a:avLst/>
          </a:prstGeom>
          <a:noFill/>
        </p:spPr>
        <p:txBody>
          <a:bodyPr wrap="square" lIns="45720" rIns="45720" tIns="18288" bIns="18288" anchor="t">
            <a:spAutoFit/>
          </a:bodyPr>
          <a:lstStyle/>
          <a:p>
            <a:pPr algn="l"/>
            <a:r>
              <a:rPr sz="1200" b="0" i="0">
                <a:solidFill>
                  <a:srgbClr val="1F2937"/>
                </a:solidFill>
                <a:latin typeface="Calibri"/>
              </a:rPr>
              <a:t>A class diagram without labels and multiplicities is not finished, even if the layout looks clean.</a:t>
            </a:r>
          </a:p>
        </p:txBody>
      </p:sp>
      <p:sp>
        <p:nvSpPr>
          <p:cNvPr id="11" name="Oval 10"/>
          <p:cNvSpPr/>
          <p:nvPr/>
        </p:nvSpPr>
        <p:spPr>
          <a:xfrm>
            <a:off x="457200" y="3429000"/>
            <a:ext cx="548640" cy="548640"/>
          </a:xfrm>
          <a:prstGeom prst="ellipse">
            <a:avLst/>
          </a:prstGeom>
          <a:solidFill>
            <a:srgbClr val="1E2761"/>
          </a:solidFill>
          <a:ln>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59E0B"/>
                </a:solidFill>
                <a:latin typeface="Calibri"/>
              </a:rPr>
              <a:t>3</a:t>
            </a:r>
          </a:p>
        </p:txBody>
      </p:sp>
      <p:sp>
        <p:nvSpPr>
          <p:cNvPr id="12" name="TextBox 11"/>
          <p:cNvSpPr txBox="1"/>
          <p:nvPr/>
        </p:nvSpPr>
        <p:spPr>
          <a:xfrm>
            <a:off x="1188720" y="3383280"/>
            <a:ext cx="10515600" cy="365760"/>
          </a:xfrm>
          <a:prstGeom prst="rect">
            <a:avLst/>
          </a:prstGeom>
          <a:noFill/>
        </p:spPr>
        <p:txBody>
          <a:bodyPr wrap="square" lIns="45720" rIns="45720" tIns="18288" bIns="18288" anchor="t">
            <a:spAutoFit/>
          </a:bodyPr>
          <a:lstStyle/>
          <a:p>
            <a:pPr algn="l"/>
            <a:r>
              <a:rPr sz="1500" b="1" i="0">
                <a:solidFill>
                  <a:srgbClr val="1E2761"/>
                </a:solidFill>
                <a:latin typeface="Calibri"/>
              </a:rPr>
              <a:t>Success scenarios = sequence diagram messages</a:t>
            </a:r>
          </a:p>
        </p:txBody>
      </p:sp>
      <p:sp>
        <p:nvSpPr>
          <p:cNvPr id="13" name="TextBox 12"/>
          <p:cNvSpPr txBox="1"/>
          <p:nvPr/>
        </p:nvSpPr>
        <p:spPr>
          <a:xfrm>
            <a:off x="1188720" y="3749040"/>
            <a:ext cx="10515600" cy="548640"/>
          </a:xfrm>
          <a:prstGeom prst="rect">
            <a:avLst/>
          </a:prstGeom>
          <a:noFill/>
        </p:spPr>
        <p:txBody>
          <a:bodyPr wrap="square" lIns="45720" rIns="45720" tIns="18288" bIns="18288" anchor="t">
            <a:spAutoFit/>
          </a:bodyPr>
          <a:lstStyle/>
          <a:p>
            <a:pPr algn="l"/>
            <a:r>
              <a:rPr sz="1200" b="0" i="0">
                <a:solidFill>
                  <a:srgbClr val="1F2937"/>
                </a:solidFill>
                <a:latin typeface="Calibri"/>
              </a:rPr>
              <a:t>Numbered 1-to-1. This is what makes the portfolio internally consistent at a glance.</a:t>
            </a:r>
          </a:p>
        </p:txBody>
      </p:sp>
      <p:sp>
        <p:nvSpPr>
          <p:cNvPr id="14" name="Oval 13"/>
          <p:cNvSpPr/>
          <p:nvPr/>
        </p:nvSpPr>
        <p:spPr>
          <a:xfrm>
            <a:off x="457200" y="4389120"/>
            <a:ext cx="548640" cy="548640"/>
          </a:xfrm>
          <a:prstGeom prst="ellipse">
            <a:avLst/>
          </a:prstGeom>
          <a:solidFill>
            <a:srgbClr val="1E2761"/>
          </a:solidFill>
          <a:ln>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59E0B"/>
                </a:solidFill>
                <a:latin typeface="Calibri"/>
              </a:rPr>
              <a:t>4</a:t>
            </a:r>
          </a:p>
        </p:txBody>
      </p:sp>
      <p:sp>
        <p:nvSpPr>
          <p:cNvPr id="15" name="TextBox 14"/>
          <p:cNvSpPr txBox="1"/>
          <p:nvPr/>
        </p:nvSpPr>
        <p:spPr>
          <a:xfrm>
            <a:off x="1188720" y="4343400"/>
            <a:ext cx="10515600" cy="365760"/>
          </a:xfrm>
          <a:prstGeom prst="rect">
            <a:avLst/>
          </a:prstGeom>
          <a:noFill/>
        </p:spPr>
        <p:txBody>
          <a:bodyPr wrap="square" lIns="45720" rIns="45720" tIns="18288" bIns="18288" anchor="t">
            <a:spAutoFit/>
          </a:bodyPr>
          <a:lstStyle/>
          <a:p>
            <a:pPr algn="l"/>
            <a:r>
              <a:rPr sz="1500" b="1" i="0">
                <a:solidFill>
                  <a:srgbClr val="1E2761"/>
                </a:solidFill>
                <a:latin typeface="Calibri"/>
              </a:rPr>
              <a:t>Two architectures ≠ one diagram</a:t>
            </a:r>
          </a:p>
        </p:txBody>
      </p:sp>
      <p:sp>
        <p:nvSpPr>
          <p:cNvPr id="16" name="TextBox 15"/>
          <p:cNvSpPr txBox="1"/>
          <p:nvPr/>
        </p:nvSpPr>
        <p:spPr>
          <a:xfrm>
            <a:off x="1188720" y="4709160"/>
            <a:ext cx="10515600" cy="548640"/>
          </a:xfrm>
          <a:prstGeom prst="rect">
            <a:avLst/>
          </a:prstGeom>
          <a:noFill/>
        </p:spPr>
        <p:txBody>
          <a:bodyPr wrap="square" lIns="45720" rIns="45720" tIns="18288" bIns="18288" anchor="t">
            <a:spAutoFit/>
          </a:bodyPr>
          <a:lstStyle/>
          <a:p>
            <a:pPr algn="l"/>
            <a:r>
              <a:rPr sz="1200" b="0" i="0">
                <a:solidFill>
                  <a:srgbClr val="1F2937"/>
                </a:solidFill>
                <a:latin typeface="Calibri"/>
              </a:rPr>
              <a:t>MVC at the OO level, Pipe-and-Filter at the data-flow level. Drawn separately.</a:t>
            </a:r>
          </a:p>
        </p:txBody>
      </p:sp>
      <p:sp>
        <p:nvSpPr>
          <p:cNvPr id="17" name="Oval 16"/>
          <p:cNvSpPr/>
          <p:nvPr/>
        </p:nvSpPr>
        <p:spPr>
          <a:xfrm>
            <a:off x="457200" y="5349240"/>
            <a:ext cx="548640" cy="548640"/>
          </a:xfrm>
          <a:prstGeom prst="ellipse">
            <a:avLst/>
          </a:prstGeom>
          <a:solidFill>
            <a:srgbClr val="1E2761"/>
          </a:solidFill>
          <a:ln>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59E0B"/>
                </a:solidFill>
                <a:latin typeface="Calibri"/>
              </a:rPr>
              <a:t>5</a:t>
            </a:r>
          </a:p>
        </p:txBody>
      </p:sp>
      <p:sp>
        <p:nvSpPr>
          <p:cNvPr id="18" name="TextBox 17"/>
          <p:cNvSpPr txBox="1"/>
          <p:nvPr/>
        </p:nvSpPr>
        <p:spPr>
          <a:xfrm>
            <a:off x="1188720" y="5303520"/>
            <a:ext cx="10515600" cy="365760"/>
          </a:xfrm>
          <a:prstGeom prst="rect">
            <a:avLst/>
          </a:prstGeom>
          <a:noFill/>
        </p:spPr>
        <p:txBody>
          <a:bodyPr wrap="square" lIns="45720" rIns="45720" tIns="18288" bIns="18288" anchor="t">
            <a:spAutoFit/>
          </a:bodyPr>
          <a:lstStyle/>
          <a:p>
            <a:pPr algn="l"/>
            <a:r>
              <a:rPr sz="1500" b="1" i="0">
                <a:solidFill>
                  <a:srgbClr val="1E2761"/>
                </a:solidFill>
                <a:latin typeface="Calibri"/>
              </a:rPr>
              <a:t>Read prose out loud</a:t>
            </a:r>
          </a:p>
        </p:txBody>
      </p:sp>
      <p:sp>
        <p:nvSpPr>
          <p:cNvPr id="19" name="TextBox 18"/>
          <p:cNvSpPr txBox="1"/>
          <p:nvPr/>
        </p:nvSpPr>
        <p:spPr>
          <a:xfrm>
            <a:off x="1188720" y="5669280"/>
            <a:ext cx="10515600" cy="548640"/>
          </a:xfrm>
          <a:prstGeom prst="rect">
            <a:avLst/>
          </a:prstGeom>
          <a:noFill/>
        </p:spPr>
        <p:txBody>
          <a:bodyPr wrap="square" lIns="45720" rIns="45720" tIns="18288" bIns="18288" anchor="t">
            <a:spAutoFit/>
          </a:bodyPr>
          <a:lstStyle/>
          <a:p>
            <a:pPr algn="l"/>
            <a:r>
              <a:rPr sz="1200" b="0" i="0">
                <a:solidFill>
                  <a:srgbClr val="1F2937"/>
                </a:solidFill>
                <a:latin typeface="Calibri"/>
              </a:rPr>
              <a:t>Most "this doesn't sound like you" feedback is smoothed-to-death text. Cut anything I wouldn't actually say.</a:t>
            </a:r>
          </a:p>
        </p:txBody>
      </p:sp>
      <p:sp>
        <p:nvSpPr>
          <p:cNvPr id="20" name="TextBox 19"/>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5. Reflection</a:t>
            </a:r>
          </a:p>
        </p:txBody>
      </p:sp>
      <p:sp>
        <p:nvSpPr>
          <p:cNvPr id="21" name="TextBox 20"/>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5.3  Use of AI Tools — identification, pros, cons</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5 — Reflection</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57200" y="1417320"/>
            <a:ext cx="5577840" cy="5029200"/>
          </a:xfrm>
          <a:prstGeom prst="roundRect">
            <a:avLst>
              <a:gd name="adj" fmla="val 10000"/>
            </a:avLst>
          </a:prstGeom>
          <a:solidFill>
            <a:srgbClr val="DBEAFE"/>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 name="TextBox 5"/>
          <p:cNvSpPr txBox="1"/>
          <p:nvPr/>
        </p:nvSpPr>
        <p:spPr>
          <a:xfrm>
            <a:off x="731520" y="1554480"/>
            <a:ext cx="5029200" cy="365760"/>
          </a:xfrm>
          <a:prstGeom prst="rect">
            <a:avLst/>
          </a:prstGeom>
          <a:noFill/>
        </p:spPr>
        <p:txBody>
          <a:bodyPr wrap="square" lIns="45720" rIns="45720" tIns="18288" bIns="18288" anchor="t">
            <a:spAutoFit/>
          </a:bodyPr>
          <a:lstStyle/>
          <a:p>
            <a:pPr algn="l"/>
            <a:r>
              <a:rPr sz="1100" b="1" i="0">
                <a:solidFill>
                  <a:srgbClr val="1E40AF"/>
                </a:solidFill>
                <a:latin typeface="Calibri"/>
              </a:rPr>
              <a:t>AI AS A PRODUCT FEATURE</a:t>
            </a:r>
          </a:p>
        </p:txBody>
      </p:sp>
      <p:sp>
        <p:nvSpPr>
          <p:cNvPr id="7" name="TextBox 6"/>
          <p:cNvSpPr txBox="1"/>
          <p:nvPr/>
        </p:nvSpPr>
        <p:spPr>
          <a:xfrm>
            <a:off x="731520" y="1920240"/>
            <a:ext cx="5029200" cy="548640"/>
          </a:xfrm>
          <a:prstGeom prst="rect">
            <a:avLst/>
          </a:prstGeom>
          <a:noFill/>
        </p:spPr>
        <p:txBody>
          <a:bodyPr wrap="square" lIns="45720" rIns="45720" tIns="18288" bIns="18288" anchor="t">
            <a:spAutoFit/>
          </a:bodyPr>
          <a:lstStyle/>
          <a:p>
            <a:pPr algn="l"/>
            <a:r>
              <a:rPr sz="2400" b="1" i="0">
                <a:solidFill>
                  <a:srgbClr val="1E40AF"/>
                </a:solidFill>
                <a:latin typeface="Calibri"/>
              </a:rPr>
              <a:t>Gemini Flash</a:t>
            </a:r>
          </a:p>
        </p:txBody>
      </p:sp>
      <p:sp>
        <p:nvSpPr>
          <p:cNvPr id="8" name="TextBox 7"/>
          <p:cNvSpPr txBox="1"/>
          <p:nvPr/>
        </p:nvSpPr>
        <p:spPr>
          <a:xfrm>
            <a:off x="731520" y="2606040"/>
            <a:ext cx="5029200" cy="365760"/>
          </a:xfrm>
          <a:prstGeom prst="rect">
            <a:avLst/>
          </a:prstGeom>
          <a:noFill/>
        </p:spPr>
        <p:txBody>
          <a:bodyPr wrap="square" lIns="45720" rIns="45720" tIns="18288" bIns="18288" anchor="t">
            <a:spAutoFit/>
          </a:bodyPr>
          <a:lstStyle/>
          <a:p>
            <a:pPr algn="l"/>
            <a:r>
              <a:rPr sz="1000" b="0" i="1">
                <a:solidFill>
                  <a:srgbClr val="6B7280"/>
                </a:solidFill>
                <a:latin typeface="Calibri"/>
              </a:rPr>
              <a:t>AIAnalysisService in the class diagram</a:t>
            </a:r>
          </a:p>
        </p:txBody>
      </p:sp>
      <p:sp>
        <p:nvSpPr>
          <p:cNvPr id="9" name="TextBox 8"/>
          <p:cNvSpPr txBox="1"/>
          <p:nvPr/>
        </p:nvSpPr>
        <p:spPr>
          <a:xfrm>
            <a:off x="731520" y="3017520"/>
            <a:ext cx="5029200" cy="1645920"/>
          </a:xfrm>
          <a:prstGeom prst="rect">
            <a:avLst/>
          </a:prstGeom>
          <a:noFill/>
        </p:spPr>
        <p:txBody>
          <a:bodyPr wrap="square" lIns="45720" rIns="45720" tIns="18288" bIns="18288" anchor="t">
            <a:spAutoFit/>
          </a:bodyPr>
          <a:lstStyle/>
          <a:p>
            <a:pPr algn="l"/>
            <a:r>
              <a:rPr sz="1200" b="0" i="0">
                <a:solidFill>
                  <a:srgbClr val="1F2937"/>
                </a:solidFill>
                <a:latin typeface="Calibri"/>
              </a:rPr>
              <a:t>Pros: high-quality natural-language feedback a rules engine could not match; easy to swap model because it lives behind one service class.</a:t>
            </a:r>
          </a:p>
        </p:txBody>
      </p:sp>
      <p:sp>
        <p:nvSpPr>
          <p:cNvPr id="10" name="TextBox 9"/>
          <p:cNvSpPr txBox="1"/>
          <p:nvPr/>
        </p:nvSpPr>
        <p:spPr>
          <a:xfrm>
            <a:off x="731520" y="4754880"/>
            <a:ext cx="5029200" cy="1645920"/>
          </a:xfrm>
          <a:prstGeom prst="rect">
            <a:avLst/>
          </a:prstGeom>
          <a:noFill/>
        </p:spPr>
        <p:txBody>
          <a:bodyPr wrap="square" lIns="45720" rIns="45720" tIns="18288" bIns="18288" anchor="t">
            <a:spAutoFit/>
          </a:bodyPr>
          <a:lstStyle/>
          <a:p>
            <a:pPr algn="l"/>
            <a:r>
              <a:rPr sz="1200" b="0" i="0">
                <a:solidFill>
                  <a:srgbClr val="1F2937"/>
                </a:solidFill>
                <a:latin typeface="Calibri"/>
              </a:rPr>
              <a:t>Cons: network dependency, so I added the NFR4 graceful-degradation fallback; responses non-deterministic, so hard to unit-test directly.</a:t>
            </a:r>
          </a:p>
        </p:txBody>
      </p:sp>
      <p:sp>
        <p:nvSpPr>
          <p:cNvPr id="11" name="Rounded Rectangle 10"/>
          <p:cNvSpPr/>
          <p:nvPr/>
        </p:nvSpPr>
        <p:spPr>
          <a:xfrm>
            <a:off x="6126480" y="1417320"/>
            <a:ext cx="5577840" cy="5029200"/>
          </a:xfrm>
          <a:prstGeom prst="roundRect">
            <a:avLst>
              <a:gd name="adj" fmla="val 10000"/>
            </a:avLst>
          </a:prstGeom>
          <a:solidFill>
            <a:srgbClr val="FEF3C7"/>
          </a:solidFill>
          <a:ln w="1905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2" name="TextBox 11"/>
          <p:cNvSpPr txBox="1"/>
          <p:nvPr/>
        </p:nvSpPr>
        <p:spPr>
          <a:xfrm>
            <a:off x="6400800" y="1554480"/>
            <a:ext cx="5029200" cy="365760"/>
          </a:xfrm>
          <a:prstGeom prst="rect">
            <a:avLst/>
          </a:prstGeom>
          <a:noFill/>
        </p:spPr>
        <p:txBody>
          <a:bodyPr wrap="square" lIns="45720" rIns="45720" tIns="18288" bIns="18288" anchor="t">
            <a:spAutoFit/>
          </a:bodyPr>
          <a:lstStyle/>
          <a:p>
            <a:pPr algn="l"/>
            <a:r>
              <a:rPr sz="1100" b="1" i="0">
                <a:solidFill>
                  <a:srgbClr val="92400E"/>
                </a:solidFill>
                <a:latin typeface="Calibri"/>
              </a:rPr>
              <a:t>AI AS A DEVELOPMENT ASSISTANT</a:t>
            </a:r>
          </a:p>
        </p:txBody>
      </p:sp>
      <p:sp>
        <p:nvSpPr>
          <p:cNvPr id="13" name="TextBox 12"/>
          <p:cNvSpPr txBox="1"/>
          <p:nvPr/>
        </p:nvSpPr>
        <p:spPr>
          <a:xfrm>
            <a:off x="6400800" y="1920240"/>
            <a:ext cx="5029200" cy="548640"/>
          </a:xfrm>
          <a:prstGeom prst="rect">
            <a:avLst/>
          </a:prstGeom>
          <a:noFill/>
        </p:spPr>
        <p:txBody>
          <a:bodyPr wrap="square" lIns="45720" rIns="45720" tIns="18288" bIns="18288" anchor="t">
            <a:spAutoFit/>
          </a:bodyPr>
          <a:lstStyle/>
          <a:p>
            <a:pPr algn="l"/>
            <a:r>
              <a:rPr sz="2400" b="1" i="0">
                <a:solidFill>
                  <a:srgbClr val="92400E"/>
                </a:solidFill>
                <a:latin typeface="Calibri"/>
              </a:rPr>
              <a:t>Claude + ChatGPT</a:t>
            </a:r>
          </a:p>
        </p:txBody>
      </p:sp>
      <p:sp>
        <p:nvSpPr>
          <p:cNvPr id="14" name="TextBox 13"/>
          <p:cNvSpPr txBox="1"/>
          <p:nvPr/>
        </p:nvSpPr>
        <p:spPr>
          <a:xfrm>
            <a:off x="6400800" y="2606040"/>
            <a:ext cx="5029200" cy="365760"/>
          </a:xfrm>
          <a:prstGeom prst="rect">
            <a:avLst/>
          </a:prstGeom>
          <a:noFill/>
        </p:spPr>
        <p:txBody>
          <a:bodyPr wrap="square" lIns="45720" rIns="45720" tIns="18288" bIns="18288" anchor="t">
            <a:spAutoFit/>
          </a:bodyPr>
          <a:lstStyle/>
          <a:p>
            <a:pPr algn="l"/>
            <a:r>
              <a:rPr sz="1000" b="0" i="1">
                <a:solidFill>
                  <a:srgbClr val="6B7280"/>
                </a:solidFill>
                <a:latin typeface="Calibri"/>
              </a:rPr>
              <a:t>For brainstorming, drafting, and consistency checks</a:t>
            </a:r>
          </a:p>
        </p:txBody>
      </p:sp>
      <p:sp>
        <p:nvSpPr>
          <p:cNvPr id="15" name="TextBox 14"/>
          <p:cNvSpPr txBox="1"/>
          <p:nvPr/>
        </p:nvSpPr>
        <p:spPr>
          <a:xfrm>
            <a:off x="6400800" y="3017520"/>
            <a:ext cx="5029200" cy="1645920"/>
          </a:xfrm>
          <a:prstGeom prst="rect">
            <a:avLst/>
          </a:prstGeom>
          <a:noFill/>
        </p:spPr>
        <p:txBody>
          <a:bodyPr wrap="square" lIns="45720" rIns="45720" tIns="18288" bIns="18288" anchor="t">
            <a:spAutoFit/>
          </a:bodyPr>
          <a:lstStyle/>
          <a:p>
            <a:pPr algn="l"/>
            <a:r>
              <a:rPr sz="1200" b="0" i="0">
                <a:solidFill>
                  <a:srgbClr val="1F2937"/>
                </a:solidFill>
                <a:latin typeface="Calibri"/>
              </a:rPr>
              <a:t>Pros: fast iteration on wording; good at spotting inconsistency across long docs when prompted; useful for first drafts of UML tables.</a:t>
            </a:r>
          </a:p>
        </p:txBody>
      </p:sp>
      <p:sp>
        <p:nvSpPr>
          <p:cNvPr id="16" name="TextBox 15"/>
          <p:cNvSpPr txBox="1"/>
          <p:nvPr/>
        </p:nvSpPr>
        <p:spPr>
          <a:xfrm>
            <a:off x="6400800" y="4754880"/>
            <a:ext cx="5029200" cy="1645920"/>
          </a:xfrm>
          <a:prstGeom prst="rect">
            <a:avLst/>
          </a:prstGeom>
          <a:noFill/>
        </p:spPr>
        <p:txBody>
          <a:bodyPr wrap="square" lIns="45720" rIns="45720" tIns="18288" bIns="18288" anchor="t">
            <a:spAutoFit/>
          </a:bodyPr>
          <a:lstStyle/>
          <a:p>
            <a:pPr algn="l"/>
            <a:r>
              <a:rPr sz="1200" b="0" i="0">
                <a:solidFill>
                  <a:srgbClr val="1F2937"/>
                </a:solidFill>
                <a:latin typeface="Calibri"/>
              </a:rPr>
              <a:t>Cons: early over-polish by AI is exactly what my lecturer caught. Takeaway: AI output is a first draft, not a finished artefact.</a:t>
            </a:r>
          </a:p>
        </p:txBody>
      </p:sp>
      <p:sp>
        <p:nvSpPr>
          <p:cNvPr id="17" name="TextBox 16"/>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5. Reflection</a:t>
            </a:r>
          </a:p>
        </p:txBody>
      </p:sp>
      <p:sp>
        <p:nvSpPr>
          <p:cNvPr id="18" name="TextBox 17"/>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lIns="45720" rIns="45720" tIns="18288" bIns="18288" anchor="t">
            <a:spAutoFit/>
          </a:bodyPr>
          <a:lstStyle/>
          <a:p>
            <a:pPr algn="l"/>
            <a:r>
              <a:rPr sz="2800" b="1" i="0">
                <a:solidFill>
                  <a:srgbClr val="1E2761"/>
                </a:solidFill>
                <a:latin typeface="Calibri"/>
              </a:rPr>
              <a:t>5.4  References</a:t>
            </a:r>
          </a:p>
        </p:txBody>
      </p:sp>
      <p:sp>
        <p:nvSpPr>
          <p:cNvPr id="3" name="TextBox 2"/>
          <p:cNvSpPr txBox="1"/>
          <p:nvPr/>
        </p:nvSpPr>
        <p:spPr>
          <a:xfrm>
            <a:off x="457200" y="777240"/>
            <a:ext cx="11247120" cy="320040"/>
          </a:xfrm>
          <a:prstGeom prst="rect">
            <a:avLst/>
          </a:prstGeom>
          <a:noFill/>
        </p:spPr>
        <p:txBody>
          <a:bodyPr wrap="square" lIns="45720" rIns="45720" tIns="18288" bIns="18288" anchor="t">
            <a:spAutoFit/>
          </a:bodyPr>
          <a:lstStyle/>
          <a:p>
            <a:pPr algn="l"/>
            <a:r>
              <a:rPr sz="1300" b="0" i="1">
                <a:solidFill>
                  <a:srgbClr val="6B7280"/>
                </a:solidFill>
                <a:latin typeface="Calibri"/>
              </a:rPr>
              <a:t>Section 5 — Reflection</a:t>
            </a:r>
          </a:p>
        </p:txBody>
      </p:sp>
      <p:cxnSp>
        <p:nvCxnSpPr>
          <p:cNvPr id="4" name="Connector 3"/>
          <p:cNvCxnSpPr/>
          <p:nvPr/>
        </p:nvCxnSpPr>
        <p:spPr>
          <a:xfrm>
            <a:off x="457200" y="1143000"/>
            <a:ext cx="11274552" cy="0"/>
          </a:xfrm>
          <a:prstGeom prst="line">
            <a:avLst/>
          </a:prstGeom>
          <a:ln w="15875">
            <a:solidFill>
              <a:srgbClr val="1E2761"/>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57200" y="1463040"/>
            <a:ext cx="11247120" cy="868680"/>
          </a:xfrm>
          <a:prstGeom prst="roundRect">
            <a:avLst>
              <a:gd name="adj" fmla="val 10000"/>
            </a:avLst>
          </a:prstGeom>
          <a:solidFill>
            <a:srgbClr val="F4F6FB"/>
          </a:solidFill>
          <a:ln w="1016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 name="TextBox 5"/>
          <p:cNvSpPr txBox="1"/>
          <p:nvPr/>
        </p:nvSpPr>
        <p:spPr>
          <a:xfrm>
            <a:off x="731520" y="1554480"/>
            <a:ext cx="457200" cy="365760"/>
          </a:xfrm>
          <a:prstGeom prst="rect">
            <a:avLst/>
          </a:prstGeom>
          <a:noFill/>
        </p:spPr>
        <p:txBody>
          <a:bodyPr wrap="square" lIns="45720" rIns="45720" tIns="18288" bIns="18288" anchor="t">
            <a:spAutoFit/>
          </a:bodyPr>
          <a:lstStyle/>
          <a:p>
            <a:pPr algn="l"/>
            <a:r>
              <a:rPr sz="1800" b="1" i="0">
                <a:solidFill>
                  <a:srgbClr val="F59E0B"/>
                </a:solidFill>
                <a:latin typeface="Calibri"/>
              </a:rPr>
              <a:t>1</a:t>
            </a:r>
          </a:p>
        </p:txBody>
      </p:sp>
      <p:sp>
        <p:nvSpPr>
          <p:cNvPr id="7" name="TextBox 6"/>
          <p:cNvSpPr txBox="1"/>
          <p:nvPr/>
        </p:nvSpPr>
        <p:spPr>
          <a:xfrm>
            <a:off x="1188720" y="1536192"/>
            <a:ext cx="10241280" cy="365760"/>
          </a:xfrm>
          <a:prstGeom prst="rect">
            <a:avLst/>
          </a:prstGeom>
          <a:noFill/>
        </p:spPr>
        <p:txBody>
          <a:bodyPr wrap="square" lIns="45720" rIns="45720" tIns="18288" bIns="18288" anchor="t">
            <a:spAutoFit/>
          </a:bodyPr>
          <a:lstStyle/>
          <a:p>
            <a:pPr algn="l"/>
            <a:r>
              <a:rPr sz="1300" b="1" i="0">
                <a:solidFill>
                  <a:srgbClr val="1E2761"/>
                </a:solidFill>
                <a:latin typeface="Calibri"/>
              </a:rPr>
              <a:t>User-Centered Design in AI Speech Coaching Platforms</a:t>
            </a:r>
          </a:p>
        </p:txBody>
      </p:sp>
      <p:sp>
        <p:nvSpPr>
          <p:cNvPr id="8" name="TextBox 7"/>
          <p:cNvSpPr txBox="1"/>
          <p:nvPr/>
        </p:nvSpPr>
        <p:spPr>
          <a:xfrm>
            <a:off x="1188720" y="1874520"/>
            <a:ext cx="10241280" cy="457200"/>
          </a:xfrm>
          <a:prstGeom prst="rect">
            <a:avLst/>
          </a:prstGeom>
          <a:noFill/>
        </p:spPr>
        <p:txBody>
          <a:bodyPr wrap="square" lIns="45720" rIns="45720" tIns="18288" bIns="18288" anchor="t">
            <a:spAutoFit/>
          </a:bodyPr>
          <a:lstStyle/>
          <a:p>
            <a:pPr algn="l"/>
            <a:r>
              <a:rPr sz="1100" b="0" i="1">
                <a:solidFill>
                  <a:srgbClr val="1F2937"/>
                </a:solidFill>
                <a:latin typeface="Calibri"/>
              </a:rPr>
              <a:t>theaisurf.com — influenced the choice to highlight filler words live instead of only post-session.</a:t>
            </a:r>
          </a:p>
        </p:txBody>
      </p:sp>
      <p:sp>
        <p:nvSpPr>
          <p:cNvPr id="9" name="Rounded Rectangle 8"/>
          <p:cNvSpPr/>
          <p:nvPr/>
        </p:nvSpPr>
        <p:spPr>
          <a:xfrm>
            <a:off x="457200" y="2423160"/>
            <a:ext cx="11247120" cy="868680"/>
          </a:xfrm>
          <a:prstGeom prst="roundRect">
            <a:avLst>
              <a:gd name="adj" fmla="val 10000"/>
            </a:avLst>
          </a:prstGeom>
          <a:solidFill>
            <a:srgbClr val="F4F6FB"/>
          </a:solidFill>
          <a:ln w="1016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0" name="TextBox 9"/>
          <p:cNvSpPr txBox="1"/>
          <p:nvPr/>
        </p:nvSpPr>
        <p:spPr>
          <a:xfrm>
            <a:off x="731520" y="2514600"/>
            <a:ext cx="457200" cy="365760"/>
          </a:xfrm>
          <a:prstGeom prst="rect">
            <a:avLst/>
          </a:prstGeom>
          <a:noFill/>
        </p:spPr>
        <p:txBody>
          <a:bodyPr wrap="square" lIns="45720" rIns="45720" tIns="18288" bIns="18288" anchor="t">
            <a:spAutoFit/>
          </a:bodyPr>
          <a:lstStyle/>
          <a:p>
            <a:pPr algn="l"/>
            <a:r>
              <a:rPr sz="1800" b="1" i="0">
                <a:solidFill>
                  <a:srgbClr val="F59E0B"/>
                </a:solidFill>
                <a:latin typeface="Calibri"/>
              </a:rPr>
              <a:t>2</a:t>
            </a:r>
          </a:p>
        </p:txBody>
      </p:sp>
      <p:sp>
        <p:nvSpPr>
          <p:cNvPr id="11" name="TextBox 10"/>
          <p:cNvSpPr txBox="1"/>
          <p:nvPr/>
        </p:nvSpPr>
        <p:spPr>
          <a:xfrm>
            <a:off x="1188720" y="2496312"/>
            <a:ext cx="10241280" cy="365760"/>
          </a:xfrm>
          <a:prstGeom prst="rect">
            <a:avLst/>
          </a:prstGeom>
          <a:noFill/>
        </p:spPr>
        <p:txBody>
          <a:bodyPr wrap="square" lIns="45720" rIns="45720" tIns="18288" bIns="18288" anchor="t">
            <a:spAutoFit/>
          </a:bodyPr>
          <a:lstStyle/>
          <a:p>
            <a:pPr algn="l"/>
            <a:r>
              <a:rPr sz="1300" b="1" i="0">
                <a:solidFill>
                  <a:srgbClr val="1E2761"/>
                </a:solidFill>
                <a:latin typeface="Calibri"/>
              </a:rPr>
              <a:t>Web Speech API — browser speech-to-text</a:t>
            </a:r>
          </a:p>
        </p:txBody>
      </p:sp>
      <p:sp>
        <p:nvSpPr>
          <p:cNvPr id="12" name="TextBox 11"/>
          <p:cNvSpPr txBox="1"/>
          <p:nvPr/>
        </p:nvSpPr>
        <p:spPr>
          <a:xfrm>
            <a:off x="1188720" y="2834640"/>
            <a:ext cx="10241280" cy="457200"/>
          </a:xfrm>
          <a:prstGeom prst="rect">
            <a:avLst/>
          </a:prstGeom>
          <a:noFill/>
        </p:spPr>
        <p:txBody>
          <a:bodyPr wrap="square" lIns="45720" rIns="45720" tIns="18288" bIns="18288" anchor="t">
            <a:spAutoFit/>
          </a:bodyPr>
          <a:lstStyle/>
          <a:p>
            <a:pPr algn="l"/>
            <a:r>
              <a:rPr sz="1100" b="0" i="1">
                <a:solidFill>
                  <a:srgbClr val="1F2937"/>
                </a:solidFill>
                <a:latin typeface="Calibri"/>
              </a:rPr>
              <a:t>MDN Web Docs — shaped SpeechRecognitionService's interface (start, stop, onTranscript).</a:t>
            </a:r>
          </a:p>
        </p:txBody>
      </p:sp>
      <p:sp>
        <p:nvSpPr>
          <p:cNvPr id="13" name="Rounded Rectangle 12"/>
          <p:cNvSpPr/>
          <p:nvPr/>
        </p:nvSpPr>
        <p:spPr>
          <a:xfrm>
            <a:off x="457200" y="3383280"/>
            <a:ext cx="11247120" cy="868680"/>
          </a:xfrm>
          <a:prstGeom prst="roundRect">
            <a:avLst>
              <a:gd name="adj" fmla="val 10000"/>
            </a:avLst>
          </a:prstGeom>
          <a:solidFill>
            <a:srgbClr val="F4F6FB"/>
          </a:solidFill>
          <a:ln w="1016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4" name="TextBox 13"/>
          <p:cNvSpPr txBox="1"/>
          <p:nvPr/>
        </p:nvSpPr>
        <p:spPr>
          <a:xfrm>
            <a:off x="731520" y="3474720"/>
            <a:ext cx="457200" cy="365760"/>
          </a:xfrm>
          <a:prstGeom prst="rect">
            <a:avLst/>
          </a:prstGeom>
          <a:noFill/>
        </p:spPr>
        <p:txBody>
          <a:bodyPr wrap="square" lIns="45720" rIns="45720" tIns="18288" bIns="18288" anchor="t">
            <a:spAutoFit/>
          </a:bodyPr>
          <a:lstStyle/>
          <a:p>
            <a:pPr algn="l"/>
            <a:r>
              <a:rPr sz="1800" b="1" i="0">
                <a:solidFill>
                  <a:srgbClr val="F59E0B"/>
                </a:solidFill>
                <a:latin typeface="Calibri"/>
              </a:rPr>
              <a:t>3</a:t>
            </a:r>
          </a:p>
        </p:txBody>
      </p:sp>
      <p:sp>
        <p:nvSpPr>
          <p:cNvPr id="15" name="TextBox 14"/>
          <p:cNvSpPr txBox="1"/>
          <p:nvPr/>
        </p:nvSpPr>
        <p:spPr>
          <a:xfrm>
            <a:off x="1188720" y="3456432"/>
            <a:ext cx="10241280" cy="365760"/>
          </a:xfrm>
          <a:prstGeom prst="rect">
            <a:avLst/>
          </a:prstGeom>
          <a:noFill/>
        </p:spPr>
        <p:txBody>
          <a:bodyPr wrap="square" lIns="45720" rIns="45720" tIns="18288" bIns="18288" anchor="t">
            <a:spAutoFit/>
          </a:bodyPr>
          <a:lstStyle/>
          <a:p>
            <a:pPr algn="l"/>
            <a:r>
              <a:rPr sz="1300" b="1" i="0">
                <a:solidFill>
                  <a:srgbClr val="1E2761"/>
                </a:solidFill>
                <a:latin typeface="Calibri"/>
              </a:rPr>
              <a:t>Shaw, M. &amp; Garlan, D. (1996) Software Architecture — Pipe-and-Filter</a:t>
            </a:r>
          </a:p>
        </p:txBody>
      </p:sp>
      <p:sp>
        <p:nvSpPr>
          <p:cNvPr id="16" name="TextBox 15"/>
          <p:cNvSpPr txBox="1"/>
          <p:nvPr/>
        </p:nvSpPr>
        <p:spPr>
          <a:xfrm>
            <a:off x="1188720" y="3794760"/>
            <a:ext cx="10241280" cy="457200"/>
          </a:xfrm>
          <a:prstGeom prst="rect">
            <a:avLst/>
          </a:prstGeom>
          <a:noFill/>
        </p:spPr>
        <p:txBody>
          <a:bodyPr wrap="square" lIns="45720" rIns="45720" tIns="18288" bIns="18288" anchor="t">
            <a:spAutoFit/>
          </a:bodyPr>
          <a:lstStyle/>
          <a:p>
            <a:pPr algn="l"/>
            <a:r>
              <a:rPr sz="1100" b="0" i="1">
                <a:solidFill>
                  <a:srgbClr val="1F2937"/>
                </a:solidFill>
                <a:latin typeface="Calibri"/>
              </a:rPr>
              <a:t>Canonical text on P&amp;F. Framed the architecture choice in Section 3.1.</a:t>
            </a:r>
          </a:p>
        </p:txBody>
      </p:sp>
      <p:sp>
        <p:nvSpPr>
          <p:cNvPr id="17" name="Rounded Rectangle 16"/>
          <p:cNvSpPr/>
          <p:nvPr/>
        </p:nvSpPr>
        <p:spPr>
          <a:xfrm>
            <a:off x="457200" y="4343400"/>
            <a:ext cx="11247120" cy="868680"/>
          </a:xfrm>
          <a:prstGeom prst="roundRect">
            <a:avLst>
              <a:gd name="adj" fmla="val 10000"/>
            </a:avLst>
          </a:prstGeom>
          <a:solidFill>
            <a:srgbClr val="F4F6FB"/>
          </a:solidFill>
          <a:ln w="1016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8" name="TextBox 17"/>
          <p:cNvSpPr txBox="1"/>
          <p:nvPr/>
        </p:nvSpPr>
        <p:spPr>
          <a:xfrm>
            <a:off x="731520" y="4434840"/>
            <a:ext cx="457200" cy="365760"/>
          </a:xfrm>
          <a:prstGeom prst="rect">
            <a:avLst/>
          </a:prstGeom>
          <a:noFill/>
        </p:spPr>
        <p:txBody>
          <a:bodyPr wrap="square" lIns="45720" rIns="45720" tIns="18288" bIns="18288" anchor="t">
            <a:spAutoFit/>
          </a:bodyPr>
          <a:lstStyle/>
          <a:p>
            <a:pPr algn="l"/>
            <a:r>
              <a:rPr sz="1800" b="1" i="0">
                <a:solidFill>
                  <a:srgbClr val="F59E0B"/>
                </a:solidFill>
                <a:latin typeface="Calibri"/>
              </a:rPr>
              <a:t>4</a:t>
            </a:r>
          </a:p>
        </p:txBody>
      </p:sp>
      <p:sp>
        <p:nvSpPr>
          <p:cNvPr id="19" name="TextBox 18"/>
          <p:cNvSpPr txBox="1"/>
          <p:nvPr/>
        </p:nvSpPr>
        <p:spPr>
          <a:xfrm>
            <a:off x="1188720" y="4416552"/>
            <a:ext cx="10241280" cy="365760"/>
          </a:xfrm>
          <a:prstGeom prst="rect">
            <a:avLst/>
          </a:prstGeom>
          <a:noFill/>
        </p:spPr>
        <p:txBody>
          <a:bodyPr wrap="square" lIns="45720" rIns="45720" tIns="18288" bIns="18288" anchor="t">
            <a:spAutoFit/>
          </a:bodyPr>
          <a:lstStyle/>
          <a:p>
            <a:pPr algn="l"/>
            <a:r>
              <a:rPr sz="1300" b="1" i="0">
                <a:solidFill>
                  <a:srgbClr val="1E2761"/>
                </a:solidFill>
                <a:latin typeface="Calibri"/>
              </a:rPr>
              <a:t>Gemini API — structured outputs</a:t>
            </a:r>
          </a:p>
        </p:txBody>
      </p:sp>
      <p:sp>
        <p:nvSpPr>
          <p:cNvPr id="20" name="TextBox 19"/>
          <p:cNvSpPr txBox="1"/>
          <p:nvPr/>
        </p:nvSpPr>
        <p:spPr>
          <a:xfrm>
            <a:off x="1188720" y="4754880"/>
            <a:ext cx="10241280" cy="457200"/>
          </a:xfrm>
          <a:prstGeom prst="rect">
            <a:avLst/>
          </a:prstGeom>
          <a:noFill/>
        </p:spPr>
        <p:txBody>
          <a:bodyPr wrap="square" lIns="45720" rIns="45720" tIns="18288" bIns="18288" anchor="t">
            <a:spAutoFit/>
          </a:bodyPr>
          <a:lstStyle/>
          <a:p>
            <a:pPr algn="l"/>
            <a:r>
              <a:rPr sz="1100" b="0" i="1">
                <a:solidFill>
                  <a:srgbClr val="1F2937"/>
                </a:solidFill>
                <a:latin typeface="Calibri"/>
              </a:rPr>
              <a:t>ai.google.dev — shaped the SpeechAnalysis contract between AIAnalysisService and AnalysisController.</a:t>
            </a:r>
          </a:p>
        </p:txBody>
      </p:sp>
      <p:sp>
        <p:nvSpPr>
          <p:cNvPr id="21" name="Rounded Rectangle 20"/>
          <p:cNvSpPr/>
          <p:nvPr/>
        </p:nvSpPr>
        <p:spPr>
          <a:xfrm>
            <a:off x="457200" y="5303520"/>
            <a:ext cx="11247120" cy="868680"/>
          </a:xfrm>
          <a:prstGeom prst="roundRect">
            <a:avLst>
              <a:gd name="adj" fmla="val 10000"/>
            </a:avLst>
          </a:prstGeom>
          <a:solidFill>
            <a:srgbClr val="F4F6FB"/>
          </a:solidFill>
          <a:ln w="1016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2" name="TextBox 21"/>
          <p:cNvSpPr txBox="1"/>
          <p:nvPr/>
        </p:nvSpPr>
        <p:spPr>
          <a:xfrm>
            <a:off x="731520" y="5394959"/>
            <a:ext cx="457200" cy="365760"/>
          </a:xfrm>
          <a:prstGeom prst="rect">
            <a:avLst/>
          </a:prstGeom>
          <a:noFill/>
        </p:spPr>
        <p:txBody>
          <a:bodyPr wrap="square" lIns="45720" rIns="45720" tIns="18288" bIns="18288" anchor="t">
            <a:spAutoFit/>
          </a:bodyPr>
          <a:lstStyle/>
          <a:p>
            <a:pPr algn="l"/>
            <a:r>
              <a:rPr sz="1800" b="1" i="0">
                <a:solidFill>
                  <a:srgbClr val="F59E0B"/>
                </a:solidFill>
                <a:latin typeface="Calibri"/>
              </a:rPr>
              <a:t>5</a:t>
            </a:r>
          </a:p>
        </p:txBody>
      </p:sp>
      <p:sp>
        <p:nvSpPr>
          <p:cNvPr id="23" name="TextBox 22"/>
          <p:cNvSpPr txBox="1"/>
          <p:nvPr/>
        </p:nvSpPr>
        <p:spPr>
          <a:xfrm>
            <a:off x="1188720" y="5376672"/>
            <a:ext cx="10241280" cy="365760"/>
          </a:xfrm>
          <a:prstGeom prst="rect">
            <a:avLst/>
          </a:prstGeom>
          <a:noFill/>
        </p:spPr>
        <p:txBody>
          <a:bodyPr wrap="square" lIns="45720" rIns="45720" tIns="18288" bIns="18288" anchor="t">
            <a:spAutoFit/>
          </a:bodyPr>
          <a:lstStyle/>
          <a:p>
            <a:pPr algn="l"/>
            <a:r>
              <a:rPr sz="1300" b="1" i="0">
                <a:solidFill>
                  <a:srgbClr val="1E2761"/>
                </a:solidFill>
                <a:latin typeface="Calibri"/>
              </a:rPr>
              <a:t>Poised / Yoodli / Orai overviews</a:t>
            </a:r>
          </a:p>
        </p:txBody>
      </p:sp>
      <p:sp>
        <p:nvSpPr>
          <p:cNvPr id="24" name="TextBox 23"/>
          <p:cNvSpPr txBox="1"/>
          <p:nvPr/>
        </p:nvSpPr>
        <p:spPr>
          <a:xfrm>
            <a:off x="1188720" y="5715000"/>
            <a:ext cx="10241280" cy="457200"/>
          </a:xfrm>
          <a:prstGeom prst="rect">
            <a:avLst/>
          </a:prstGeom>
          <a:noFill/>
        </p:spPr>
        <p:txBody>
          <a:bodyPr wrap="square" lIns="45720" rIns="45720" tIns="18288" bIns="18288" anchor="t">
            <a:spAutoFit/>
          </a:bodyPr>
          <a:lstStyle/>
          <a:p>
            <a:pPr algn="l"/>
            <a:r>
              <a:rPr sz="1100" b="0" i="1">
                <a:solidFill>
                  <a:srgbClr val="1F2937"/>
                </a:solidFill>
                <a:latin typeface="Calibri"/>
              </a:rPr>
              <a:t>declom.com, talkpal.ai — sourced features for the feature matrix in Section 1.3.</a:t>
            </a:r>
          </a:p>
        </p:txBody>
      </p:sp>
      <p:sp>
        <p:nvSpPr>
          <p:cNvPr id="25" name="TextBox 24"/>
          <p:cNvSpPr txBox="1"/>
          <p:nvPr/>
        </p:nvSpPr>
        <p:spPr>
          <a:xfrm>
            <a:off x="457200" y="6537960"/>
            <a:ext cx="7315200" cy="274320"/>
          </a:xfrm>
          <a:prstGeom prst="rect">
            <a:avLst/>
          </a:prstGeom>
          <a:noFill/>
        </p:spPr>
        <p:txBody>
          <a:bodyPr wrap="square" lIns="45720" rIns="45720" tIns="18288" bIns="18288" anchor="t">
            <a:spAutoFit/>
          </a:bodyPr>
          <a:lstStyle/>
          <a:p>
            <a:pPr algn="l"/>
            <a:r>
              <a:rPr sz="900" b="0" i="0">
                <a:solidFill>
                  <a:srgbClr val="6B7280"/>
                </a:solidFill>
                <a:latin typeface="Calibri"/>
              </a:rPr>
              <a:t>SpeakFlow  |  CS6005 Portfolio  |  Kaylan Orange  —  5. Reflection</a:t>
            </a:r>
          </a:p>
        </p:txBody>
      </p:sp>
      <p:sp>
        <p:nvSpPr>
          <p:cNvPr id="26" name="TextBox 25"/>
          <p:cNvSpPr txBox="1"/>
          <p:nvPr/>
        </p:nvSpPr>
        <p:spPr>
          <a:xfrm>
            <a:off x="11338560" y="6537960"/>
            <a:ext cx="457200" cy="274320"/>
          </a:xfrm>
          <a:prstGeom prst="rect">
            <a:avLst/>
          </a:prstGeom>
          <a:noFill/>
        </p:spPr>
        <p:txBody>
          <a:bodyPr wrap="square" lIns="45720" rIns="45720" tIns="18288" bIns="18288" anchor="t">
            <a:spAutoFit/>
          </a:bodyPr>
          <a:lstStyle/>
          <a:p>
            <a:pPr algn="r"/>
            <a:r>
              <a:rPr sz="900" b="0" i="0">
                <a:solidFill>
                  <a:srgbClr val="6B7280"/>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651760"/>
            <a:ext cx="11247120" cy="914400"/>
          </a:xfrm>
          <a:prstGeom prst="rect">
            <a:avLst/>
          </a:prstGeom>
          <a:noFill/>
        </p:spPr>
        <p:txBody>
          <a:bodyPr wrap="square" lIns="45720" rIns="45720" tIns="18288" bIns="18288" anchor="t">
            <a:spAutoFit/>
          </a:bodyPr>
          <a:lstStyle/>
          <a:p>
            <a:pPr algn="l"/>
            <a:r>
              <a:rPr sz="6400" b="1" i="0">
                <a:solidFill>
                  <a:srgbClr val="FFFFFF"/>
                </a:solidFill>
                <a:latin typeface="Calibri"/>
              </a:rPr>
              <a:t>Thank you.</a:t>
            </a:r>
          </a:p>
        </p:txBody>
      </p:sp>
      <p:sp>
        <p:nvSpPr>
          <p:cNvPr id="3" name="Rectangle 2"/>
          <p:cNvSpPr/>
          <p:nvPr/>
        </p:nvSpPr>
        <p:spPr>
          <a:xfrm>
            <a:off x="457200" y="3611880"/>
            <a:ext cx="1371600" cy="73152"/>
          </a:xfrm>
          <a:prstGeom prst="rect">
            <a:avLst/>
          </a:prstGeom>
          <a:solidFill>
            <a:srgbClr val="F59E0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 name="TextBox 3"/>
          <p:cNvSpPr txBox="1"/>
          <p:nvPr/>
        </p:nvSpPr>
        <p:spPr>
          <a:xfrm>
            <a:off x="457200" y="3840480"/>
            <a:ext cx="11247120" cy="365760"/>
          </a:xfrm>
          <a:prstGeom prst="rect">
            <a:avLst/>
          </a:prstGeom>
          <a:noFill/>
        </p:spPr>
        <p:txBody>
          <a:bodyPr wrap="square" lIns="45720" rIns="45720" tIns="18288" bIns="18288" anchor="t">
            <a:spAutoFit/>
          </a:bodyPr>
          <a:lstStyle/>
          <a:p>
            <a:pPr algn="l"/>
            <a:r>
              <a:rPr sz="2200" b="0" i="1">
                <a:solidFill>
                  <a:srgbClr val="CADCFC"/>
                </a:solidFill>
                <a:latin typeface="Calibri"/>
              </a:rPr>
              <a:t>Questions?</a:t>
            </a:r>
          </a:p>
        </p:txBody>
      </p:sp>
      <p:sp>
        <p:nvSpPr>
          <p:cNvPr id="5" name="TextBox 4"/>
          <p:cNvSpPr txBox="1"/>
          <p:nvPr/>
        </p:nvSpPr>
        <p:spPr>
          <a:xfrm>
            <a:off x="457200" y="5029200"/>
            <a:ext cx="11247120" cy="365760"/>
          </a:xfrm>
          <a:prstGeom prst="rect">
            <a:avLst/>
          </a:prstGeom>
          <a:noFill/>
        </p:spPr>
        <p:txBody>
          <a:bodyPr wrap="square" lIns="45720" rIns="45720" tIns="18288" bIns="18288" anchor="t">
            <a:spAutoFit/>
          </a:bodyPr>
          <a:lstStyle/>
          <a:p>
            <a:pPr algn="l"/>
            <a:r>
              <a:rPr sz="1400" b="0" i="0">
                <a:solidFill>
                  <a:srgbClr val="CADCFC"/>
                </a:solidFill>
                <a:latin typeface="Calibri"/>
              </a:rPr>
              <a:t>Kaylan Orange  —  Dyson Institute of Engineering and Technology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